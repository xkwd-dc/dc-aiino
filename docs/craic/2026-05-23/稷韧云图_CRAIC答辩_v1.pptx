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CRAIC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第二十八届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中国机器人及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人工智能创新大赛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人工智能创新比赛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团队名称 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潘妙齐 · 熊鑫 · 常宇璇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指导教师：徐苗 / 邱东芳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2026.05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1887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AI · 多模态 · 可解释 · 决策支持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74980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基于多模态的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极端气候下我国粮食生产风险的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核心因子识别与韧性提升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可视化系统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846320"/>
            <a:ext cx="7132320" cy="9144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4846320"/>
            <a:ext cx="91440" cy="9144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8348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项目愿景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2578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让 AI 看见每一粒粮食的气候风险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一分钟看懂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一分钟看懂我们做了什么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Data × Method × Application 的端到端闭环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融合 4 类异构数据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（统计 + 遥感 + 气象 + GIS）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全国 31 省 · 2011–2023 · 403 样本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566160" cy="301752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4747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XGBoost-SHAP × Attention-LSTM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双引擎互补归因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非线性归因 + 时序响应 双视角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应用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747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Vue + Flask 可视化决策系统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四大模块 · 在线交互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单次推理 ≤ 2 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破解传统研究「数据单一 · 黑箱模型 · 难以落地」三大瓶颈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为什么做这件事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政策牵引 × 现实痛点 × 趋势加剧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566160" cy="41148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3566160" cy="73152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762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政策牵引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党的二十大、「十四五」规划纲要、历年中央一号文件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「夯实粮食安全根基,强化产能基础」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IPCC AR6: 气候变化加剧全球农业系统脆弱性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11680"/>
            <a:ext cx="3566160" cy="41148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011680"/>
            <a:ext cx="3566160" cy="73152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762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现实痛点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175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2023 京津冀「23·7」极端暴雨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河北 24 万公顷农田受灾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绝产 13 万公顷, 玉米损失 22 万吨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海河流域 1963 年来首次流域性洪水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011680"/>
            <a:ext cx="3566160" cy="41148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011680"/>
            <a:ext cx="3566160" cy="73152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7627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趋势加剧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2023 全国均温 10.7℃ 创 1961 来新高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13 省创历史最高温纪录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长江中下游高温干旱、西南「旱涝急转」频发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现有研究的三大瓶颈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Data Gap · Method Gap · Application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数据维度单一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01168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17627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依赖单一统计数据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缺乏遥感、气象、空间矢量等多模态融合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762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宏观—中观—微观多粒度刻画不足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9184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9184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模型可解释性不足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9184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45643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传统机器学习「黑箱化」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多采用单一模型,缺乏多模型互补归因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29184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9184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4564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490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因子影响路径与贡献度难以量化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研究成果难以落地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57200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73659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多停留在算法与论文层面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缺乏面向决策者的工程化工具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57200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57200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736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影响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29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前沿 AI 难以服务政策实践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本项目针对三大瓶颈,从数据层 · 方法层 · 应用层 三个维度系统性破题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研究目标 与 四大研究内容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覆盖「风险识别 → 因子归因 → 韧性评估 → 可视化决策」全链条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多模态融合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数据集构建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统计 + MODIS 遥感 + 气象站点 + GIS 矢量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线性插值 / Butterworth 滤波 / 时空对齐 / Z-score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XGBoost-SHAP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非线性归因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1148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梯度提升树构建风险拟合模型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SHAP 三维度: 全局 / 个体 / 交互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Attention-LSTM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时序验证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注意力机制聚焦极端气候敏感时点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作为双重验证模型独立验证 XGB 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92608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可视化决策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支持系统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114800"/>
            <a:ext cx="2423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Vue + Flask 四大模块: 地图 / 看板 / 模拟 / 路径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面向决策者的可操作工具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技术路线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总体技术路线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多模态数据驱动 + 双引擎互补归因 + 可视化系统集成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" y="2468880"/>
            <a:ext cx="2468880" cy="219456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2697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324612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国家统计局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CMDC 气象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MODIS 遥感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GIS 矢量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4047" y="3291840"/>
            <a:ext cx="274320" cy="54864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4087" y="2468880"/>
            <a:ext cx="2468880" cy="219456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4087" y="2697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数据预处理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687" y="324612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缺失值补齐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Butterworth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时空对齐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Z-score 标准化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58687" y="3291840"/>
            <a:ext cx="274320" cy="54864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2468880"/>
            <a:ext cx="2468880" cy="219456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2697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双引擎建模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4612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 + SHAP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非线性归因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+ Att-LSTM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时序验证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93327" y="3291840"/>
            <a:ext cx="274320" cy="54864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13367" y="2468880"/>
            <a:ext cx="2468880" cy="219456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3367" y="2697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系统集成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1967" y="324612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Flask API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Vue 前端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四大功能模块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推理 ≤ 2s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12080"/>
            <a:ext cx="91440" cy="10058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核心闭环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两个原理完全不同的模型独立建模 → 双视角互补识别核心因子 → 系统化输出决策建议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 · 数据层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多模态数据集构建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paper_panel_v3:403 样本 × 27 维  · 全国 31 省 · 2011–2023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数据来源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09728" cy="6858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农业生产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粮食单产 / 农机总动力 / 化肥施用 / 灌溉面积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来源:中国统计年鉴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109728" cy="6858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气象监测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温度 / 降水 / 日照 / SPEI 干旱指数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来源:CMDC 中国气象数据网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40"/>
            <a:ext cx="109728" cy="6858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致灾因子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洪涝占比 / 旱灾面积 / 水灾面积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来源:中国水旱灾害公报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109728" cy="6858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遥感空间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MODIS NDVI / LST / 省级行政矢量 / 耕地分布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来源:NASA EARTHDATA + 国家地球数据中心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920240"/>
            <a:ext cx="4937760" cy="429768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预处理流程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① 缺失值补齐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8892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线性插值,确保时空序列连续性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383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② 单产去趋势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0332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Butterworth 低通滤波分离技术进步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提取气候波动的随机残差作为风险 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③ 时空对齐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1772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统一年度 + 省级口径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栅格遥感 → 省域空间聚合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④ Z-score 标准化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53212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消除量纲差异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μ=0, σ=1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致灾维度 × 韧性维度 双维度指标体系,从风险诱发源与对冲力两条逻辑线并行刻画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 · 引擎一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XGBoost-SHAP 非线性归因引擎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梯度提升树 × Shapley 值,把「黑箱」变「白箱」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48640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 梯度提升树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处理非线性 · 多耦合特征的集成学习算法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17520"/>
            <a:ext cx="4937760" cy="128016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加法模型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ŷᵢ = Σ fₖ(xᵢ),  k=1,…,K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目标函数(损失 + 正则)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Obj = Σ L(yᵢ, ŷᵢ) + Σ Ω(fₖ)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4937760" cy="1645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100">
                <a:solidFill>
                  <a:srgbClr val="1A1A1A"/>
                </a:solidFill>
                <a:latin typeface="Microsoft YaHei"/>
              </a:rPr>
              <a:t>串行构建多棵决策树,优化模型残差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100">
                <a:solidFill>
                  <a:srgbClr val="1A1A1A"/>
                </a:solidFill>
                <a:latin typeface="Microsoft YaHei"/>
              </a:rPr>
              <a:t>正则项惩罚树复杂度,避免过拟合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100">
                <a:solidFill>
                  <a:srgbClr val="1A1A1A"/>
                </a:solidFill>
                <a:latin typeface="Microsoft YaHei"/>
              </a:rPr>
              <a:t>对粮食风险这类非线性 · 多耦合数据效果显著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920240"/>
            <a:ext cx="5349240" cy="42976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20240"/>
            <a:ext cx="534924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SHAP 可解释性归因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基于 Shapley 值的统一归因框架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017520"/>
            <a:ext cx="73152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017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全局重要性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3832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Mean|SHAP value| 对特征排序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识别主导风险因子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023360"/>
            <a:ext cx="73152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个体决策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瀑布图分解单个样本的预测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每个省份专属归因报告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029200"/>
            <a:ext cx="73152" cy="822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029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特征交互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3949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SHAP 交互依赖图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揭示因子间非线性耦合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 · 引擎二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Attention-LSTM 时序验证引擎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LSTM 门控 + 注意力加权,自适应聚焦极端气候敏感时点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858000" cy="429768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架构与机制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6492240" cy="3200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300" b="1">
                <a:solidFill>
                  <a:srgbClr val="1F4D2E"/>
                </a:solidFill>
                <a:latin typeface="Microsoft YaHei"/>
              </a:rPr>
              <a:t>LSTM 门控记忆</a:t>
            </a:r>
            <a:r>
              <a:rPr sz="1300">
                <a:solidFill>
                  <a:srgbClr val="1A1A1A"/>
                </a:solidFill>
                <a:latin typeface="Microsoft YaHei"/>
              </a:rPr>
              <a:t>  输入门 / 遗忘门 / 输出门,捕捉长时序依赖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300" b="1">
                <a:solidFill>
                  <a:srgbClr val="1F4D2E"/>
                </a:solidFill>
                <a:latin typeface="Microsoft YaHei"/>
              </a:rPr>
              <a:t>Attention 加权</a:t>
            </a:r>
            <a:r>
              <a:rPr sz="1300">
                <a:solidFill>
                  <a:srgbClr val="1A1A1A"/>
                </a:solidFill>
                <a:latin typeface="Microsoft YaHei"/>
              </a:rPr>
              <a:t>  softmax 归一(sum=1),自适应聚焦关键时点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300" b="1">
                <a:solidFill>
                  <a:srgbClr val="1F4D2E"/>
                </a:solidFill>
                <a:latin typeface="Microsoft YaHei"/>
              </a:rPr>
              <a:t>时序敏感性</a:t>
            </a:r>
            <a:r>
              <a:rPr sz="1300">
                <a:solidFill>
                  <a:srgbClr val="1A1A1A"/>
                </a:solidFill>
                <a:latin typeface="Microsoft YaHei"/>
              </a:rPr>
              <a:t>  对洪涝 / 干旱发生月的注意力权重显著放大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D97606"/>
                </a:solidFill>
                <a:latin typeface="Microsoft YaHei"/>
              </a:rPr>
              <a:t>▸ </a:t>
            </a:r>
            <a:r>
              <a:rPr sz="1300" b="1">
                <a:solidFill>
                  <a:srgbClr val="1F4D2E"/>
                </a:solidFill>
                <a:latin typeface="Microsoft YaHei"/>
              </a:rPr>
              <a:t>双重验证</a:t>
            </a:r>
            <a:r>
              <a:rPr sz="1300">
                <a:solidFill>
                  <a:srgbClr val="1A1A1A"/>
                </a:solidFill>
                <a:latin typeface="Microsoft YaHei"/>
              </a:rPr>
              <a:t>  作为 XGBoost-SHAP 的独立交叉验证模型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920240"/>
            <a:ext cx="3931920" cy="42976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920240"/>
            <a:ext cx="3931920" cy="5486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单样本实测验证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97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Case · 河南省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真实单产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3832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4615 kg/ha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Att-LSTM 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976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D97606"/>
                </a:solidFill>
                <a:latin typeface="Arial"/>
                <a:eastAsia typeface="Arial"/>
                <a:cs typeface="Arial"/>
                <a:ascii typeface="Arial"/>
              </a:rPr>
              <a:t>4657.6 kg/ha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5029200"/>
            <a:ext cx="3566160" cy="82296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74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预测误差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349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Arial"/>
                <a:eastAsia typeface="Arial"/>
                <a:cs typeface="Arial"/>
                <a:ascii typeface="Arial"/>
              </a:rPr>
              <a:t>+42.6 kg/ha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 · 核心创新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双引擎互补归因机制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两个原理完全不同的模型 → 独立建模 → 双视角互补 → 决策更全面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840480" cy="23774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6EEF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Engine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 + 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数据驱动归因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非线性树模型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全局/个体/交互三维归因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生物量主导视角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194560"/>
            <a:ext cx="3840480" cy="23774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3317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Engine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060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Attention-LSTM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2918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时序响应归因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深度时序模型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注意力加权 softmax</a:t>
            </a: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灾害响应/政策杠杆视角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34840" y="3200400"/>
            <a:ext cx="640080" cy="36576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7086600" y="3200400"/>
            <a:ext cx="640080" cy="365760"/>
          </a:xfrm>
          <a:prstGeom prst="lef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377440"/>
            <a:ext cx="2057400" cy="20116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5603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双视角互补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8346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互补归因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47472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Top-3 overlap 1/3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ρ ≈ 0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near-independent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关键叙事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两个完全不同原理的模型各自独立归因 → 既看「数据生长状态」也看「灾害政策响应」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「互补而非简单一致」(Top-3 仅 1/3 重合, ρ≈0),决策视角更全面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实验结果 · 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三模型精度对比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10 种子稳健性实验 · 全部远超申报书硬指标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237744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103120"/>
            <a:ext cx="365760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1031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Test R² (10 seeds 均值 ± std)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103120"/>
            <a:ext cx="219456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RMSE (kg/ha)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103120"/>
            <a:ext cx="274320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硬指标达成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2377440" cy="640080"/>
          </a:xfrm>
          <a:prstGeom prst="rect">
            <a:avLst/>
          </a:prstGeom>
          <a:solidFill>
            <a:srgbClr val="E8F0E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743200"/>
            <a:ext cx="3657600" cy="640080"/>
          </a:xfrm>
          <a:prstGeom prst="rect">
            <a:avLst/>
          </a:prstGeom>
          <a:solidFill>
            <a:srgbClr val="E8F0E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7432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0.9072 ± 0.0383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743200"/>
            <a:ext cx="2194560" cy="640080"/>
          </a:xfrm>
          <a:prstGeom prst="rect">
            <a:avLst/>
          </a:prstGeom>
          <a:solidFill>
            <a:srgbClr val="E8F0E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7432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312.5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743200"/>
            <a:ext cx="2743200" cy="640080"/>
          </a:xfrm>
          <a:prstGeom prst="rect">
            <a:avLst/>
          </a:prstGeom>
          <a:solidFill>
            <a:srgbClr val="E8F0E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7432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≥ 0.62  远超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383280"/>
            <a:ext cx="2377440" cy="6400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83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LSTM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383280"/>
            <a:ext cx="3657600" cy="6400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33832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0.8856 ± 0.0223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383280"/>
            <a:ext cx="2194560" cy="6400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3832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362.0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383280"/>
            <a:ext cx="2743200" cy="6400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3383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≥ 0.62  远超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2377440" cy="640080"/>
          </a:xfrm>
          <a:prstGeom prst="rect">
            <a:avLst/>
          </a:prstGeom>
          <a:solidFill>
            <a:srgbClr val="D9760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0233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Attention-LSTM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4023360"/>
            <a:ext cx="3657600" cy="640080"/>
          </a:xfrm>
          <a:prstGeom prst="rect">
            <a:avLst/>
          </a:prstGeom>
          <a:solidFill>
            <a:srgbClr val="D9760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40233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0.8160 ± 0.0502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4023360"/>
            <a:ext cx="2194560" cy="640080"/>
          </a:xfrm>
          <a:prstGeom prst="rect">
            <a:avLst/>
          </a:prstGeom>
          <a:solidFill>
            <a:srgbClr val="D9760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023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456.4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4023360"/>
            <a:ext cx="2743200" cy="640080"/>
          </a:xfrm>
          <a:prstGeom prst="rect">
            <a:avLst/>
          </a:prstGeom>
          <a:solidFill>
            <a:srgbClr val="D9760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40233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≥ 0.65  通过 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120640"/>
            <a:ext cx="10972800" cy="109728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亮点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486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XGBoost / LSTM / Attention-LSTM 三模型 R² 全部 ≥ 0.81;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Att-LSTM 在河南 2022 单样本误差仅 +42.6 kg/ha,模型已具备落地预测能力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实验结果 · 归因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核心因子识别:互补而非简单一致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双引擎 Top-3 仅 Temp 重合 → 数据驱动 × 灾害响应 双视角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Engine A · XGBoost SHAP Top-3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365760" cy="9144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365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NDVI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植被指数异常 · 生物量主导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94760"/>
            <a:ext cx="365760" cy="9144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365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94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Prec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51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年累计降水量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92040"/>
            <a:ext cx="365760" cy="9144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365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Temp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49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年平均气温(★ 与 B 重合)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5A8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视角:数据驱动 · 生物量主导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20240"/>
            <a:ext cx="5486400" cy="429768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920240"/>
            <a:ext cx="5486400" cy="5486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9202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Engine B · Att-LSTM Attention Top-3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697480"/>
            <a:ext cx="365760" cy="9144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97480"/>
            <a:ext cx="365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Drou_A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干旱面积 · 灾害响应主导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794760"/>
            <a:ext cx="365760" cy="9144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794760"/>
            <a:ext cx="365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794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SPEI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251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标准化降水蒸散指数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892040"/>
            <a:ext cx="365760" cy="9144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892040"/>
            <a:ext cx="365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892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Temp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349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年平均气温(★ 与 A 重合)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897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视角:灾害响应 · policy lever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实验结果 · 深度归因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SHAP 交互效应 与 多模态融合增益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灌溉×气温非线性耦合 + 数据融合带来 4.9–6.7 pp R² 增益</a:t>
            </a:r>
          </a:p>
        </p:txBody>
      </p:sp>
      <p:pic>
        <p:nvPicPr>
          <p:cNvPr id="10" name="Picture 9" descr="fig6_shap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48640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图 · 灌溉率 × 气温 SHAP 交互依赖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灌溉提升整体降低风险;但在高温环境下灌溉减损效果被部分抵消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→ 启示:单一提升灌溉率不够,需结合温度调节综合施策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多模态融合消融实验 (XGBoost R²)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3474720" cy="5486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仅统计数据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468880"/>
            <a:ext cx="1828800" cy="548640"/>
          </a:xfrm>
          <a:prstGeom prst="rect">
            <a:avLst/>
          </a:prstGeom>
          <a:solidFill>
            <a:srgbClr val="E6EEF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4688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0.498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154680"/>
            <a:ext cx="3474720" cy="5486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+ 遥感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154680"/>
            <a:ext cx="1828800" cy="548640"/>
          </a:xfrm>
          <a:prstGeom prst="rect">
            <a:avLst/>
          </a:prstGeom>
          <a:solidFill>
            <a:srgbClr val="E6EEF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3154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0.522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840480"/>
            <a:ext cx="3474720" cy="5486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+ 遥感 + 气象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3840480"/>
            <a:ext cx="1828800" cy="548640"/>
          </a:xfrm>
          <a:prstGeom prst="rect">
            <a:avLst/>
          </a:prstGeom>
          <a:solidFill>
            <a:srgbClr val="E6EEF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840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Arial"/>
                <a:eastAsia typeface="Arial"/>
                <a:cs typeface="Arial"/>
                <a:ascii typeface="Arial"/>
              </a:rPr>
              <a:t>0.547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26280"/>
            <a:ext cx="3474720" cy="5486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全模态融合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4526280"/>
            <a:ext cx="1828800" cy="548640"/>
          </a:xfrm>
          <a:prstGeom prst="rect">
            <a:avLst/>
          </a:prstGeom>
          <a:solidFill>
            <a:srgbClr val="D97606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45262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0.5647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349240"/>
            <a:ext cx="5303520" cy="8686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692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多模态融合带来 4.9–6.7 pp R² 提升,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证明数据融合的实质性价值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成果落地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可视化决策系统 · 四大模块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Vue 3 + Flask + PostgreSQL · 单次推理 ≤ 2 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394960" cy="19659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09728" cy="196596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风险时空地图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ECharts 中国地图 + 时间滑块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查询任意年份省域风险分布 + Top10 排行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20240"/>
            <a:ext cx="5394960" cy="19659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20240"/>
            <a:ext cx="109728" cy="196596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SHAP 归因看板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瀑布图 + 蜂群图 + 特征重要性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点击省份查看专属个体归因报告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5394960" cy="19659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09728" cy="19659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参数情景模拟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反事实推理:灌溉率 +10% / 化肥 -20%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实时计算风险变化曲线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069080"/>
            <a:ext cx="5394960" cy="19659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069080"/>
            <a:ext cx="109728" cy="196596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韧性路径推荐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749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11 条规则引擎 + 三阶段时间线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生成差异化政策建议(短/中/长期)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1722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系统性能:推理响应 ≤ 2s   |   全国 31 省覆盖   |   开放 API   |   面向决策者的可操作工具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创新点总结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五大创新点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数据层 · 方法层 × 2 · 应用层 · 贡献层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868680" cy="7772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01168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01168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8483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多模态异构数据融合的全国尺度风险识别框架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231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首次构建覆盖统计 + MODIS 遥感 + 气象 + GIS 四类异构数据源的融合体系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868680" cy="7772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283464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28346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方法层 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90779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注意力增强的 XGBoost-SHAP × LSTM 双引擎互补归因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2461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首次将可解释机器学习与注意力深度学习时序模型相结合,破解黑箱困境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868680" cy="77724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365760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36576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方法层 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73075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SHAP 三维度归因 + 多维交互效应深度挖掘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06908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全局重要性 / 个体决策 / 特征交互三维系统性解构,揭示复杂耦合机理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868680" cy="77724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8056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448056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48056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应用层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55371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全流程可视化决策支持系统的工程化落地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89204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首次将「多模态识别 + 可解释 AI + 决策支持」三位一体集成到单一平台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303520"/>
            <a:ext cx="868680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0352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30352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30352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贡献层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5376672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多模态数据集构建与处理流程的规范化输出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71500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制定可复用的数据基础与方法参考,服务后续相关研究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应用前景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应用前景 与 社会价值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服务国家粮食安全战略 · 推动可解释 AI 在农业领域落地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868680" cy="7863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868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011680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1031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服务国家粮食安全战略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2316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为政府农业管理部门提供风险预警与资源调配的科学依据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落实党的二十大「夯实粮食安全根基」部署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52928"/>
            <a:ext cx="868680" cy="786384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52928"/>
            <a:ext cx="868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852928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94436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赋能农业保险与产业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64408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支持保险产品差异化设计、农资精准营销、费率精算与赔付决策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94176"/>
            <a:ext cx="868680" cy="78638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94176"/>
            <a:ext cx="868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3694176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78561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推动可解释 AI 在农业落地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105656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全国尺度「多模态识别 + 可解释 AI + 决策支持」三位一体示范样板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35424"/>
            <a:ext cx="868680" cy="786384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35424"/>
            <a:ext cx="868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🗺️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4535424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462686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支撑区域差异化政策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946904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针对北方旱区、长江洪涝区、西南「旱涝急转」区提出差异化韧性路径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76672"/>
            <a:ext cx="86868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76672"/>
            <a:ext cx="868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/>
                <a:eastAsia typeface="Arial"/>
                <a:cs typeface="Arial"/>
                <a:ascii typeface="Arial"/>
              </a:rPr>
              <a:t>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5376672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546811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促进研究开放协作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788152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数据集与系统 API 开放,推动跨学科、跨区域对比研究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稷韧云图 · 极端气候下粮食生产风险核心因子识别与韧性提升可视化系统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7395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改进方向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存在问题 与 今后改进方向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模型 / 数据 / 系统 / 应用 四维度持续演进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40680" cy="210312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5440680" cy="4572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模型层面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❗ 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罕见极端事件识别能力有限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✓ 改进方向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引入 Transformer + 多模型 Stacking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贝叶斯神经网络给出不确定性区间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965960"/>
            <a:ext cx="5440680" cy="210312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40680" cy="4572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数据层面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❗ 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省级粒度偏粗,西部站点稀疏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✓ 改进方向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661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下沉至地市级 / 县域级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引入 Sentinel-2 + 高分系列高分辨率遥感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5440680" cy="210312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5440680" cy="4572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系统层面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❗ 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移动端适配弱,反事实推理基于静态规则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✓ 改进方向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响应式 + 微信小程序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Do-Calculus / 合成控制法因果推断增强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206240"/>
            <a:ext cx="5440680" cy="210312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206240"/>
            <a:ext cx="5440680" cy="45720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应用层面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00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❗ 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7492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韧性路径与政策工具对接不够精细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32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4D2E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✓ 改进方向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8064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与地方农业局、保险机构试点合作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552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开发面向农户的简化版客户端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Thanks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总结与致谢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3774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构建覆盖全国 31 省 13 年的多模态融合数据集 paper_panel_v3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1546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建立 XGBoost-SHAP × Attention-LSTM 双引擎互补归因 + SHAP 三维归因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31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开发端到端可视化决策系统,四大模块、推理 ≤ 2s、推动可解释 AI 在农业落地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43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致谢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AFAF7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感谢徐苗老师、邱东芳老师的悉心指导;感谢学院与团队各位成员的协作支持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0E6"/>
                </a:solidFill>
                <a:latin typeface="Microsoft YaHei"/>
                <a:eastAsia typeface="Microsoft YaHei"/>
                <a:cs typeface="Microsoft YaHei"/>
                <a:ascii typeface="Arial"/>
              </a:rPr>
              <a:t>团队 · 稷韧云图   |   潘妙齐 · 熊鑫 · 常宇璇   |   敬请评委批评指正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
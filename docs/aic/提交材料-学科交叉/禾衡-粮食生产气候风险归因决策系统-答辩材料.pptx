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19200" y="1676400"/>
            <a:ext cx="975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第八届全球校园人工智能算法精英大赛　赛题</a:t>
            </a:r>
            <a:r>
              <a:rPr lang="en-US" altLang="zh-CN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zh-CN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</a:t>
            </a:r>
            <a:r>
              <a:rPr lang="zh-CN" altLang="en-US" sz="15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学科交叉</a:t>
            </a:r>
            <a:endParaRPr lang="zh-CN" altLang="en-US" sz="15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200" y="2184400"/>
            <a:ext cx="9753600" cy="1353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粮食生产气候</a:t>
            </a:r>
            <a:r>
              <a:rPr lang="en-US" altLang="zh-CN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风险归因决策系统</a:t>
            </a:r>
            <a:endParaRPr lang="zh-CN" altLang="en-US"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9200" y="4013200"/>
            <a:ext cx="1270000" cy="635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0" y="4318000"/>
            <a:ext cx="8890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DCE7E1"/>
                </a:solidFill>
                <a:latin typeface="微软雅黑" panose="020B0503020204020204" charset="-122"/>
                <a:ea typeface="微软雅黑" panose="020B0503020204020204" charset="-122"/>
              </a:rPr>
              <a:t>以农学问题定义、机器学习工具、决策科学输出构成跨学科链条，把四模态异构资料对齐成省级面板，给出农学可解读、边界可核查的风险归因结论。</a:t>
            </a:r>
            <a:endParaRPr lang="zh-CN" altLang="en-US" sz="1700">
              <a:solidFill>
                <a:srgbClr val="DCE7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9200" y="5740400"/>
            <a:ext cx="635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答辩材料　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400">
                <a:solidFill>
                  <a:srgbClr val="A8C4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400">
              <a:solidFill>
                <a:srgbClr val="A8C4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割裂在哪里：三个学科视角各缺一块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农学与农业气象</a:t>
            </a:r>
            <a:endParaRPr lang="zh-CN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机理清楚，统计手段受限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能说清气候如何影响产量，但多因子耦合下「哪个因子边际贡献更大」缺乏可复核的量化证据。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</a:t>
            </a:r>
            <a:endParaRPr lang="zh-CN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建模能力强，常脱离农学语境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能把指标拟合得很好，却容易把拟合能力当成因果结论，回答不了「这个因子在农学上意味着什么」。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98600"/>
            <a:ext cx="3403600" cy="2667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752600"/>
            <a:ext cx="29464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决策与管理</a:t>
            </a:r>
            <a:endParaRPr lang="zh-CN" altLang="en-US" sz="12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2082800"/>
            <a:ext cx="2946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要结论，不要中间过程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565400"/>
            <a:ext cx="2946400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需要的是能追问依据、能情景推演的结论，而单一分数或单一阈值预警都难以支撑资源投放次序。</a:t>
            </a:r>
            <a:endParaRPr lang="zh-CN" altLang="en-US" sz="12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5800" y="4724400"/>
            <a:ext cx="108204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本作品补的是三条链路之间缺失的一环：把数据对齐、归因依据与适用边界同时交付。</a:t>
            </a:r>
            <a:endParaRPr lang="zh-CN" altLang="en-US" sz="17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学科环节界定：每个环节都落到具体产物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488"/>
                <a:gridCol w="4544567"/>
                <a:gridCol w="3895344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学科环节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本作品承担的工作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可核查产物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理论研究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极端气候因子的相对重要性排序及其区域分化规律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因子排序结果、区域分化说明、技术方案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§六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科研探索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多源异构数据的融合建模与可解释性归因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三模型训练脚本、模型卡、归因结果文件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科研数据处理与可视化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从原始遥感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气象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统计资料到可复现结论的工程化流程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对齐脚本、字段口径台账、七模块交互界面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35814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选「科研数据处理与可视化」作为切入环节，因为它的痛点跨学科共性最强。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跨学科技术路线：五层分工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6256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问题定义层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　由农学与农业气象学给出问题：省级尺度上哪些因子的边际贡献更大、方向如何、区域间是否分化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22098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3600" y="24130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数据对齐层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统计年鉴与公报　气象再分析资料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MODIS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遥感产品　水旱灾害公报　行政边界与地表覆盖矢量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800" y="29972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3600" y="32004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建模归因层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边际贡献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时序基线　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Attention-LSTM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特征级门控　超参与种子留档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5800" y="37846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3600" y="39878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统计校核层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　三协议交叉验证　植被指数消融　混合效应方差分解　真值单点校验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4572000"/>
            <a:ext cx="10820400" cy="7112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63600" y="4775200"/>
            <a:ext cx="10464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交付应用层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七模块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Web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　单次推理秒级　全栈无</a:t>
            </a:r>
            <a:r>
              <a:rPr lang="en-US" altLang="zh-CN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13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　面向科研与管理的交互界面</a:t>
            </a:r>
            <a:endParaRPr lang="zh-CN" altLang="en-US" sz="13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5800" y="54864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农学提出问题与判据，计算机提供工具，统计负责校核，最终由交互系统交付。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从原始资料到农学可读结论的八步链路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6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36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36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年鉴统计、气象再分析、遥感产品与灾害公报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417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195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195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口径登记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195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逐字段记录来源、时间口径、空间口径与处理方式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976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754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时空对齐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54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统一到省份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年度口径，口径争议在数据阶段解决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53500" y="14224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31300" y="15748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31300" y="18542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耕地加权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31300" y="22098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栅格按耕地像元加权聚合，剔除非耕地信号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58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636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36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三模型训练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36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基线、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Attention-LSTM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417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95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195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双视角归因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195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边际贡献与门控偏好对照，不强行拼接一致性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976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3754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3754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方差分解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754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分离省份固有差异与因子边际效应，回答</a:t>
            </a:r>
            <a:r>
              <a:rPr lang="en-US" alt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</a:t>
            </a:r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从哪来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953500" y="3022600"/>
            <a:ext cx="2540000" cy="14224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131300" y="3175000"/>
            <a:ext cx="2184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31300" y="3454400"/>
            <a:ext cx="2184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结论复述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1300" y="3810000"/>
            <a:ext cx="2184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非建模成员用农学语言复述，复述不通则回到定义环节</a:t>
            </a:r>
            <a:endParaRPr lang="zh-CN" altLang="en-US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5800" y="4724400"/>
            <a:ext cx="10820400" cy="1320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85800" y="4724400"/>
            <a:ext cx="63500" cy="1320800"/>
          </a:xfrm>
          <a:prstGeom prst="rect">
            <a:avLst/>
          </a:prstGeom>
          <a:solidFill>
            <a:srgbClr val="7FB0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90600" y="4902200"/>
            <a:ext cx="102870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一条可核查的结论轨迹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0600" y="5181600"/>
            <a:ext cx="10287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省级面板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403 </a:t>
            </a:r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条样本，随机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8:2 </a:t>
            </a:r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十组种子，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 R² = 0.907 </a:t>
            </a:r>
            <a:r>
              <a:rPr lang="zh-CN" altLang="en-US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4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0.038</a:t>
            </a:r>
            <a:endParaRPr lang="en-US" altLang="zh-CN" sz="14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90600" y="5537200"/>
            <a:ext cx="102870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留一省中位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= −16.83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与植被指数消融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ΔR² = 0.003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两项负结果同步披露，系统据此把能力限定为区域内相对风险与情景推演。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数据底座：四模态对齐后的省级面板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672"/>
                <a:gridCol w="4328159"/>
                <a:gridCol w="454456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数据类别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在本作品中的角色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农业统计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国家统计局及各省统计公报、中国农村统计年鉴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粮食单产、灌溉率、化肥投入、机械化率等生产侧指标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气象要素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NASA POWER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再分析数据与气象站点观测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平均气温、降水、日照与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SPEI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干旱指数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卫星遥感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MODIS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植被指数与地表温度产品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按耕地像元加权聚合，剔除非耕地像元的稀释效应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致灾与空间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中国水旱灾害公报、标准地图服务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旱灾与水灾受灾面积、省域行政边界矢量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40386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31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年（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2011—2023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403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条样本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27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字段，其中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11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维入模特征，无缺失。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三模型互补：不追求结论一致，而是互为对照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XGBoost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</a:t>
            </a:r>
            <a:endParaRPr lang="en-US" altLang="zh-CN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横截面边际贡献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回答「去掉该因子，预测误差变化多少」，量化边际信息量。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时序拟合参照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与注意力模型同源的对照基线，剥离结构调整带来的差异。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Attention-LSTM</a:t>
            </a:r>
            <a:endParaRPr lang="en-US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内部门控偏好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回答「模型主动把权重放在哪里」，形成独立于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的第二视角。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44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差异事实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两套排序仅重合</a:t>
            </a:r>
            <a:r>
              <a:rPr lang="en-US" altLang="zh-CN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秩相关系数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−0.055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Top-3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只有平均气温重合。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28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学科含义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228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分歧不是失败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228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与注意力回答的是两类不同科学问题，分歧本身构成方法论产出。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312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应用后果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单一归因不足以支撑政策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12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因此系统同时呈现两条证据，并在冲突时按权重竞争处理。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结论的可信度来自双视角证据与多协议校核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5080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94000"/>
              </a:tblGrid>
              <a:tr h="476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归因视角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排序前三位因子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XGBoost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SHAP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植被指数、降水量、平均气温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注意力时序模型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旱灾受灾面积、干旱指数、平均气温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两视角重合度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仅平均气温一项，秩相关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−0.055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96000" y="1473200"/>
          <a:ext cx="54102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5"/>
                <a:gridCol w="2813304"/>
              </a:tblGrid>
              <a:tr h="482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验证协议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随机划分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8:2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留一年验证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0.894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0.104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留一省验证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县域留一县验证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R² = 0.660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85800" y="3606800"/>
            <a:ext cx="5080000" cy="1905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3784600"/>
            <a:ext cx="46736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方差分解的答案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4165600"/>
            <a:ext cx="4673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混合效应模型给出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ICC = 0.9710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，约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97%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的总方差来自省份固有差异，这正是随机划分协议分数偏高的原因。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96000" y="4064000"/>
            <a:ext cx="5410200" cy="14478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99200" y="4241800"/>
            <a:ext cx="50038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据此界定的能力范围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99200" y="4622800"/>
            <a:ext cx="5003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省级截面样本不支持跨省外推，系统只输出区域内相对风险、情景推演与分阶段对策，不承诺产量绝对值。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800" y="5689600"/>
            <a:ext cx="10820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数据来源：模型验证记录与模型卡，口径与佐证材料一致。</a:t>
            </a:r>
            <a:endParaRPr lang="zh-CN" altLang="en-US" sz="10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系统整体架构：三层架构与四模态数据链路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数据层完成口径对齐与耕地像元加权，算法层承担预测、归因与校核，应用层把结论交付为可交互界面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归因看板：每个结论都能点开看到依据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M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全局因子重要性与单省贡献分解并列呈现，作用是让归因结论可被农学用户直接追问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风险时空地图：区域分化规律的可视化读法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M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 </a:t>
            </a:r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年风险等级时间轴，支持按年份拖动查看区域相对风险排序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情景推演：不调整实际生产也能比较方案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M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371600"/>
            <a:ext cx="7048500" cy="472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6223000"/>
            <a:ext cx="10820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调整灌溉率、化肥投入与降水参数，实时返回单产风险的变化方向与量级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空间尺度递进实验：省级外推受限的成因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264"/>
                <a:gridCol w="3678935"/>
                <a:gridCol w="3029711"/>
                <a:gridCol w="2380488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空间单元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样本规模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空间外推结果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组内相关系数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0.971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城市级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个城市，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合并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0.213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，正向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折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0.106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县级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1 041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个县，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10 407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合并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0.660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lang="en-US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800" y="3581400"/>
            <a:ext cx="10820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空间单元越细，单位间方差占比越低，空间外推由负转正：受限来自粒度，而非方法本身失效。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能力边界与合规口径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模型边界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不做跨省产量外推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413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留一省验证中位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R²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−16.83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，系统只输出区域内相对风险与情景推演。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48400" y="14732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77000" y="16764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表达边界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77000" y="19812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不承诺产量绝对值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000" y="2413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单点校验偏差在数百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kg/ha 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量级，对外以风险等级与相对排序表达。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144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数据合规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来源与授权可追溯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4400" y="46736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全部采用公开权威数据源，逐项登记来源机构与适用范围，无采购成本。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8400" y="3733800"/>
            <a:ext cx="5257800" cy="20320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3937000"/>
            <a:ext cx="48006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效果佐证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4241800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未做的部分不编造</a:t>
            </a:r>
            <a:endParaRPr lang="zh-CN" altLang="en-US" sz="1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77000" y="4673600"/>
            <a:ext cx="48006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人工耗时对比尚未逐次计时，试用反馈仅来自团队内部与跨专业成员，均如实说明。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关键实测指标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4732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1752"/>
                <a:gridCol w="6708647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实测值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主报告协议精度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0.907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0.038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种子），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 = 312.5 kg/ha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时间外推表现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 = 0.894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0.104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（留一年）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空间外推表现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R² = −16.83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（留一省，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省中仅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省为正）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方差分解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ICC = 0.9710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95% CI [0.9496, 0.9805]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LR = 741.59</a:t>
                      </a:r>
                      <a:endParaRPr lang="en-US" altLang="zh-CN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系统响应与无障碍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单次推理秒级完成；满足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WCAG 2.2 AA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项安全响应头与请求分级限流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工程质量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自动化测试</a:t>
                      </a:r>
                      <a:r>
                        <a:rPr lang="en-US" altLang="zh-CN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27 </a:t>
                      </a:r>
                      <a:r>
                        <a:rPr lang="zh-CN" altLang="en-US" sz="110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个用例；模型卡与随机种子全部留档，可整链路复跑</a:t>
                      </a:r>
                      <a:endParaRPr lang="zh-CN" altLang="en-US" sz="110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25400" marB="2540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800" y="3810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跨学科价值与后续工作</a:t>
            </a:r>
            <a:endParaRPr lang="zh-CN" altLang="en-US" sz="26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016000"/>
            <a:ext cx="838200" cy="50800"/>
          </a:xfrm>
          <a:prstGeom prst="rect">
            <a:avLst/>
          </a:prstGeom>
          <a:solidFill>
            <a:srgbClr val="1E4D3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科研效率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隐性成本显性化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4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四模态对齐流程与字段口径台账可复用，同类研究的重复数据准备不再从零开始。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42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教学与方法迁移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228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框架与作物无关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互补归因与多协议披露的框架可迁移到其他作物、区域与其他「气候</a:t>
            </a:r>
            <a:r>
              <a:rPr lang="en-US" altLang="zh-CN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生产」议题。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600" y="1422400"/>
            <a:ext cx="3403600" cy="2133600"/>
          </a:xfrm>
          <a:prstGeom prst="rect">
            <a:avLst/>
          </a:prstGeom>
          <a:solidFill>
            <a:srgbClr val="F4F7F5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31200" y="1625600"/>
            <a:ext cx="29464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人才培养</a:t>
            </a:r>
            <a:endParaRPr lang="zh-CN" altLang="en-US" sz="115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1200" y="1930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跨专业协作机制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200" y="23876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结论必须能被非建模成员用农学语言复述，形成可操作的跨学科沟通规程。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58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44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近期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补效果类佐证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补做响应耗时逐次实测与外部试用反馈，替代当前的定性说明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42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28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中期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228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空间粒度下沉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228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以县域面板提高省内变异占比，使气候与产量映射具备可辨识性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02600" y="3759200"/>
            <a:ext cx="3403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D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31200" y="3937000"/>
            <a:ext cx="2946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远期</a:t>
            </a:r>
            <a:endParaRPr lang="zh-CN" altLang="en-US" sz="1100" b="1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1200" y="4216400"/>
            <a:ext cx="29464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500" b="1">
                <a:solidFill>
                  <a:srgbClr val="12352A"/>
                </a:solidFill>
                <a:latin typeface="微软雅黑" panose="020B0503020204020204" charset="-122"/>
                <a:ea typeface="微软雅黑" panose="020B0503020204020204" charset="-122"/>
              </a:rPr>
              <a:t>因果识别</a:t>
            </a:r>
            <a:endParaRPr lang="zh-CN" altLang="en-US" sz="1500" b="1">
              <a:solidFill>
                <a:srgbClr val="1235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31200" y="4572000"/>
            <a:ext cx="29464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引入工具变量或准实验设计，处理投入类因子的反向因果嫌疑</a:t>
            </a:r>
            <a:endParaRPr lang="zh-CN" altLang="en-US" sz="11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76000" y="6400800"/>
            <a:ext cx="50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7A8B83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en-US" sz="1000">
              <a:solidFill>
                <a:srgbClr val="7A8B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3305</Words>
  <Application>WPS 演示</Application>
  <PresentationFormat>宽屏</PresentationFormat>
  <Paragraphs>424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cyx67</dc:creator>
  <cp:lastModifiedBy>WPS_1672104470</cp:lastModifiedBy>
  <cp:revision>157</cp:revision>
  <dcterms:created xsi:type="dcterms:W3CDTF">2019-06-19T02:08:00Z</dcterms:created>
  <dcterms:modified xsi:type="dcterms:W3CDTF">2026-10-15T00:49:24Z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846907CE5A8F4008AE6562BB291A2296_11</vt:lpwstr>
  </property>
</Properties>
</file>
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58BFF-14C2-7A71-55AC-ECC601B88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36D999-60CB-B977-AA3F-494F5A8E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8FECFA-45CC-1E38-AAB5-C9B51EAD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6ECBA-B189-1BDA-2362-A6CFFF8C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E9108-194E-822C-526D-730D5C3D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63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DDC07-D441-3E3D-887F-7DE56489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4F525-F377-B835-8E64-D82DE6E1A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D2635E-8801-403B-23C2-EFB59030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C79DCD-55F4-3A2F-51A7-314373B1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544158-3197-6DD6-C248-53DA5DAE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0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83407-82AA-7153-C91B-EC44C23D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50AE46-8E87-D3AE-0253-CCA2932DE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9E4AD-CB4F-FBC1-2CB5-26BBF145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7E7A9E-893A-C58B-B9D7-2D1EF033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E1E5A-CBC6-89A1-3A22-9D822214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22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3C59E-9C08-4D00-1A3C-BB743AC84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DD685C-2B22-A17C-61DE-8C72D8819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E59E54-793D-0F1E-D009-072D0F65A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B4ED64-1BE1-F8ED-0CB6-463D23CD2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D3CED8-8EBE-9077-76CE-316F3F0F4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70892B-F456-3B64-9079-C86081D9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97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A7555-011E-AD93-8B64-44E5DF35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370265-228F-384D-D460-555CC0FA2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6850D4-9E45-2A7B-6877-182259FE9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751B0C-9443-99CB-A126-0F151E06B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0CA6DD-941F-0A20-79D4-2AE4A4AEE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5D9314-F5FD-C373-BB7F-A2D4ED2C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EE860E-1F19-F304-16A1-F0750015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3C48FA-1FFF-7EB9-C312-89D09060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76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C9363-276F-6B7D-33D8-F63EFCA3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A61814-23D6-4894-AEDB-B3A251D5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CDA66C-129A-1B65-FBD5-7788F1665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0A8748-236E-D4EB-22DD-1D7B6583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50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92ABC6-3811-30B1-DB5C-D2EBD3F8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30BC9F-D3B2-5E92-8943-4BFE7582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17681C-E256-CBEB-020A-25D36398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01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29251-1A58-8584-442A-0064DE94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FE6F2A-25E7-5300-6FB7-CB81ABD2C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941C81-FA18-7EB0-0E20-3A2ED37F8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84AE8E-73AA-490F-2C0A-F7A92B98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4EE4F1-5D22-DCDA-73D9-2E0E0C12E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A45D0D-5C5E-228A-F337-F8EDFF3C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745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C2A93-EFB2-21AF-EC04-D4E73A60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1645A2-9705-5DE7-CB03-EC1515DAF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99D81A-EC22-BC2C-A69E-8197353A1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78BEB1-394C-6033-3A0A-EBC063049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807760-B5CC-40D9-30F5-4E96B0D3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3C4970-95B6-40E2-F2F9-0752A3FA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66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F7B9B-C8DD-2A74-93BB-A2810273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971527-5002-7D61-DAD0-B2254EC1B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DFBD3-252C-0126-9D31-168714BB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F6C466-34FE-276F-62D2-48E368B7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07D13C-9A27-4AF7-95A1-020F4A9B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60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9052BF-36D2-C086-6719-4F899A904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6D0A48-CF41-8F42-62A2-8D2CAC1BA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83CA2A-5197-EC56-3EF1-9C2415A8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59D8F-D8A4-301C-CE55-428244DD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3A081-F62F-D17B-9FE6-8B63E81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93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AE7CB0-AB5F-C840-8007-A5FA0928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243C36-E296-7961-B0A8-D1D049D45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A4015-1B7B-24D8-B796-628A194F5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4DADA-8746-4D95-ADB6-5E128629A384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98942F-91E2-5600-4763-977F096DB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FC1E10-2A9A-9179-B4B8-94EFC2EAF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3812E-11DC-4F0D-883D-184981B68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033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9B7599F-AF71-0BB7-DC01-B03931813A5F}"/>
              </a:ext>
            </a:extLst>
          </p:cNvPr>
          <p:cNvSpPr txBox="1"/>
          <p:nvPr/>
        </p:nvSpPr>
        <p:spPr>
          <a:xfrm>
            <a:off x="1219200" y="1676400"/>
            <a:ext cx="9753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第八届全球校园人工智能算法精英大赛　赛题</a:t>
            </a:r>
            <a:r>
              <a:rPr lang="en-US" altLang="zh-CN" sz="15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5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</a:t>
            </a:r>
            <a:r>
              <a:rPr lang="en-US" altLang="zh-CN" sz="15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AI+</a:t>
            </a:r>
            <a:r>
              <a:rPr lang="zh-CN" altLang="en-US" sz="15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学科交叉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34BF50-7BAF-A910-47B7-CC77B3ECEE96}"/>
              </a:ext>
            </a:extLst>
          </p:cNvPr>
          <p:cNvSpPr txBox="1"/>
          <p:nvPr/>
        </p:nvSpPr>
        <p:spPr>
          <a:xfrm>
            <a:off x="1219200" y="2184400"/>
            <a:ext cx="97536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禾衡</a:t>
            </a:r>
            <a:r>
              <a:rPr lang="en-US" altLang="zh-CN" sz="4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粮食生产气候
风险归因决策系统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D3ADD4-73BD-7E44-A99F-95263BA21B49}"/>
              </a:ext>
            </a:extLst>
          </p:cNvPr>
          <p:cNvSpPr/>
          <p:nvPr/>
        </p:nvSpPr>
        <p:spPr>
          <a:xfrm>
            <a:off x="1219200" y="4013200"/>
            <a:ext cx="1270000" cy="63500"/>
          </a:xfrm>
          <a:prstGeom prst="rect">
            <a:avLst/>
          </a:prstGeom>
          <a:solidFill>
            <a:srgbClr val="7FB0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EFB88B-1876-B5B1-562C-35C43BBE3C46}"/>
              </a:ext>
            </a:extLst>
          </p:cNvPr>
          <p:cNvSpPr txBox="1"/>
          <p:nvPr/>
        </p:nvSpPr>
        <p:spPr>
          <a:xfrm>
            <a:off x="1219200" y="4318000"/>
            <a:ext cx="889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CE7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把省级与县级两级面板对齐成可复核的归因证据：省级识别因子与边界，县级检验气候解释力，最后交付到可交互的风险决策界面。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582A6F-DF43-661E-7521-98B21D13E554}"/>
              </a:ext>
            </a:extLst>
          </p:cNvPr>
          <p:cNvSpPr txBox="1"/>
          <p:nvPr/>
        </p:nvSpPr>
        <p:spPr>
          <a:xfrm>
            <a:off x="1219200" y="5740400"/>
            <a:ext cx="635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答辩材料　</a:t>
            </a:r>
            <a:r>
              <a:rPr lang="en-US" altLang="zh-CN" sz="14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4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4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400">
                <a:solidFill>
                  <a:srgbClr val="A8C4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35166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B250BC1-5892-A69A-E3C2-6A0AEDCBBB29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割裂在哪里：三个学科视角各缺一块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F0B100-8EED-BDAF-A6E4-1D99295FC684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DEF190-7700-4CED-7538-4DEF95409DC8}"/>
              </a:ext>
            </a:extLst>
          </p:cNvPr>
          <p:cNvSpPr/>
          <p:nvPr/>
        </p:nvSpPr>
        <p:spPr>
          <a:xfrm>
            <a:off x="6858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38F463-83F6-D40B-2160-10843F47AD0C}"/>
              </a:ext>
            </a:extLst>
          </p:cNvPr>
          <p:cNvSpPr txBox="1"/>
          <p:nvPr/>
        </p:nvSpPr>
        <p:spPr>
          <a:xfrm>
            <a:off x="914400" y="17526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农学与农业气象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999733-FF68-96AD-AACD-B6760791FE83}"/>
              </a:ext>
            </a:extLst>
          </p:cNvPr>
          <p:cNvSpPr txBox="1"/>
          <p:nvPr/>
        </p:nvSpPr>
        <p:spPr>
          <a:xfrm>
            <a:off x="914400" y="2082800"/>
            <a:ext cx="294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机理清楚，统计手段受限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E902A1-7662-84B2-AEC7-332874D48F15}"/>
              </a:ext>
            </a:extLst>
          </p:cNvPr>
          <p:cNvSpPr txBox="1"/>
          <p:nvPr/>
        </p:nvSpPr>
        <p:spPr>
          <a:xfrm>
            <a:off x="914400" y="2565400"/>
            <a:ext cx="2946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能说清气候如何影响产量，但多因子耦合下「哪个因子边际贡献更大」缺乏可复核的量化证据。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5FBA80-3560-9CCF-ABF1-7BC1D6F15F46}"/>
              </a:ext>
            </a:extLst>
          </p:cNvPr>
          <p:cNvSpPr/>
          <p:nvPr/>
        </p:nvSpPr>
        <p:spPr>
          <a:xfrm>
            <a:off x="43942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6742D4-11E5-6EB7-C0BD-037BBD55D92D}"/>
              </a:ext>
            </a:extLst>
          </p:cNvPr>
          <p:cNvSpPr txBox="1"/>
          <p:nvPr/>
        </p:nvSpPr>
        <p:spPr>
          <a:xfrm>
            <a:off x="4622800" y="17526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计算机科学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5A7806-E8FB-4CDD-1405-618AF88B1315}"/>
              </a:ext>
            </a:extLst>
          </p:cNvPr>
          <p:cNvSpPr txBox="1"/>
          <p:nvPr/>
        </p:nvSpPr>
        <p:spPr>
          <a:xfrm>
            <a:off x="4622800" y="2082800"/>
            <a:ext cx="294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建模能力强，常脱离农学语境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2BC2BD-29AE-7F35-53AB-ABFE39C9B8E6}"/>
              </a:ext>
            </a:extLst>
          </p:cNvPr>
          <p:cNvSpPr txBox="1"/>
          <p:nvPr/>
        </p:nvSpPr>
        <p:spPr>
          <a:xfrm>
            <a:off x="4622800" y="2565400"/>
            <a:ext cx="2946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能把指标拟合得很好，却容易把拟合能力当成因果结论，回答不了「这个因子在农学上意味着什么」。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16F960-2886-E44E-988C-72DCD23B2125}"/>
              </a:ext>
            </a:extLst>
          </p:cNvPr>
          <p:cNvSpPr/>
          <p:nvPr/>
        </p:nvSpPr>
        <p:spPr>
          <a:xfrm>
            <a:off x="81026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D339F4-65BF-99F1-43BD-807EDDDB2C45}"/>
              </a:ext>
            </a:extLst>
          </p:cNvPr>
          <p:cNvSpPr txBox="1"/>
          <p:nvPr/>
        </p:nvSpPr>
        <p:spPr>
          <a:xfrm>
            <a:off x="8331200" y="17526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决策与管理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DACA9A4-0A47-2630-96ED-0586144B076F}"/>
              </a:ext>
            </a:extLst>
          </p:cNvPr>
          <p:cNvSpPr txBox="1"/>
          <p:nvPr/>
        </p:nvSpPr>
        <p:spPr>
          <a:xfrm>
            <a:off x="8331200" y="2082800"/>
            <a:ext cx="294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要结论，不要中间过程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CB1637-86C1-82E9-8DB6-12EA2E6122FF}"/>
              </a:ext>
            </a:extLst>
          </p:cNvPr>
          <p:cNvSpPr txBox="1"/>
          <p:nvPr/>
        </p:nvSpPr>
        <p:spPr>
          <a:xfrm>
            <a:off x="8331200" y="2565400"/>
            <a:ext cx="2946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需要的是能追问依据、能情景推演的结论，而单一分数或单一阈值预警都难以支撑资源投放次序。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79D9374-E4E4-E111-8161-71B921B7EEBF}"/>
              </a:ext>
            </a:extLst>
          </p:cNvPr>
          <p:cNvSpPr txBox="1"/>
          <p:nvPr/>
        </p:nvSpPr>
        <p:spPr>
          <a:xfrm>
            <a:off x="685800" y="4724400"/>
            <a:ext cx="10820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本作品补的是三条链路之间缺失的一环：把数据对齐、归因依据与适用边界同时交付。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D732A13-6227-210B-05AB-A8161853590A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9161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730A61-8A8D-55A7-DDDF-E906AA825E77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学科环节界定：每个环节都落到具体产物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C763D1-1188-A58E-7F2A-8B99913C3FF4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1D8CD83-3B5F-C5A4-548D-547BA13BB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98418"/>
              </p:ext>
            </p:extLst>
          </p:nvPr>
        </p:nvGraphicFramePr>
        <p:xfrm>
          <a:off x="685800" y="1473200"/>
          <a:ext cx="1082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488">
                  <a:extLst>
                    <a:ext uri="{9D8B030D-6E8A-4147-A177-3AD203B41FA5}">
                      <a16:colId xmlns:a16="http://schemas.microsoft.com/office/drawing/2014/main" val="1456870509"/>
                    </a:ext>
                  </a:extLst>
                </a:gridCol>
                <a:gridCol w="4544568">
                  <a:extLst>
                    <a:ext uri="{9D8B030D-6E8A-4147-A177-3AD203B41FA5}">
                      <a16:colId xmlns:a16="http://schemas.microsoft.com/office/drawing/2014/main" val="1618796641"/>
                    </a:ext>
                  </a:extLst>
                </a:gridCol>
                <a:gridCol w="3895344">
                  <a:extLst>
                    <a:ext uri="{9D8B030D-6E8A-4147-A177-3AD203B41FA5}">
                      <a16:colId xmlns:a16="http://schemas.microsoft.com/office/drawing/2014/main" val="78764558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学科环节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本作品承担的工作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可核查产物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5013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理论研究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极端气候因子的相对重要性排序及其区域分化规律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因子排序结果、区域分化说明、技术方案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§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六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0281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科研探索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多源异构数据的融合建模与可解释性归因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三模型训练脚本、模型卡、归因结果文件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396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科研数据处理与可视化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从原始遥感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气象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统计资料到可复现结论的工程化流程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对齐脚本、字段口径台账、八模块交互界面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49299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5C00DAF-02F5-8541-BB09-80FAD3262071}"/>
              </a:ext>
            </a:extLst>
          </p:cNvPr>
          <p:cNvSpPr txBox="1"/>
          <p:nvPr/>
        </p:nvSpPr>
        <p:spPr>
          <a:xfrm>
            <a:off x="685800" y="3581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选「科研数据处理与可视化」作为切入环节，因为它的痛点跨学科共性最强。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07117D-C101-D8F6-9600-0B4E4C624229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7201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DDC787-E237-636A-1ABC-7ECBFAE5BC1A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跨学科技术路线：五层分工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0608D3-6FBE-0DA9-8133-3D4ABA436D4F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450C21-AB39-B1F4-C240-8CB6823345C3}"/>
              </a:ext>
            </a:extLst>
          </p:cNvPr>
          <p:cNvSpPr/>
          <p:nvPr/>
        </p:nvSpPr>
        <p:spPr>
          <a:xfrm>
            <a:off x="685800" y="14224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CBD1C7-9514-0FEC-A411-E3F3E7A6B381}"/>
              </a:ext>
            </a:extLst>
          </p:cNvPr>
          <p:cNvSpPr txBox="1"/>
          <p:nvPr/>
        </p:nvSpPr>
        <p:spPr>
          <a:xfrm>
            <a:off x="863600" y="1625600"/>
            <a:ext cx="1046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问题定义层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由农学与农业气象学给出问题：省级尺度上哪些因子的边际贡献更大、方向如何、区域间是否分化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B80BAA-9175-501F-4BF4-4BC8D52AE705}"/>
              </a:ext>
            </a:extLst>
          </p:cNvPr>
          <p:cNvSpPr/>
          <p:nvPr/>
        </p:nvSpPr>
        <p:spPr>
          <a:xfrm>
            <a:off x="685800" y="22098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DF1BB1-4B40-2A25-6F08-5536B5B1294D}"/>
              </a:ext>
            </a:extLst>
          </p:cNvPr>
          <p:cNvSpPr txBox="1"/>
          <p:nvPr/>
        </p:nvSpPr>
        <p:spPr>
          <a:xfrm>
            <a:off x="863600" y="2413000"/>
            <a:ext cx="1046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数据对齐层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统计年鉴与公报　气象再分析资料　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MODIS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遥感产品　水旱灾害公报　行政边界与地表覆盖矢量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B93BFF-88FB-6AC9-1596-25B0F0A7B6A8}"/>
              </a:ext>
            </a:extLst>
          </p:cNvPr>
          <p:cNvSpPr/>
          <p:nvPr/>
        </p:nvSpPr>
        <p:spPr>
          <a:xfrm>
            <a:off x="685800" y="29972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3869FF-59D9-3C30-77B9-1183DA6200C6}"/>
              </a:ext>
            </a:extLst>
          </p:cNvPr>
          <p:cNvSpPr txBox="1"/>
          <p:nvPr/>
        </p:nvSpPr>
        <p:spPr>
          <a:xfrm>
            <a:off x="863600" y="3200400"/>
            <a:ext cx="1046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建模归因层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XGBoost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SHAP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边际贡献　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LSTM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时序基线　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Attention-LSTM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特征级门控　超参与种子留档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0C421D-F4B2-ECE5-08C6-A01D742EF195}"/>
              </a:ext>
            </a:extLst>
          </p:cNvPr>
          <p:cNvSpPr/>
          <p:nvPr/>
        </p:nvSpPr>
        <p:spPr>
          <a:xfrm>
            <a:off x="685800" y="37846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FCB5D-169B-B83A-B35C-F68F173BFEE2}"/>
              </a:ext>
            </a:extLst>
          </p:cNvPr>
          <p:cNvSpPr txBox="1"/>
          <p:nvPr/>
        </p:nvSpPr>
        <p:spPr>
          <a:xfrm>
            <a:off x="863600" y="3987800"/>
            <a:ext cx="1046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统计校核层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三协议交叉验证　植被指数消融　混合效应方差分解　真值单点校验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211340-1C47-42CB-6F10-D0126C065B2E}"/>
              </a:ext>
            </a:extLst>
          </p:cNvPr>
          <p:cNvSpPr/>
          <p:nvPr/>
        </p:nvSpPr>
        <p:spPr>
          <a:xfrm>
            <a:off x="685800" y="45720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4356284-4073-2EFC-00A6-56BBE585E6F0}"/>
              </a:ext>
            </a:extLst>
          </p:cNvPr>
          <p:cNvSpPr txBox="1"/>
          <p:nvPr/>
        </p:nvSpPr>
        <p:spPr>
          <a:xfrm>
            <a:off x="863600" y="4775200"/>
            <a:ext cx="1046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交付应用层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八模块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　端到端响应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0.39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　全栈无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依赖　面向科研与管理的交互界面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757534-42EF-F2D0-81A1-7E06983489B6}"/>
              </a:ext>
            </a:extLst>
          </p:cNvPr>
          <p:cNvSpPr txBox="1"/>
          <p:nvPr/>
        </p:nvSpPr>
        <p:spPr>
          <a:xfrm>
            <a:off x="685800" y="5486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农学提出问题与判据，计算机提供工具，统计负责校核，最终由交互系统交付。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14F78E-9F73-63F7-B291-DE9BB712D1D0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80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0EAA7B-9FFB-2679-D757-5D0178DAB783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从原始资料到农学可读结论的八步链路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44990C-F5A4-F52D-D716-FE425CFB502D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AA526D-6D02-873F-1486-C9E1F8764E6C}"/>
              </a:ext>
            </a:extLst>
          </p:cNvPr>
          <p:cNvSpPr/>
          <p:nvPr/>
        </p:nvSpPr>
        <p:spPr>
          <a:xfrm>
            <a:off x="6858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CABEB6-6050-D303-BDB1-CB6A090DC3B0}"/>
              </a:ext>
            </a:extLst>
          </p:cNvPr>
          <p:cNvSpPr txBox="1"/>
          <p:nvPr/>
        </p:nvSpPr>
        <p:spPr>
          <a:xfrm>
            <a:off x="863600" y="1574800"/>
            <a:ext cx="2184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100" b="1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52C642-3FE6-76F2-F41F-11FB86EFC975}"/>
              </a:ext>
            </a:extLst>
          </p:cNvPr>
          <p:cNvSpPr txBox="1"/>
          <p:nvPr/>
        </p:nvSpPr>
        <p:spPr>
          <a:xfrm>
            <a:off x="863600" y="1854200"/>
            <a:ext cx="218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数据采集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B8B754-2671-3F48-5350-73909B110EE6}"/>
              </a:ext>
            </a:extLst>
          </p:cNvPr>
          <p:cNvSpPr txBox="1"/>
          <p:nvPr/>
        </p:nvSpPr>
        <p:spPr>
          <a:xfrm>
            <a:off x="863600" y="2209800"/>
            <a:ext cx="2184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年鉴统计、气象再分析、遥感产品与灾害公报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B65900-6F3C-C7E7-0CE8-02177F37EAEE}"/>
              </a:ext>
            </a:extLst>
          </p:cNvPr>
          <p:cNvSpPr/>
          <p:nvPr/>
        </p:nvSpPr>
        <p:spPr>
          <a:xfrm>
            <a:off x="34417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86E9F1-5B95-C324-0DC2-28E8A5D1A773}"/>
              </a:ext>
            </a:extLst>
          </p:cNvPr>
          <p:cNvSpPr txBox="1"/>
          <p:nvPr/>
        </p:nvSpPr>
        <p:spPr>
          <a:xfrm>
            <a:off x="3619500" y="1574800"/>
            <a:ext cx="2184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 b="1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DAED09-06C3-502E-DE2A-3B131C2DB60A}"/>
              </a:ext>
            </a:extLst>
          </p:cNvPr>
          <p:cNvSpPr txBox="1"/>
          <p:nvPr/>
        </p:nvSpPr>
        <p:spPr>
          <a:xfrm>
            <a:off x="3619500" y="1854200"/>
            <a:ext cx="218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口径登记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D7C0AE-05A6-0EAC-FD11-D2B55B9857FA}"/>
              </a:ext>
            </a:extLst>
          </p:cNvPr>
          <p:cNvSpPr txBox="1"/>
          <p:nvPr/>
        </p:nvSpPr>
        <p:spPr>
          <a:xfrm>
            <a:off x="3619500" y="2209800"/>
            <a:ext cx="2184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逐字段记录来源、时间口径、空间口径与处理方式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CBDC23-80A0-A817-11F2-D5DDB3079D7D}"/>
              </a:ext>
            </a:extLst>
          </p:cNvPr>
          <p:cNvSpPr/>
          <p:nvPr/>
        </p:nvSpPr>
        <p:spPr>
          <a:xfrm>
            <a:off x="61976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2AFE0C-5FBA-ABA2-9C20-EC0A5B82D73D}"/>
              </a:ext>
            </a:extLst>
          </p:cNvPr>
          <p:cNvSpPr txBox="1"/>
          <p:nvPr/>
        </p:nvSpPr>
        <p:spPr>
          <a:xfrm>
            <a:off x="6375400" y="1574800"/>
            <a:ext cx="2184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FE46502-F05E-AC37-FBD0-FF40174FD9CF}"/>
              </a:ext>
            </a:extLst>
          </p:cNvPr>
          <p:cNvSpPr txBox="1"/>
          <p:nvPr/>
        </p:nvSpPr>
        <p:spPr>
          <a:xfrm>
            <a:off x="6375400" y="1854200"/>
            <a:ext cx="218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时空对齐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3F69D6-7AE5-2E46-7871-4E29BF896158}"/>
              </a:ext>
            </a:extLst>
          </p:cNvPr>
          <p:cNvSpPr txBox="1"/>
          <p:nvPr/>
        </p:nvSpPr>
        <p:spPr>
          <a:xfrm>
            <a:off x="6375400" y="2209800"/>
            <a:ext cx="2184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统一到省份 </a:t>
            </a:r>
            <a:r>
              <a:rPr lang="en-US" altLang="zh-CN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年度口径，口径争议在数据阶段解决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031F18-0218-25A7-A215-381F11A8FBC9}"/>
              </a:ext>
            </a:extLst>
          </p:cNvPr>
          <p:cNvSpPr/>
          <p:nvPr/>
        </p:nvSpPr>
        <p:spPr>
          <a:xfrm>
            <a:off x="89535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331B35-09D2-8949-7ECF-9451892FD8B2}"/>
              </a:ext>
            </a:extLst>
          </p:cNvPr>
          <p:cNvSpPr txBox="1"/>
          <p:nvPr/>
        </p:nvSpPr>
        <p:spPr>
          <a:xfrm>
            <a:off x="9131300" y="1574800"/>
            <a:ext cx="2184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 b="1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0CFD74-001F-9E9C-19BE-57DC53614A83}"/>
              </a:ext>
            </a:extLst>
          </p:cNvPr>
          <p:cNvSpPr txBox="1"/>
          <p:nvPr/>
        </p:nvSpPr>
        <p:spPr>
          <a:xfrm>
            <a:off x="9131300" y="1854200"/>
            <a:ext cx="218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耕地加权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35FAD86-4907-A47F-5E2D-042394CD228D}"/>
              </a:ext>
            </a:extLst>
          </p:cNvPr>
          <p:cNvSpPr txBox="1"/>
          <p:nvPr/>
        </p:nvSpPr>
        <p:spPr>
          <a:xfrm>
            <a:off x="9131300" y="2209800"/>
            <a:ext cx="2184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栅格按耕地像元加权聚合，剔除非耕地信号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15D3FA-DD3C-0AA0-DC87-ACE3B3EBE41D}"/>
              </a:ext>
            </a:extLst>
          </p:cNvPr>
          <p:cNvSpPr/>
          <p:nvPr/>
        </p:nvSpPr>
        <p:spPr>
          <a:xfrm>
            <a:off x="6858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BD74D9-43E8-5CEC-80B7-05D090ABCBCD}"/>
              </a:ext>
            </a:extLst>
          </p:cNvPr>
          <p:cNvSpPr txBox="1"/>
          <p:nvPr/>
        </p:nvSpPr>
        <p:spPr>
          <a:xfrm>
            <a:off x="863600" y="3175000"/>
            <a:ext cx="2184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 b="1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DA8E07-2878-FBB4-958B-CBA8877CE824}"/>
              </a:ext>
            </a:extLst>
          </p:cNvPr>
          <p:cNvSpPr txBox="1"/>
          <p:nvPr/>
        </p:nvSpPr>
        <p:spPr>
          <a:xfrm>
            <a:off x="863600" y="3454400"/>
            <a:ext cx="218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三模型训练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26AE11-7CB4-A414-B618-6C24640AEB9A}"/>
              </a:ext>
            </a:extLst>
          </p:cNvPr>
          <p:cNvSpPr txBox="1"/>
          <p:nvPr/>
        </p:nvSpPr>
        <p:spPr>
          <a:xfrm>
            <a:off x="863600" y="3810000"/>
            <a:ext cx="2184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XGBoost</a:t>
            </a:r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LSTM </a:t>
            </a:r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基线、</a:t>
            </a:r>
            <a:r>
              <a:rPr lang="en-US" altLang="zh-CN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Attention-LSTM </a:t>
            </a:r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D832E4-338C-E4FA-AB19-F2A07C052539}"/>
              </a:ext>
            </a:extLst>
          </p:cNvPr>
          <p:cNvSpPr/>
          <p:nvPr/>
        </p:nvSpPr>
        <p:spPr>
          <a:xfrm>
            <a:off x="34417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3D84131-89C5-5765-D8CA-78B5B05BBCC7}"/>
              </a:ext>
            </a:extLst>
          </p:cNvPr>
          <p:cNvSpPr txBox="1"/>
          <p:nvPr/>
        </p:nvSpPr>
        <p:spPr>
          <a:xfrm>
            <a:off x="3619500" y="3175000"/>
            <a:ext cx="2184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 b="1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4AAB32C-7D87-2958-33D6-AAA88F49B6FD}"/>
              </a:ext>
            </a:extLst>
          </p:cNvPr>
          <p:cNvSpPr txBox="1"/>
          <p:nvPr/>
        </p:nvSpPr>
        <p:spPr>
          <a:xfrm>
            <a:off x="3619500" y="3454400"/>
            <a:ext cx="218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双视角归因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CA5714-2745-F4C2-5054-278AE9649817}"/>
              </a:ext>
            </a:extLst>
          </p:cNvPr>
          <p:cNvSpPr txBox="1"/>
          <p:nvPr/>
        </p:nvSpPr>
        <p:spPr>
          <a:xfrm>
            <a:off x="3619500" y="3810000"/>
            <a:ext cx="2184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边际贡献与门控偏好对照，不强行拼接一致性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5D7AA10-64C2-704F-1C5D-15C385C88636}"/>
              </a:ext>
            </a:extLst>
          </p:cNvPr>
          <p:cNvSpPr/>
          <p:nvPr/>
        </p:nvSpPr>
        <p:spPr>
          <a:xfrm>
            <a:off x="61976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080109A-DA38-3190-BCCB-CAB15646CCCF}"/>
              </a:ext>
            </a:extLst>
          </p:cNvPr>
          <p:cNvSpPr txBox="1"/>
          <p:nvPr/>
        </p:nvSpPr>
        <p:spPr>
          <a:xfrm>
            <a:off x="6375400" y="3175000"/>
            <a:ext cx="2184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100" b="1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A647824-E818-7C10-5BBC-83D8611F7969}"/>
              </a:ext>
            </a:extLst>
          </p:cNvPr>
          <p:cNvSpPr txBox="1"/>
          <p:nvPr/>
        </p:nvSpPr>
        <p:spPr>
          <a:xfrm>
            <a:off x="6375400" y="3454400"/>
            <a:ext cx="218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方差分解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4D4F42-0C17-CFD3-5B1B-5E752D8E4AF9}"/>
              </a:ext>
            </a:extLst>
          </p:cNvPr>
          <p:cNvSpPr txBox="1"/>
          <p:nvPr/>
        </p:nvSpPr>
        <p:spPr>
          <a:xfrm>
            <a:off x="6375400" y="3810000"/>
            <a:ext cx="2184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分离省份固有差异与因子边际效应，回答 </a:t>
            </a:r>
            <a:r>
              <a:rPr lang="en-US" altLang="zh-CN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R² </a:t>
            </a:r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从哪来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0DAC26F-E80F-61D2-8D0D-751964386838}"/>
              </a:ext>
            </a:extLst>
          </p:cNvPr>
          <p:cNvSpPr/>
          <p:nvPr/>
        </p:nvSpPr>
        <p:spPr>
          <a:xfrm>
            <a:off x="89535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1F56436-C5FC-E0E0-565A-D750C9AFCE02}"/>
              </a:ext>
            </a:extLst>
          </p:cNvPr>
          <p:cNvSpPr txBox="1"/>
          <p:nvPr/>
        </p:nvSpPr>
        <p:spPr>
          <a:xfrm>
            <a:off x="9131300" y="3175000"/>
            <a:ext cx="2184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100" b="1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EDFFC23-425F-1554-BE6F-543BAD108523}"/>
              </a:ext>
            </a:extLst>
          </p:cNvPr>
          <p:cNvSpPr txBox="1"/>
          <p:nvPr/>
        </p:nvSpPr>
        <p:spPr>
          <a:xfrm>
            <a:off x="9131300" y="3454400"/>
            <a:ext cx="218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结论复述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764A28A-D978-ECB7-36FD-BEF0344CC170}"/>
              </a:ext>
            </a:extLst>
          </p:cNvPr>
          <p:cNvSpPr txBox="1"/>
          <p:nvPr/>
        </p:nvSpPr>
        <p:spPr>
          <a:xfrm>
            <a:off x="9131300" y="3810000"/>
            <a:ext cx="2184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非建模成员用农学语言复述，复述不通则回到定义环节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EB75024-CFA1-7B5A-463E-757207D40D6E}"/>
              </a:ext>
            </a:extLst>
          </p:cNvPr>
          <p:cNvSpPr/>
          <p:nvPr/>
        </p:nvSpPr>
        <p:spPr>
          <a:xfrm>
            <a:off x="685800" y="4724400"/>
            <a:ext cx="10820400" cy="13208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B516335-6150-89BA-D01A-0257CAA26AF6}"/>
              </a:ext>
            </a:extLst>
          </p:cNvPr>
          <p:cNvSpPr/>
          <p:nvPr/>
        </p:nvSpPr>
        <p:spPr>
          <a:xfrm>
            <a:off x="685800" y="4724400"/>
            <a:ext cx="63500" cy="1320800"/>
          </a:xfrm>
          <a:prstGeom prst="rect">
            <a:avLst/>
          </a:prstGeom>
          <a:solidFill>
            <a:srgbClr val="7FB0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9B61781-38CB-A471-7483-BB174667AF1E}"/>
              </a:ext>
            </a:extLst>
          </p:cNvPr>
          <p:cNvSpPr txBox="1"/>
          <p:nvPr/>
        </p:nvSpPr>
        <p:spPr>
          <a:xfrm>
            <a:off x="990600" y="4902200"/>
            <a:ext cx="1028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一条可核查的结论轨迹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E4004CC-C904-DE2A-38A7-0B3330B1EF43}"/>
              </a:ext>
            </a:extLst>
          </p:cNvPr>
          <p:cNvSpPr txBox="1"/>
          <p:nvPr/>
        </p:nvSpPr>
        <p:spPr>
          <a:xfrm>
            <a:off x="990600" y="5181600"/>
            <a:ext cx="1028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县级 </a:t>
            </a:r>
            <a:r>
              <a:rPr lang="en-US" altLang="zh-CN" sz="14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CLIMG 16 </a:t>
            </a:r>
            <a:r>
              <a:rPr lang="zh-CN" altLang="en-US" sz="14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维：空间迁移 </a:t>
            </a:r>
            <a:r>
              <a:rPr lang="en-US" altLang="zh-CN" sz="14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R² = 0.4489 ± 0.0065</a:t>
            </a:r>
            <a:r>
              <a:rPr lang="zh-CN" altLang="en-US" sz="14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，时间外推 </a:t>
            </a:r>
            <a:r>
              <a:rPr lang="en-US" altLang="zh-CN" sz="14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R² = 0.3644 ± 0.0044</a:t>
            </a:r>
            <a:r>
              <a:rPr lang="zh-CN" altLang="en-US" sz="14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4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4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种子）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7716E78-94E7-84F1-71BA-F83BCB042D90}"/>
              </a:ext>
            </a:extLst>
          </p:cNvPr>
          <p:cNvSpPr txBox="1"/>
          <p:nvPr/>
        </p:nvSpPr>
        <p:spPr>
          <a:xfrm>
            <a:off x="990600" y="5537200"/>
            <a:ext cx="1028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省级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403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条的留一省中位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R² = −16.83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只作诊断：它说明省级面板主要学到省份基线，而不是可迁移的气候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产量关系。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D2FB955-FE38-9608-20B8-C8E364929D7A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565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3EB698-0E62-ED5C-478E-D5D38D12D4D1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数据底座：四模态对齐后的两级面板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13714A-F8FC-4DE4-51E6-A434E0325EE9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17826AF-C3CC-9316-85CE-BA116C83E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727692"/>
              </p:ext>
            </p:extLst>
          </p:nvPr>
        </p:nvGraphicFramePr>
        <p:xfrm>
          <a:off x="685800" y="1473200"/>
          <a:ext cx="1082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2952659704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889122364"/>
                    </a:ext>
                  </a:extLst>
                </a:gridCol>
                <a:gridCol w="4544568">
                  <a:extLst>
                    <a:ext uri="{9D8B030D-6E8A-4147-A177-3AD203B41FA5}">
                      <a16:colId xmlns:a16="http://schemas.microsoft.com/office/drawing/2014/main" val="161848274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数据类别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来源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在本作品中的角色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7430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农业统计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国家统计局及各省统计公报、中国农村统计年鉴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粮食单产、灌溉率、化肥投入、机械化率等生产侧指标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2404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气象要素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NASA POWER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再分析数据与气象站点观测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平均气温、降水、日照与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SPEI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干旱指数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2751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卫星遥感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MODIS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植被指数与地表温度产品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按耕地像元加权聚合，剔除非耕地像元的稀释效应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741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致灾与空间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中国水旱灾害公报、标准地图服务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旱灾与水灾受灾面积、省域行政边界矢量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6187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县域统计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中国县域统计年鉴（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2000—2024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个主产省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1,199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县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12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年，共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14,388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条县级样本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62026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C9724EF-0088-9FFE-FDAF-A98AC1B2E064}"/>
              </a:ext>
            </a:extLst>
          </p:cNvPr>
          <p:cNvSpPr txBox="1"/>
          <p:nvPr/>
        </p:nvSpPr>
        <p:spPr>
          <a:xfrm>
            <a:off x="685800" y="44958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省级 </a:t>
            </a:r>
            <a:r>
              <a:rPr lang="en-US" altLang="zh-CN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403 </a:t>
            </a:r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11 </a:t>
            </a:r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维入模；县级 </a:t>
            </a:r>
            <a:r>
              <a:rPr lang="en-US" altLang="zh-CN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14,388 </a:t>
            </a:r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16 </a:t>
            </a:r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维纯气候入模。两级结果不可直接相加或比较。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E7BD6A-538D-8DD7-0A1D-66BD411CD341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4858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54075D-10E2-24A0-AFEF-454F0B71191A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三模型分工：</a:t>
            </a:r>
            <a:r>
              <a:rPr lang="en-US" altLang="zh-CN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XGBoost </a:t>
            </a:r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主引擎，</a:t>
            </a:r>
            <a:r>
              <a:rPr lang="en-US" altLang="zh-CN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LSTM </a:t>
            </a:r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与注意力作对照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D4052C-957D-ABD5-0450-ADD824984488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3B9966-FA99-DEC5-CD1D-A4AD089ABB42}"/>
              </a:ext>
            </a:extLst>
          </p:cNvPr>
          <p:cNvSpPr/>
          <p:nvPr/>
        </p:nvSpPr>
        <p:spPr>
          <a:xfrm>
            <a:off x="6858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43CADC-8C42-A5E6-4A34-79888F2AFF8C}"/>
              </a:ext>
            </a:extLst>
          </p:cNvPr>
          <p:cNvSpPr txBox="1"/>
          <p:nvPr/>
        </p:nvSpPr>
        <p:spPr>
          <a:xfrm>
            <a:off x="914400" y="16256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XGBoost </a:t>
            </a:r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SHAP</a:t>
            </a:r>
            <a:endParaRPr lang="zh-CN" altLang="en-US" sz="115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E91BED-D39A-7F4B-C523-2D933A139018}"/>
              </a:ext>
            </a:extLst>
          </p:cNvPr>
          <p:cNvSpPr txBox="1"/>
          <p:nvPr/>
        </p:nvSpPr>
        <p:spPr>
          <a:xfrm>
            <a:off x="914400" y="1930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横截面边际贡献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42563B-6C15-46F6-46FA-EF4DD0AB0D6B}"/>
              </a:ext>
            </a:extLst>
          </p:cNvPr>
          <p:cNvSpPr txBox="1"/>
          <p:nvPr/>
        </p:nvSpPr>
        <p:spPr>
          <a:xfrm>
            <a:off x="914400" y="23876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量化各因子对预测的边际贡献，是县级归因的主引擎。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07CB2C-64B3-F33E-1AF4-253E36B48BC5}"/>
              </a:ext>
            </a:extLst>
          </p:cNvPr>
          <p:cNvSpPr/>
          <p:nvPr/>
        </p:nvSpPr>
        <p:spPr>
          <a:xfrm>
            <a:off x="43942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7C939C-64DD-97E8-FBC7-1DFE1A0EE121}"/>
              </a:ext>
            </a:extLst>
          </p:cNvPr>
          <p:cNvSpPr txBox="1"/>
          <p:nvPr/>
        </p:nvSpPr>
        <p:spPr>
          <a:xfrm>
            <a:off x="4622800" y="16256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LSTM </a:t>
            </a:r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AFE311-33C8-2D23-8AF1-B7EA1C351E08}"/>
              </a:ext>
            </a:extLst>
          </p:cNvPr>
          <p:cNvSpPr txBox="1"/>
          <p:nvPr/>
        </p:nvSpPr>
        <p:spPr>
          <a:xfrm>
            <a:off x="4622800" y="1930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时序拟合参照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9B48B8-BB37-75FD-54B3-A3EB9B8E91E8}"/>
              </a:ext>
            </a:extLst>
          </p:cNvPr>
          <p:cNvSpPr txBox="1"/>
          <p:nvPr/>
        </p:nvSpPr>
        <p:spPr>
          <a:xfrm>
            <a:off x="4622800" y="23876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用相同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维输入做对照，检验深度时序结构是否带来额外信息。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49466D-11E6-C17E-B28F-3CB1C4F1A7A0}"/>
              </a:ext>
            </a:extLst>
          </p:cNvPr>
          <p:cNvSpPr/>
          <p:nvPr/>
        </p:nvSpPr>
        <p:spPr>
          <a:xfrm>
            <a:off x="81026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15883B-EE0E-0D1C-62AF-2509BBD597EA}"/>
              </a:ext>
            </a:extLst>
          </p:cNvPr>
          <p:cNvSpPr txBox="1"/>
          <p:nvPr/>
        </p:nvSpPr>
        <p:spPr>
          <a:xfrm>
            <a:off x="8331200" y="16256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Attention-LSTM</a:t>
            </a:r>
            <a:endParaRPr lang="zh-CN" altLang="en-US" sz="115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475869-8F15-E9E0-7F2D-1E7AEF903DA9}"/>
              </a:ext>
            </a:extLst>
          </p:cNvPr>
          <p:cNvSpPr txBox="1"/>
          <p:nvPr/>
        </p:nvSpPr>
        <p:spPr>
          <a:xfrm>
            <a:off x="8331200" y="1930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特征级门控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8A8D66-DB88-B184-8D64-88C1907AE170}"/>
              </a:ext>
            </a:extLst>
          </p:cNvPr>
          <p:cNvSpPr txBox="1"/>
          <p:nvPr/>
        </p:nvSpPr>
        <p:spPr>
          <a:xfrm>
            <a:off x="8331200" y="23876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softmax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重加权输入特征；这里借鉴注意力机制，不是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自注意力。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95A172-031A-FD58-4E16-9BFE45B3D952}"/>
              </a:ext>
            </a:extLst>
          </p:cNvPr>
          <p:cNvSpPr/>
          <p:nvPr/>
        </p:nvSpPr>
        <p:spPr>
          <a:xfrm>
            <a:off x="6858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E7D2A1C-CDC1-1855-CAF4-197747FD47B3}"/>
              </a:ext>
            </a:extLst>
          </p:cNvPr>
          <p:cNvSpPr txBox="1"/>
          <p:nvPr/>
        </p:nvSpPr>
        <p:spPr>
          <a:xfrm>
            <a:off x="914400" y="39370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证据强度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CE6133A-AA1C-F509-215C-C687684A773F}"/>
              </a:ext>
            </a:extLst>
          </p:cNvPr>
          <p:cNvSpPr txBox="1"/>
          <p:nvPr/>
        </p:nvSpPr>
        <p:spPr>
          <a:xfrm>
            <a:off x="914400" y="4216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XGBoost </a:t>
            </a:r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是主引擎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B2BA47-17FD-7350-405F-39A7CCE88A26}"/>
              </a:ext>
            </a:extLst>
          </p:cNvPr>
          <p:cNvSpPr txBox="1"/>
          <p:nvPr/>
        </p:nvSpPr>
        <p:spPr>
          <a:xfrm>
            <a:off x="914400" y="45720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县级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CLIMG-XGB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空间迁移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+0.4489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、时间外推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+0.3644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；注意力只作诊断视角。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D4879B-AF99-32A3-03C4-7AB80EAA8C97}"/>
              </a:ext>
            </a:extLst>
          </p:cNvPr>
          <p:cNvSpPr/>
          <p:nvPr/>
        </p:nvSpPr>
        <p:spPr>
          <a:xfrm>
            <a:off x="43942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90E47-F05F-2074-3B11-D16DA06B73BA}"/>
              </a:ext>
            </a:extLst>
          </p:cNvPr>
          <p:cNvSpPr txBox="1"/>
          <p:nvPr/>
        </p:nvSpPr>
        <p:spPr>
          <a:xfrm>
            <a:off x="4622800" y="39370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注意力稳定性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4CF085-0180-686A-5A23-4474795B415D}"/>
              </a:ext>
            </a:extLst>
          </p:cNvPr>
          <p:cNvSpPr txBox="1"/>
          <p:nvPr/>
        </p:nvSpPr>
        <p:spPr>
          <a:xfrm>
            <a:off x="4622800" y="4216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种子间排序不稳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740877-DC20-E591-A0F4-C4CB7D0450BF}"/>
              </a:ext>
            </a:extLst>
          </p:cNvPr>
          <p:cNvSpPr txBox="1"/>
          <p:nvPr/>
        </p:nvSpPr>
        <p:spPr>
          <a:xfrm>
            <a:off x="4622800" y="45720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个种子的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仅部分重合，不能把单个种子的权重当政策排序。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3E260F0-B637-FD40-C104-FD31DA4F9C35}"/>
              </a:ext>
            </a:extLst>
          </p:cNvPr>
          <p:cNvSpPr/>
          <p:nvPr/>
        </p:nvSpPr>
        <p:spPr>
          <a:xfrm>
            <a:off x="81026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E034F6C-B335-0426-A9A7-EDD63075B1BB}"/>
              </a:ext>
            </a:extLst>
          </p:cNvPr>
          <p:cNvSpPr txBox="1"/>
          <p:nvPr/>
        </p:nvSpPr>
        <p:spPr>
          <a:xfrm>
            <a:off x="8331200" y="39370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应用后果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E723C3F-E1C2-E237-9801-2D2E09BA2806}"/>
              </a:ext>
            </a:extLst>
          </p:cNvPr>
          <p:cNvSpPr txBox="1"/>
          <p:nvPr/>
        </p:nvSpPr>
        <p:spPr>
          <a:xfrm>
            <a:off x="8331200" y="4216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归因以 </a:t>
            </a:r>
            <a:r>
              <a:rPr lang="en-US" altLang="zh-CN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SHAP </a:t>
            </a:r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为主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8525E0-3FC5-338A-AD4C-0783B691754A}"/>
              </a:ext>
            </a:extLst>
          </p:cNvPr>
          <p:cNvSpPr txBox="1"/>
          <p:nvPr/>
        </p:nvSpPr>
        <p:spPr>
          <a:xfrm>
            <a:off x="8331200" y="45720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Att-LSTM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用于提示模型关注点，不进入风险等级的唯一依据。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0097B8-71FC-E725-D05C-8283D8ABB207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1452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58E11E-D5F5-1698-D499-DCD020FF18D6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证据分层：主归因、对照与适用边界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07F53A-1554-D33B-5437-50B28108B2A0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6E89444-1129-9976-C110-093C597CF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610"/>
              </p:ext>
            </p:extLst>
          </p:nvPr>
        </p:nvGraphicFramePr>
        <p:xfrm>
          <a:off x="685800" y="1473200"/>
          <a:ext cx="5080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85503143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6925049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归因视角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排序前三位因子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6344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县级主归因（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CLIMG-XGB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空间迁移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+0.4489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；时间外推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+0.3644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80175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省级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SHAP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诊断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植被指数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平均气温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降水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7901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注意力对照（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种子均值）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水灾面积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机械化率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平均气温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33091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27EDDB5-21F2-0BFA-4D0A-E7EA4E6DF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420693"/>
              </p:ext>
            </p:extLst>
          </p:nvPr>
        </p:nvGraphicFramePr>
        <p:xfrm>
          <a:off x="6096000" y="1473200"/>
          <a:ext cx="54102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6">
                  <a:extLst>
                    <a:ext uri="{9D8B030D-6E8A-4147-A177-3AD203B41FA5}">
                      <a16:colId xmlns:a16="http://schemas.microsoft.com/office/drawing/2014/main" val="99159406"/>
                    </a:ext>
                  </a:extLst>
                </a:gridCol>
                <a:gridCol w="2813304">
                  <a:extLst>
                    <a:ext uri="{9D8B030D-6E8A-4147-A177-3AD203B41FA5}">
                      <a16:colId xmlns:a16="http://schemas.microsoft.com/office/drawing/2014/main" val="4191934719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验证协议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结果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79735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省级随机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8:2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R² = 0.907 ± 0.038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（省份识别）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26253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省级留一年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R² = 0.894 ± 0.104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（年份内插）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7852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省级留一省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中位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R² = −16.83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省仅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&gt; 0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96369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县级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CLIMG16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空间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+0.4489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；时间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+0.3644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33426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D5CA2C7-3D80-1590-C87B-541864B13327}"/>
              </a:ext>
            </a:extLst>
          </p:cNvPr>
          <p:cNvSpPr/>
          <p:nvPr/>
        </p:nvSpPr>
        <p:spPr>
          <a:xfrm>
            <a:off x="685800" y="3606800"/>
            <a:ext cx="5080000" cy="1905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91CC92-AF3C-35D7-D413-B584F48052F4}"/>
              </a:ext>
            </a:extLst>
          </p:cNvPr>
          <p:cNvSpPr txBox="1"/>
          <p:nvPr/>
        </p:nvSpPr>
        <p:spPr>
          <a:xfrm>
            <a:off x="889000" y="3784600"/>
            <a:ext cx="4673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为什么省级分数不能当主结论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3DB6A4-8036-5745-9066-280048A528EC}"/>
              </a:ext>
            </a:extLst>
          </p:cNvPr>
          <p:cNvSpPr txBox="1"/>
          <p:nvPr/>
        </p:nvSpPr>
        <p:spPr>
          <a:xfrm>
            <a:off x="889000" y="4165600"/>
            <a:ext cx="4673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混合效应模型给出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ICC = 0.9710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，约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97%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的总方差来自省份基线；随机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8:2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0.907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主要测省份识别，不是气候迁移。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8B09DA-A171-2C80-918D-4C44E16F6A9E}"/>
              </a:ext>
            </a:extLst>
          </p:cNvPr>
          <p:cNvSpPr/>
          <p:nvPr/>
        </p:nvSpPr>
        <p:spPr>
          <a:xfrm>
            <a:off x="6096000" y="4064000"/>
            <a:ext cx="5410200" cy="14478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402C38-DD9F-EA0D-7776-683602676F99}"/>
              </a:ext>
            </a:extLst>
          </p:cNvPr>
          <p:cNvSpPr txBox="1"/>
          <p:nvPr/>
        </p:nvSpPr>
        <p:spPr>
          <a:xfrm>
            <a:off x="6299200" y="4241800"/>
            <a:ext cx="500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据此界定的能力范围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695079-0915-D9D5-5F35-B9D8EB798DEE}"/>
              </a:ext>
            </a:extLst>
          </p:cNvPr>
          <p:cNvSpPr txBox="1"/>
          <p:nvPr/>
        </p:nvSpPr>
        <p:spPr>
          <a:xfrm>
            <a:off x="6299200" y="4622800"/>
            <a:ext cx="5003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不承诺跨省产量预测；县级模型也只回答气候的边际贡献，不回答绝对产量。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53D793-E026-5837-88D6-1CB26D826842}"/>
              </a:ext>
            </a:extLst>
          </p:cNvPr>
          <p:cNvSpPr txBox="1"/>
          <p:nvPr/>
        </p:nvSpPr>
        <p:spPr>
          <a:xfrm>
            <a:off x="685800" y="5689600"/>
            <a:ext cx="10820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数据来源：模型验证记录与模型卡，口径与佐证材料一致。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2B5443-BB25-B4F9-1D03-48BB55A4A933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098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986380C-1A64-9AF2-907B-9B39C0E06387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系统整体架构：四层架构与两级数据链路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258C4D-2D10-18D7-18B3-131FD061AEBE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64416-5F0F-6FBF-5C76-FAA733AB953D}"/>
              </a:ext>
            </a:extLst>
          </p:cNvPr>
          <p:cNvSpPr/>
          <p:nvPr/>
        </p:nvSpPr>
        <p:spPr>
          <a:xfrm>
            <a:off x="685800" y="14224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41FCA5-10B8-EFC3-E363-8084E422E425}"/>
              </a:ext>
            </a:extLst>
          </p:cNvPr>
          <p:cNvSpPr txBox="1"/>
          <p:nvPr/>
        </p:nvSpPr>
        <p:spPr>
          <a:xfrm>
            <a:off x="863600" y="1625600"/>
            <a:ext cx="1046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数据层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省级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13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403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条；县级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主产省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1,199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12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14,388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FEDEFD-47AD-7AB6-D328-240BB61B2320}"/>
              </a:ext>
            </a:extLst>
          </p:cNvPr>
          <p:cNvSpPr/>
          <p:nvPr/>
        </p:nvSpPr>
        <p:spPr>
          <a:xfrm>
            <a:off x="685800" y="22098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5CE458-CF3B-4723-0273-A225C6009685}"/>
              </a:ext>
            </a:extLst>
          </p:cNvPr>
          <p:cNvSpPr txBox="1"/>
          <p:nvPr/>
        </p:nvSpPr>
        <p:spPr>
          <a:xfrm>
            <a:off x="863600" y="2413000"/>
            <a:ext cx="1046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算法层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省级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XGBoost-SHAP + LSTM + Attention-LSTM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对照；县级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CLIMG-XGB + SHAP</a:t>
            </a:r>
            <a:endParaRPr lang="zh-CN" altLang="en-US" sz="1300">
              <a:solidFill>
                <a:srgbClr val="1A1A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36526C-22CA-06E0-088C-87A7F8561C48}"/>
              </a:ext>
            </a:extLst>
          </p:cNvPr>
          <p:cNvSpPr/>
          <p:nvPr/>
        </p:nvSpPr>
        <p:spPr>
          <a:xfrm>
            <a:off x="685800" y="29972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5C4ED3-D9BF-B2E3-D81D-905628980A0A}"/>
              </a:ext>
            </a:extLst>
          </p:cNvPr>
          <p:cNvSpPr txBox="1"/>
          <p:nvPr/>
        </p:nvSpPr>
        <p:spPr>
          <a:xfrm>
            <a:off x="863600" y="3200400"/>
            <a:ext cx="1046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应用层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Flask REST API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/api/predict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/api/counties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/api/rag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；模型与 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SHAP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产物只读调用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688F78-5248-1B1D-C870-682816673DFE}"/>
              </a:ext>
            </a:extLst>
          </p:cNvPr>
          <p:cNvSpPr/>
          <p:nvPr/>
        </p:nvSpPr>
        <p:spPr>
          <a:xfrm>
            <a:off x="685800" y="37846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073722-7F0B-6351-8CBA-63085ABEF2A3}"/>
              </a:ext>
            </a:extLst>
          </p:cNvPr>
          <p:cNvSpPr txBox="1"/>
          <p:nvPr/>
        </p:nvSpPr>
        <p:spPr>
          <a:xfrm>
            <a:off x="863600" y="3987800"/>
            <a:ext cx="1046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展示层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</a:t>
            </a:r>
            <a:r>
              <a:rPr lang="en-US" altLang="zh-CN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M00—M07 </a:t>
            </a:r>
            <a:r>
              <a:rPr lang="zh-CN" altLang="en-US" sz="130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八个模块：总览、地图、归因、情景、路径、监控、助手、县级诊断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A6D08E-DC4E-940B-6E57-AF271965A07A}"/>
              </a:ext>
            </a:extLst>
          </p:cNvPr>
          <p:cNvSpPr txBox="1"/>
          <p:nvPr/>
        </p:nvSpPr>
        <p:spPr>
          <a:xfrm>
            <a:off x="685800" y="46990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两级面板口径分离；省级负责因子识别与边界诊断，县级负责可迁移的气候归因。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48FECB-791B-17F7-908B-CD707826E883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447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3CDA087-E04B-8EC4-53BA-96D3DBE7B4B6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归因看板：每个结论都能点开看到依据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216616-C0CB-1042-B793-87E3A7BDD0F5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A0FA13-2F2D-CDD2-84CF-1DF0662493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0" y="1751409"/>
            <a:ext cx="7048500" cy="396478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716861D-42A6-2DFC-2753-FDDEC6FC8551}"/>
              </a:ext>
            </a:extLst>
          </p:cNvPr>
          <p:cNvSpPr txBox="1"/>
          <p:nvPr/>
        </p:nvSpPr>
        <p:spPr>
          <a:xfrm>
            <a:off x="685800" y="6223000"/>
            <a:ext cx="10820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全局因子重要性与单省贡献分解并列呈现，作用是让归因结论可被农学用户直接追问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ED45B5-98D9-896F-ABCC-4589953804CC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062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7026D5-4A92-ABD7-28BD-9A64B5383FB4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风险时空地图：区域分化规律的可视化读法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8FE134-98D0-0F00-C3E8-0FD349A4438C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3970A7-FE4D-3D35-652A-DF50FCD39A3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0" y="1751409"/>
            <a:ext cx="7048500" cy="396478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0A3A8CD-AC84-C1C4-03E0-0E09613D3166}"/>
              </a:ext>
            </a:extLst>
          </p:cNvPr>
          <p:cNvSpPr txBox="1"/>
          <p:nvPr/>
        </p:nvSpPr>
        <p:spPr>
          <a:xfrm>
            <a:off x="685800" y="6223000"/>
            <a:ext cx="10820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 </a:t>
            </a:r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 </a:t>
            </a:r>
            <a:r>
              <a:rPr lang="en-US" altLang="zh-CN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13 </a:t>
            </a:r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年风险等级时间轴，支持按年份拖动查看区域相对风险排序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451AE7-57AD-8E0E-4008-2288FDF681FC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2813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C6EB82-6043-F71B-FA8A-E1589878B031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情景推演：不调整实际生产也能比较方案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BA7DAA-1D31-458F-8D77-C465C0004CB2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E43D79-15EF-3DC5-B216-FE802F1901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0" y="1751409"/>
            <a:ext cx="7048500" cy="396478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CCB9815-3C93-AD0F-7FD7-4F9542B11B77}"/>
              </a:ext>
            </a:extLst>
          </p:cNvPr>
          <p:cNvSpPr txBox="1"/>
          <p:nvPr/>
        </p:nvSpPr>
        <p:spPr>
          <a:xfrm>
            <a:off x="685800" y="6223000"/>
            <a:ext cx="10820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调整灌溉率、洪涝占比、日照、气温与 </a:t>
            </a:r>
            <a:r>
              <a:rPr lang="en-US" altLang="zh-CN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SPEI </a:t>
            </a:r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五个参数，实时返回风险变化方向与量级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E9CB88-483A-E974-4DED-EAD831DFAAF1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9706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BA56B2-D3D5-00AA-1E70-FB9F68A605C0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空间尺度递进实验：省级外推受限的成因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CB2F9A-BF7C-ECE4-FB32-1553A8CC1CF2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9608FEB-2AD6-8011-F8CB-8CDA7075D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578200"/>
              </p:ext>
            </p:extLst>
          </p:nvPr>
        </p:nvGraphicFramePr>
        <p:xfrm>
          <a:off x="685800" y="1473200"/>
          <a:ext cx="1082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9712">
                  <a:extLst>
                    <a:ext uri="{9D8B030D-6E8A-4147-A177-3AD203B41FA5}">
                      <a16:colId xmlns:a16="http://schemas.microsoft.com/office/drawing/2014/main" val="3033749545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74437514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1897960492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353213163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空间单元 </a:t>
                      </a:r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特征集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样本规模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空间迁移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时间外推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565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省级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维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中位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R² = −16.83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留一年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0.894*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9796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县级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CLIM3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1 041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县，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10 407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+0.2600 ± 0.0044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+0.2216 ± 0.0024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3532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县级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CLIMG16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1 041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县，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10 407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+0.4489 ± 0.0065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+0.3644 ± 0.0044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94524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5C46DE8-90BD-2AA6-63C4-DD16FC0A1027}"/>
              </a:ext>
            </a:extLst>
          </p:cNvPr>
          <p:cNvSpPr txBox="1"/>
          <p:nvPr/>
        </p:nvSpPr>
        <p:spPr>
          <a:xfrm>
            <a:off x="685800" y="3581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粒度下移并剥离规模后，气候解释力在空间与时间两个方向都可迁移；省级失败来自省</a:t>
            </a:r>
            <a:r>
              <a:rPr lang="en-US" altLang="zh-CN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年常量主导。*留一年是年份内插。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46B738-AF0A-BE36-9E73-DF2A0883F438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5749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23C687B-2663-EC04-6752-0DC7EC7BA12E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能力边界与合规口径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82A02E-77E3-D9A2-7221-B7EE8BDB7653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42AA6F-DE07-5AC3-C29C-28236D590690}"/>
              </a:ext>
            </a:extLst>
          </p:cNvPr>
          <p:cNvSpPr/>
          <p:nvPr/>
        </p:nvSpPr>
        <p:spPr>
          <a:xfrm>
            <a:off x="685800" y="14732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E8F247-14CA-99ED-EF62-F485D31353AA}"/>
              </a:ext>
            </a:extLst>
          </p:cNvPr>
          <p:cNvSpPr txBox="1"/>
          <p:nvPr/>
        </p:nvSpPr>
        <p:spPr>
          <a:xfrm>
            <a:off x="914400" y="16764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模型边界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720D30-933A-93BD-34A0-33F5563D61BD}"/>
              </a:ext>
            </a:extLst>
          </p:cNvPr>
          <p:cNvSpPr txBox="1"/>
          <p:nvPr/>
        </p:nvSpPr>
        <p:spPr>
          <a:xfrm>
            <a:off x="914400" y="1981200"/>
            <a:ext cx="480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不做跨省产量外推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498FCD-70A2-F9DE-41C4-DB544932D874}"/>
              </a:ext>
            </a:extLst>
          </p:cNvPr>
          <p:cNvSpPr txBox="1"/>
          <p:nvPr/>
        </p:nvSpPr>
        <p:spPr>
          <a:xfrm>
            <a:off x="914400" y="24130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留一省验证中位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R²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 −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16.83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，系统只输出区域内相对风险与情景推演。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31F970-B7DA-B166-2880-54680D60DCCE}"/>
              </a:ext>
            </a:extLst>
          </p:cNvPr>
          <p:cNvSpPr/>
          <p:nvPr/>
        </p:nvSpPr>
        <p:spPr>
          <a:xfrm>
            <a:off x="6248400" y="14732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CA182A-ADE7-C096-28C9-95FCC6280F78}"/>
              </a:ext>
            </a:extLst>
          </p:cNvPr>
          <p:cNvSpPr txBox="1"/>
          <p:nvPr/>
        </p:nvSpPr>
        <p:spPr>
          <a:xfrm>
            <a:off x="6477000" y="16764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表达边界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29D4C5-F200-BB59-6ABF-7519E96D39F2}"/>
              </a:ext>
            </a:extLst>
          </p:cNvPr>
          <p:cNvSpPr txBox="1"/>
          <p:nvPr/>
        </p:nvSpPr>
        <p:spPr>
          <a:xfrm>
            <a:off x="6477000" y="1981200"/>
            <a:ext cx="480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不承诺产量绝对值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E28DCD-683D-3262-90D1-187648521501}"/>
              </a:ext>
            </a:extLst>
          </p:cNvPr>
          <p:cNvSpPr txBox="1"/>
          <p:nvPr/>
        </p:nvSpPr>
        <p:spPr>
          <a:xfrm>
            <a:off x="6477000" y="24130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河南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2022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单点误差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42.6—441.6 kg/ha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，仅作流程校验，不作精度声明。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A3BE8C-D868-620D-083A-91295CE72058}"/>
              </a:ext>
            </a:extLst>
          </p:cNvPr>
          <p:cNvSpPr/>
          <p:nvPr/>
        </p:nvSpPr>
        <p:spPr>
          <a:xfrm>
            <a:off x="685800" y="37338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F5BE3D-93B4-D42C-E12A-84DC00642D53}"/>
              </a:ext>
            </a:extLst>
          </p:cNvPr>
          <p:cNvSpPr txBox="1"/>
          <p:nvPr/>
        </p:nvSpPr>
        <p:spPr>
          <a:xfrm>
            <a:off x="914400" y="39370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数据合规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7DFD2DA-E7BE-777D-0494-7108E4A46F5B}"/>
              </a:ext>
            </a:extLst>
          </p:cNvPr>
          <p:cNvSpPr txBox="1"/>
          <p:nvPr/>
        </p:nvSpPr>
        <p:spPr>
          <a:xfrm>
            <a:off x="914400" y="4241800"/>
            <a:ext cx="480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来源与授权可追溯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E1FA11-1608-10FF-35C5-956013FE2DC6}"/>
              </a:ext>
            </a:extLst>
          </p:cNvPr>
          <p:cNvSpPr txBox="1"/>
          <p:nvPr/>
        </p:nvSpPr>
        <p:spPr>
          <a:xfrm>
            <a:off x="914400" y="46736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全部采用公开权威数据源，逐项登记来源机构与适用范围，无采购成本。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F7CF79-DD25-BC30-0C00-202C48F493DF}"/>
              </a:ext>
            </a:extLst>
          </p:cNvPr>
          <p:cNvSpPr/>
          <p:nvPr/>
        </p:nvSpPr>
        <p:spPr>
          <a:xfrm>
            <a:off x="6248400" y="37338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6260518-37A8-A8CA-3FF2-5AF73C611C5D}"/>
              </a:ext>
            </a:extLst>
          </p:cNvPr>
          <p:cNvSpPr txBox="1"/>
          <p:nvPr/>
        </p:nvSpPr>
        <p:spPr>
          <a:xfrm>
            <a:off x="6477000" y="39370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效果佐证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3581AE-28AF-F9A3-4EA8-68D4C678ACC4}"/>
              </a:ext>
            </a:extLst>
          </p:cNvPr>
          <p:cNvSpPr txBox="1"/>
          <p:nvPr/>
        </p:nvSpPr>
        <p:spPr>
          <a:xfrm>
            <a:off x="6477000" y="4241800"/>
            <a:ext cx="480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未做的部分不编造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3A29A4-6992-560E-21EE-626565F709D7}"/>
              </a:ext>
            </a:extLst>
          </p:cNvPr>
          <p:cNvSpPr txBox="1"/>
          <p:nvPr/>
        </p:nvSpPr>
        <p:spPr>
          <a:xfrm>
            <a:off x="6477000" y="46736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响应耗时已实测；外部试用尚未完成，材料中不把它写成已有结论。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704011-444C-B66A-C9A6-6A744748055B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9496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2C723E9-0F28-6751-75A8-551D65BDE642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关键实测指标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F21909-CF6B-CC8A-AE97-3E1DE2908C57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838428C-3A62-6597-15DB-7A75E6F68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603901"/>
              </p:ext>
            </p:extLst>
          </p:nvPr>
        </p:nvGraphicFramePr>
        <p:xfrm>
          <a:off x="685800" y="1473200"/>
          <a:ext cx="10820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1752">
                  <a:extLst>
                    <a:ext uri="{9D8B030D-6E8A-4147-A177-3AD203B41FA5}">
                      <a16:colId xmlns:a16="http://schemas.microsoft.com/office/drawing/2014/main" val="1880279827"/>
                    </a:ext>
                  </a:extLst>
                </a:gridCol>
                <a:gridCol w="6708648">
                  <a:extLst>
                    <a:ext uri="{9D8B030D-6E8A-4147-A177-3AD203B41FA5}">
                      <a16:colId xmlns:a16="http://schemas.microsoft.com/office/drawing/2014/main" val="215176802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指标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实测值</a:t>
                      </a: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3540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县级主结论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空间迁移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R² = 0.4489 ± 0.0065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；时间外推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R² = 0.3644 ± 0.0044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种子）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628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规模混淆诊断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log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总产量与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log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播种面积相关系数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0.9597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；播种面积解释约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92%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方差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9172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省级边界诊断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留一省中位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R² = −16.83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ICC = 0.9710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95% CI [0.9496, 0.9805]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2250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系统响应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端到端均值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0.39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0.18—0.89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秒）；模型侧单次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1.87 ms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37105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工程质量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个自动化测试；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WCAG 2.2 AA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项安全响应头与请求分级限流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112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可复现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模型卡、超参、随机种子、训练脚本与 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SHAP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产物全部留档</a:t>
                      </a: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88736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5A22068-4587-F494-8ACB-4C806A349E0D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3434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F45C00-3D89-E9AA-07BD-7CE0C0D7A303}"/>
              </a:ext>
            </a:extLst>
          </p:cNvPr>
          <p:cNvSpPr txBox="1"/>
          <p:nvPr/>
        </p:nvSpPr>
        <p:spPr>
          <a:xfrm>
            <a:off x="685800" y="381000"/>
            <a:ext cx="1082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跨学科价值与后续工作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C36003-959E-9E85-2D29-88A68AED4C4B}"/>
              </a:ext>
            </a:extLst>
          </p:cNvPr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7D9CAF-33EB-7DAB-15E1-F4AC3EF4FD46}"/>
              </a:ext>
            </a:extLst>
          </p:cNvPr>
          <p:cNvSpPr/>
          <p:nvPr/>
        </p:nvSpPr>
        <p:spPr>
          <a:xfrm>
            <a:off x="6858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696291-0522-833A-5F08-8C7D27567E6C}"/>
              </a:ext>
            </a:extLst>
          </p:cNvPr>
          <p:cNvSpPr txBox="1"/>
          <p:nvPr/>
        </p:nvSpPr>
        <p:spPr>
          <a:xfrm>
            <a:off x="914400" y="16256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科研效率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82FC59-BB7F-3586-596F-3F3D1312B5EE}"/>
              </a:ext>
            </a:extLst>
          </p:cNvPr>
          <p:cNvSpPr txBox="1"/>
          <p:nvPr/>
        </p:nvSpPr>
        <p:spPr>
          <a:xfrm>
            <a:off x="914400" y="1930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隐性成本显性化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DF27A4-8F0C-CB6D-17A5-181833C80B26}"/>
              </a:ext>
            </a:extLst>
          </p:cNvPr>
          <p:cNvSpPr txBox="1"/>
          <p:nvPr/>
        </p:nvSpPr>
        <p:spPr>
          <a:xfrm>
            <a:off x="914400" y="23876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四模态对齐流程与字段口径台账可复用，同类研究的重复数据准备不再从零开始。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9BA676-7E69-8391-F768-2674BBDF8765}"/>
              </a:ext>
            </a:extLst>
          </p:cNvPr>
          <p:cNvSpPr/>
          <p:nvPr/>
        </p:nvSpPr>
        <p:spPr>
          <a:xfrm>
            <a:off x="43942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454CB4-BFA2-5452-8662-57C84A49EE26}"/>
              </a:ext>
            </a:extLst>
          </p:cNvPr>
          <p:cNvSpPr txBox="1"/>
          <p:nvPr/>
        </p:nvSpPr>
        <p:spPr>
          <a:xfrm>
            <a:off x="4622800" y="16256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教学与方法迁移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7B6877-B499-8C14-61B0-BB168304CB8B}"/>
              </a:ext>
            </a:extLst>
          </p:cNvPr>
          <p:cNvSpPr txBox="1"/>
          <p:nvPr/>
        </p:nvSpPr>
        <p:spPr>
          <a:xfrm>
            <a:off x="4622800" y="1930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框架与作物无关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CCA61B-124C-B4B6-AD02-CB133CBFC878}"/>
              </a:ext>
            </a:extLst>
          </p:cNvPr>
          <p:cNvSpPr txBox="1"/>
          <p:nvPr/>
        </p:nvSpPr>
        <p:spPr>
          <a:xfrm>
            <a:off x="4622800" y="23876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互补归因与多协议披露的框架可迁移到其他作物、区域与其他「气候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生产」议题。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0088C3-4424-34D4-BCAB-2813CB8170F7}"/>
              </a:ext>
            </a:extLst>
          </p:cNvPr>
          <p:cNvSpPr/>
          <p:nvPr/>
        </p:nvSpPr>
        <p:spPr>
          <a:xfrm>
            <a:off x="81026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B02F9F-388D-DA23-1988-D4D80D4685B1}"/>
              </a:ext>
            </a:extLst>
          </p:cNvPr>
          <p:cNvSpPr txBox="1"/>
          <p:nvPr/>
        </p:nvSpPr>
        <p:spPr>
          <a:xfrm>
            <a:off x="8331200" y="16256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人才培养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23DB7C-4FA5-5290-0DD2-67AAA579007E}"/>
              </a:ext>
            </a:extLst>
          </p:cNvPr>
          <p:cNvSpPr txBox="1"/>
          <p:nvPr/>
        </p:nvSpPr>
        <p:spPr>
          <a:xfrm>
            <a:off x="8331200" y="1930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跨专业协作机制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5266CF-297B-2AC7-A2B9-A35ECBD2E166}"/>
              </a:ext>
            </a:extLst>
          </p:cNvPr>
          <p:cNvSpPr txBox="1"/>
          <p:nvPr/>
        </p:nvSpPr>
        <p:spPr>
          <a:xfrm>
            <a:off x="8331200" y="23876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结论必须能被非建模成员用农学语言复述，形成可操作的跨学科沟通规程。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C3BCFE-4972-58DD-18E5-81B056BA5FFC}"/>
              </a:ext>
            </a:extLst>
          </p:cNvPr>
          <p:cNvSpPr/>
          <p:nvPr/>
        </p:nvSpPr>
        <p:spPr>
          <a:xfrm>
            <a:off x="6858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86E04E-FD6C-867C-5F48-ECEF69BF364F}"/>
              </a:ext>
            </a:extLst>
          </p:cNvPr>
          <p:cNvSpPr txBox="1"/>
          <p:nvPr/>
        </p:nvSpPr>
        <p:spPr>
          <a:xfrm>
            <a:off x="914400" y="39370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9B724F-5103-FBE8-35CF-E0FAD9679EFB}"/>
              </a:ext>
            </a:extLst>
          </p:cNvPr>
          <p:cNvSpPr txBox="1"/>
          <p:nvPr/>
        </p:nvSpPr>
        <p:spPr>
          <a:xfrm>
            <a:off x="914400" y="4216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补外部试用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DA085E-A0E7-B623-F6D5-DD1D7BFC92F0}"/>
              </a:ext>
            </a:extLst>
          </p:cNvPr>
          <p:cNvSpPr txBox="1"/>
          <p:nvPr/>
        </p:nvSpPr>
        <p:spPr>
          <a:xfrm>
            <a:off x="914400" y="45720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5—8 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人任务试用与记录表，替代当前仅有的内部反馈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B73738-267C-76E2-2C50-9666D8BB3F6C}"/>
              </a:ext>
            </a:extLst>
          </p:cNvPr>
          <p:cNvSpPr/>
          <p:nvPr/>
        </p:nvSpPr>
        <p:spPr>
          <a:xfrm>
            <a:off x="43942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CE8903-CAE9-8642-EEA8-A77D6C92E35A}"/>
              </a:ext>
            </a:extLst>
          </p:cNvPr>
          <p:cNvSpPr txBox="1"/>
          <p:nvPr/>
        </p:nvSpPr>
        <p:spPr>
          <a:xfrm>
            <a:off x="4622800" y="39370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E720B1-A5E7-B898-5FFC-7DF32B15F23F}"/>
              </a:ext>
            </a:extLst>
          </p:cNvPr>
          <p:cNvSpPr txBox="1"/>
          <p:nvPr/>
        </p:nvSpPr>
        <p:spPr>
          <a:xfrm>
            <a:off x="4622800" y="4216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单产口径补齐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EF655BF-39A5-2601-D36E-F5451E4EEB5E}"/>
              </a:ext>
            </a:extLst>
          </p:cNvPr>
          <p:cNvSpPr txBox="1"/>
          <p:nvPr/>
        </p:nvSpPr>
        <p:spPr>
          <a:xfrm>
            <a:off x="4622800" y="45720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当前县级单产字段非空率 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32.7%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，补齐后直接检验气候</a:t>
            </a:r>
            <a:r>
              <a:rPr lang="en-US" altLang="zh-CN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单产关系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35F6E3-6C0A-B80D-D227-79639DD81F71}"/>
              </a:ext>
            </a:extLst>
          </p:cNvPr>
          <p:cNvSpPr/>
          <p:nvPr/>
        </p:nvSpPr>
        <p:spPr>
          <a:xfrm>
            <a:off x="81026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63F0237-B41C-DF6B-7E41-4BCCABB64246}"/>
              </a:ext>
            </a:extLst>
          </p:cNvPr>
          <p:cNvSpPr txBox="1"/>
          <p:nvPr/>
        </p:nvSpPr>
        <p:spPr>
          <a:xfrm>
            <a:off x="8331200" y="39370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远期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0DD64B4-477B-93F3-0CE8-375767B3CE10}"/>
              </a:ext>
            </a:extLst>
          </p:cNvPr>
          <p:cNvSpPr txBox="1"/>
          <p:nvPr/>
        </p:nvSpPr>
        <p:spPr>
          <a:xfrm>
            <a:off x="8331200" y="4216400"/>
            <a:ext cx="294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因果识别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30CF545-54BE-4396-611C-15F53CA0B5C0}"/>
              </a:ext>
            </a:extLst>
          </p:cNvPr>
          <p:cNvSpPr txBox="1"/>
          <p:nvPr/>
        </p:nvSpPr>
        <p:spPr>
          <a:xfrm>
            <a:off x="8331200" y="45720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1A1A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引入工具变量或准实验设计，处理投入类因子的反向因果嫌疑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8FFCF1-E4A0-FA05-478D-9299D5C3DE03}"/>
              </a:ext>
            </a:extLst>
          </p:cNvPr>
          <p:cNvSpPr txBox="1"/>
          <p:nvPr/>
        </p:nvSpPr>
        <p:spPr>
          <a:xfrm>
            <a:off x="11176000" y="6400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>
                <a:solidFill>
                  <a:srgbClr val="7A8B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endParaRPr lang="zh-CN" altLang="en-US" sz="1000">
              <a:solidFill>
                <a:srgbClr val="7A8B8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1927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1970</Words>
  <Application>Microsoft Office PowerPoint</Application>
  <PresentationFormat>自定义</PresentationFormat>
  <Paragraphs>219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妙齐 潘</dc:creator>
  <cp:lastModifiedBy>妙齐 潘</cp:lastModifiedBy>
  <cp:revision>1</cp:revision>
  <dcterms:created xsi:type="dcterms:W3CDTF">2026-10-19T07:25:27Z</dcterms:created>
  <dcterms:modified xsi:type="dcterms:W3CDTF">2026-10-19T07:25:27Z</dcterms:modified>
</cp:coreProperties>
</file>
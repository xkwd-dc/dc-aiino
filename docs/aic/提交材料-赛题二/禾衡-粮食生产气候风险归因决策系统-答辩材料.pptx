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19200" y="1676400"/>
            <a:ext cx="97536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>
                <a:solidFill>
                  <a:srgbClr val="A8C4B6"/>
                </a:solidFill>
                <a:latin typeface="微软雅黑" panose="020B0503020204020204" charset="-122"/>
                <a:ea typeface="微软雅黑" panose="020B0503020204020204" charset="-122"/>
              </a:rPr>
              <a:t>第八届全球校园人工智能算法精英大赛　赛题二</a:t>
            </a:r>
            <a:endParaRPr lang="zh-CN" altLang="en-US" sz="1500">
              <a:solidFill>
                <a:srgbClr val="A8C4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19200" y="2184400"/>
            <a:ext cx="9753600" cy="13538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4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禾衡</a:t>
            </a:r>
            <a:r>
              <a:rPr lang="en-US" altLang="zh-CN" sz="4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r>
              <a:rPr lang="zh-CN" altLang="en-US" sz="4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粮食生产气候</a:t>
            </a:r>
            <a:r>
              <a:rPr lang="en-US" altLang="zh-CN" sz="4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4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风险归因决策系统</a:t>
            </a:r>
            <a:endParaRPr lang="zh-CN" altLang="en-US" sz="4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19200" y="4013200"/>
            <a:ext cx="1270000" cy="63500"/>
          </a:xfrm>
          <a:prstGeom prst="rect">
            <a:avLst/>
          </a:prstGeom>
          <a:solidFill>
            <a:srgbClr val="7FB0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219200" y="4318000"/>
            <a:ext cx="8890000" cy="5226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700">
                <a:solidFill>
                  <a:srgbClr val="DCE7E1"/>
                </a:solidFill>
                <a:latin typeface="微软雅黑" panose="020B0503020204020204" charset="-122"/>
                <a:ea typeface="微软雅黑" panose="020B0503020204020204" charset="-122"/>
              </a:rPr>
              <a:t>以四模态省级面板为底座，用三模型互补归因与多协议校核，输出可解释、可推演、有明确边界的区域风险结论。</a:t>
            </a:r>
            <a:endParaRPr lang="zh-CN" altLang="en-US" sz="1700">
              <a:solidFill>
                <a:srgbClr val="DCE7E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19200" y="5740400"/>
            <a:ext cx="63500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400">
                <a:solidFill>
                  <a:srgbClr val="A8C4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答辩材料　</a:t>
            </a:r>
            <a:r>
              <a:rPr lang="en-US" altLang="zh-CN" sz="1400">
                <a:solidFill>
                  <a:srgbClr val="A8C4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</a:t>
            </a:r>
            <a:r>
              <a:rPr lang="zh-CN" altLang="en-US" sz="1400">
                <a:solidFill>
                  <a:srgbClr val="A8C4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1400">
                <a:solidFill>
                  <a:srgbClr val="A8C4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 </a:t>
            </a:r>
            <a:r>
              <a:rPr lang="zh-CN" altLang="en-US" sz="1400">
                <a:solidFill>
                  <a:srgbClr val="A8C4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endParaRPr lang="zh-CN" altLang="en-US" sz="1400">
              <a:solidFill>
                <a:srgbClr val="A8C4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同一场气候冲击，在不同区域方向相反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85800" y="1498600"/>
            <a:ext cx="3403600" cy="26670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14400" y="1752600"/>
            <a:ext cx="29464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2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2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14400" y="2082800"/>
            <a:ext cx="29464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7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单一指标阈值预警</a:t>
            </a:r>
            <a:endParaRPr lang="zh-CN" altLang="en-US" sz="17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14400" y="2565400"/>
            <a:ext cx="2946400" cy="576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2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气候风险是多因子耦合的结果。按单一指标设阈值，会把复合胁迫误判为未超阈值，也无法说明风险来自哪里。</a:t>
            </a:r>
            <a:endParaRPr lang="zh-CN" altLang="en-US" sz="12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394200" y="1498600"/>
            <a:ext cx="3403600" cy="26670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622800" y="1752600"/>
            <a:ext cx="29464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2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2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622800" y="2082800"/>
            <a:ext cx="29464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7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黑箱预测没有依据</a:t>
            </a:r>
            <a:endParaRPr lang="zh-CN" altLang="en-US" sz="17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622800" y="2565400"/>
            <a:ext cx="2946400" cy="576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2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精度再高的分数也回答不了「为什么是这个区域、这个因子」，管理决策无从下手，结论也无法被追问。</a:t>
            </a:r>
            <a:endParaRPr lang="zh-CN" altLang="en-US" sz="12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102600" y="1498600"/>
            <a:ext cx="3403600" cy="26670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331200" y="1752600"/>
            <a:ext cx="29464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2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2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331200" y="2082800"/>
            <a:ext cx="29464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7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结论超出数据支撑</a:t>
            </a:r>
            <a:endParaRPr lang="zh-CN" altLang="en-US" sz="17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331200" y="2565400"/>
            <a:ext cx="2946400" cy="576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2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省级横截面样本不支持跨省外推。若不加界定，模型结论很容易被当成通用规律使用。</a:t>
            </a:r>
            <a:endParaRPr lang="zh-CN" altLang="en-US" sz="12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85800" y="4724400"/>
            <a:ext cx="108204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7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缺的不是数据源或算法，而是把多模态数据对齐、把结论归因清楚、把适用边界说明白。</a:t>
            </a:r>
            <a:endParaRPr lang="zh-CN" altLang="en-US" sz="17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作品目标与量化指标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1473200"/>
          <a:ext cx="10820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264"/>
                <a:gridCol w="4544567"/>
                <a:gridCol w="4544567"/>
              </a:tblGrid>
              <a:tr h="45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目标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具体界定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量化指标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数据目标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统计、气象、遥感与致灾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空间四模态省级农业面板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31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省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×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13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年（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2011—2023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），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 = 403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11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维入模特征，无缺失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预测目标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省级粮食单产的风险等级评估与因子归因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随机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8:2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协议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R² = 0.907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0.038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RMSE = 312.5 kg/ha</a:t>
                      </a:r>
                      <a:endParaRPr lang="en-US" altLang="zh-CN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可解释目标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每个风险结论可追溯到具体因子及贡献方向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SHAP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边际贡献与注意力门控双视角，单省瀑布分解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应用目标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农业生产者与管理部门可直接使用的工具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模块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Web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系统，单次推理秒级，无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GPU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依赖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边界目标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明确说明模型能用在哪、不能用在哪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三套验证协议并行披露，含空间外推上限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85800" y="4495800"/>
            <a:ext cx="10820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把「分析」与「预测」都落到可核查的数字上，是这套作品的第一原则。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技术路线：五层分工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85800" y="1422400"/>
            <a:ext cx="10820400" cy="7112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63600" y="1625600"/>
            <a:ext cx="104648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数据层</a:t>
            </a:r>
            <a:r>
              <a:rPr lang="zh-CN" altLang="en-US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銆</a:t>
            </a:r>
            <a:r>
              <a:rPr lang="en-US" altLang="zh-CN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€</a:t>
            </a:r>
            <a:r>
              <a:rPr lang="zh-CN" altLang="en-US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统计年鉴与公报　气象再分析资料　</a:t>
            </a:r>
            <a:r>
              <a:rPr lang="en-US" altLang="zh-CN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MODIS </a:t>
            </a:r>
            <a:r>
              <a:rPr lang="zh-CN" altLang="en-US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遥感产品　水旱灾害公报　行政边界与地表覆盖矢量</a:t>
            </a:r>
            <a:endParaRPr lang="zh-CN" altLang="en-US" sz="130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5800" y="2209800"/>
            <a:ext cx="10820400" cy="7112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63600" y="2413000"/>
            <a:ext cx="104648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对齐层</a:t>
            </a:r>
            <a:r>
              <a:rPr lang="zh-CN" altLang="en-US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銆</a:t>
            </a:r>
            <a:r>
              <a:rPr lang="en-US" altLang="zh-CN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€</a:t>
            </a:r>
            <a:r>
              <a:rPr lang="zh-CN" altLang="en-US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省域空间聚合　耕地像元加权　气象站点加权平均　插值与标准化　逐字段来源与口径台账</a:t>
            </a:r>
            <a:endParaRPr lang="zh-CN" altLang="en-US" sz="130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5800" y="2997200"/>
            <a:ext cx="10820400" cy="7112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63600" y="3200400"/>
            <a:ext cx="104648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建模层</a:t>
            </a:r>
            <a:r>
              <a:rPr lang="zh-CN" altLang="en-US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銆</a:t>
            </a:r>
            <a:r>
              <a:rPr lang="en-US" altLang="zh-CN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€XGBoost </a:t>
            </a:r>
            <a:r>
              <a:rPr lang="zh-CN" altLang="en-US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风险预测　</a:t>
            </a:r>
            <a:r>
              <a:rPr lang="en-US" altLang="zh-CN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LSTM </a:t>
            </a:r>
            <a:r>
              <a:rPr lang="zh-CN" altLang="en-US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时序基线　</a:t>
            </a:r>
            <a:r>
              <a:rPr lang="en-US" altLang="zh-CN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Attention-LSTM </a:t>
            </a:r>
            <a:r>
              <a:rPr lang="zh-CN" altLang="en-US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特征级门控　超参与随机种子留档</a:t>
            </a:r>
            <a:endParaRPr lang="zh-CN" altLang="en-US" sz="130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85800" y="3784600"/>
            <a:ext cx="10820400" cy="7112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63600" y="3987800"/>
            <a:ext cx="104648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归因层</a:t>
            </a:r>
            <a:r>
              <a:rPr lang="zh-CN" altLang="en-US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銆</a:t>
            </a:r>
            <a:r>
              <a:rPr lang="en-US" altLang="zh-CN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€SHAP </a:t>
            </a:r>
            <a:r>
              <a:rPr lang="zh-CN" altLang="en-US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边际贡献　注意力权重偏好　双视角秩相关对照　单样本贡献分解</a:t>
            </a:r>
            <a:endParaRPr lang="zh-CN" altLang="en-US" sz="130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85800" y="4572000"/>
            <a:ext cx="10820400" cy="7112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63600" y="4775200"/>
            <a:ext cx="104648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校核层</a:t>
            </a:r>
            <a:r>
              <a:rPr lang="zh-CN" altLang="en-US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銆</a:t>
            </a:r>
            <a:r>
              <a:rPr lang="en-US" altLang="zh-CN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€</a:t>
            </a:r>
            <a:r>
              <a:rPr lang="zh-CN" altLang="en-US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三协议交叉验证　植被指数消融　混合效应方差分解　真值单点校验　模型卡留档</a:t>
            </a:r>
            <a:endParaRPr lang="zh-CN" altLang="en-US" sz="130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85800" y="5486400"/>
            <a:ext cx="10820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分工明确：对齐保证口径一致，归因保证结论可解释，校核保证边界清晰。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从原始数据到决策结论的八步链路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85800" y="1422400"/>
            <a:ext cx="2540000" cy="14224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63600" y="1574800"/>
            <a:ext cx="21844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00" b="1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100" b="1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63600" y="1854200"/>
            <a:ext cx="2184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数据采集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63600" y="2209800"/>
            <a:ext cx="21844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年鉴统计、气象再分析、遥感产品与灾害公报</a:t>
            </a:r>
            <a:endParaRPr lang="zh-CN" altLang="en-US"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441700" y="1422400"/>
            <a:ext cx="2540000" cy="14224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619500" y="1574800"/>
            <a:ext cx="21844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00" b="1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100" b="1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619500" y="1854200"/>
            <a:ext cx="2184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时空对齐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619500" y="2209800"/>
            <a:ext cx="21844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统一到省份</a:t>
            </a:r>
            <a:r>
              <a:rPr lang="en-US" altLang="zh-CN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年度口径，逐字段记录口径障碍</a:t>
            </a:r>
            <a:endParaRPr lang="zh-CN" altLang="en-US"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197600" y="1422400"/>
            <a:ext cx="2540000" cy="14224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375400" y="1574800"/>
            <a:ext cx="21844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00" b="1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100" b="1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75400" y="1854200"/>
            <a:ext cx="2184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耕地加权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375400" y="2209800"/>
            <a:ext cx="21844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栅格按耕地像元加权聚合，剔除非耕地信号</a:t>
            </a:r>
            <a:endParaRPr lang="zh-CN" altLang="en-US"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953500" y="1422400"/>
            <a:ext cx="2540000" cy="14224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9131300" y="1574800"/>
            <a:ext cx="21844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00" b="1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sz="1100" b="1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131300" y="1854200"/>
            <a:ext cx="2184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特征工程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131300" y="2209800"/>
            <a:ext cx="21844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按农学因果链条组织</a:t>
            </a:r>
            <a:r>
              <a:rPr lang="en-US" altLang="zh-CN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11 </a:t>
            </a:r>
            <a:r>
              <a:rPr lang="zh-CN" alt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维特征，插值与标准化</a:t>
            </a:r>
            <a:endParaRPr lang="zh-CN" altLang="en-US"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85800" y="3022600"/>
            <a:ext cx="2540000" cy="14224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63600" y="3175000"/>
            <a:ext cx="21844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00" b="1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altLang="en-US" sz="1100" b="1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63600" y="3454400"/>
            <a:ext cx="2184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三模型训练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63600" y="3810000"/>
            <a:ext cx="21844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XGBoost</a:t>
            </a:r>
            <a:r>
              <a:rPr lang="zh-CN" alt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LSTM </a:t>
            </a:r>
            <a:r>
              <a:rPr lang="zh-CN" alt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基线、</a:t>
            </a:r>
            <a:r>
              <a:rPr lang="en-US" altLang="zh-CN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Attention-LSTM </a:t>
            </a:r>
            <a:r>
              <a:rPr lang="zh-CN" alt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并行</a:t>
            </a:r>
            <a:endParaRPr lang="zh-CN" altLang="en-US"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441700" y="3022600"/>
            <a:ext cx="2540000" cy="14224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3619500" y="3175000"/>
            <a:ext cx="21844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00" b="1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en-US" altLang="en-US" sz="1100" b="1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619500" y="3454400"/>
            <a:ext cx="2184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双视角归因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619500" y="3810000"/>
            <a:ext cx="21844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SHAP </a:t>
            </a:r>
            <a:r>
              <a:rPr lang="zh-CN" alt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边际贡献与注意力门控偏好对照</a:t>
            </a:r>
            <a:endParaRPr lang="zh-CN" altLang="en-US"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197600" y="3022600"/>
            <a:ext cx="2540000" cy="14224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6375400" y="3175000"/>
            <a:ext cx="21844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00" b="1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lang="en-US" altLang="en-US" sz="1100" b="1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375400" y="3454400"/>
            <a:ext cx="2184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方差分解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375400" y="3810000"/>
            <a:ext cx="21844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分离省份固有差异与因子边际效应</a:t>
            </a:r>
            <a:endParaRPr lang="zh-CN" altLang="en-US"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953500" y="3022600"/>
            <a:ext cx="2540000" cy="14224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9131300" y="3175000"/>
            <a:ext cx="21844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00" b="1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  <a:endParaRPr lang="en-US" altLang="en-US" sz="1100" b="1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131300" y="3454400"/>
            <a:ext cx="2184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系统交付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131300" y="3810000"/>
            <a:ext cx="21844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 </a:t>
            </a:r>
            <a:r>
              <a:rPr lang="zh-CN" alt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封装与</a:t>
            </a:r>
            <a:r>
              <a:rPr lang="en-US" altLang="zh-CN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7 </a:t>
            </a:r>
            <a:r>
              <a:rPr lang="zh-CN" alt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模块前端，秒级响应</a:t>
            </a:r>
            <a:endParaRPr lang="zh-CN" altLang="en-US"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85800" y="4724400"/>
            <a:ext cx="10820400" cy="13208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685800" y="4724400"/>
            <a:ext cx="63500" cy="1320800"/>
          </a:xfrm>
          <a:prstGeom prst="rect">
            <a:avLst/>
          </a:prstGeom>
          <a:solidFill>
            <a:srgbClr val="7FB0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990600" y="4902200"/>
            <a:ext cx="102870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一条完整的验证轨迹</a:t>
            </a:r>
            <a:endParaRPr lang="zh-CN" altLang="en-US" sz="115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990600" y="5181600"/>
            <a:ext cx="102870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4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省级面板</a:t>
            </a:r>
            <a:r>
              <a:rPr lang="en-US" altLang="zh-CN" sz="14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403 </a:t>
            </a:r>
            <a:r>
              <a:rPr lang="zh-CN" altLang="en-US" sz="14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条样本，随机</a:t>
            </a:r>
            <a:r>
              <a:rPr lang="en-US" altLang="zh-CN" sz="14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8:2 </a:t>
            </a:r>
            <a:r>
              <a:rPr lang="zh-CN" altLang="en-US" sz="14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十组种子</a:t>
            </a:r>
            <a:endParaRPr lang="zh-CN" altLang="en-US" sz="14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90600" y="5537200"/>
            <a:ext cx="102870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XGBoost R² = 0.907 </a:t>
            </a:r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±</a:t>
            </a:r>
            <a:r>
              <a:rPr lang="en-US" altLang="zh-CN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0.038</a:t>
            </a:r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；留一省中位</a:t>
            </a:r>
            <a:r>
              <a:rPr lang="en-US" altLang="zh-CN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R² = −16.83 </a:t>
            </a:r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与植被指数消融</a:t>
            </a:r>
            <a:r>
              <a:rPr lang="en-US" altLang="zh-CN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ΔR² = 0.003 </a:t>
            </a:r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两项负结果同步披露，系统据此把能力限定为区域内相对风险与情景推演。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数据底座：四个空间尺度的面板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1473200"/>
          <a:ext cx="10820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6895"/>
                <a:gridCol w="3678935"/>
                <a:gridCol w="4544567"/>
              </a:tblGrid>
              <a:tr h="45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数据集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规模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主要内容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省级多模态面板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31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省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×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13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年，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403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条样本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×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11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维特征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气象、致灾统计、遥感植被与地表温度、灌溉化肥机械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城市级生产面板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个主产省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×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148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个地级市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×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13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市级产量、气象、耕地比例与生产条件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县级建模面板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1041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县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×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11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年，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10407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条记录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×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14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特征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县域气象、遥感与生产投入，用于留一县验证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县级社会经济面板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2725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县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×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23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年，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62676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条记录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×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82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字段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播种面积、耕地面积、粮食产量、机械动力、县级经纬度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空间与遥感数据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全国省、市、县行政边界，省级月度植被与地表温度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栅格聚合与空间匹配的基础数据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85800" y="4495800"/>
            <a:ext cx="10820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从省级到县级的三级验证，使「空间单元粒度如何影响外推能力」可以被直接检验。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三模型互补：不追求结论一致，而是互为对照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85800" y="1422400"/>
            <a:ext cx="3403600" cy="21336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14400" y="1625600"/>
            <a:ext cx="29464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XGBoost </a:t>
            </a:r>
            <a:r>
              <a:rPr lang="zh-CN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SHAP</a:t>
            </a:r>
            <a:endParaRPr lang="en-US" altLang="zh-CN" sz="115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14400" y="1930400"/>
            <a:ext cx="2946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横截面边际贡献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14400" y="2387600"/>
            <a:ext cx="29464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去掉某因子后预测误差变化多少，量化各因子的边际信息量。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394200" y="1422400"/>
            <a:ext cx="3403600" cy="21336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622800" y="1625600"/>
            <a:ext cx="29464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LSTM </a:t>
            </a:r>
            <a:r>
              <a:rPr lang="zh-CN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基线</a:t>
            </a:r>
            <a:endParaRPr lang="zh-CN" altLang="en-US" sz="115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622800" y="1930400"/>
            <a:ext cx="2946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时序拟合参照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622800" y="2387600"/>
            <a:ext cx="29464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与注意力模型同源的对照基线，剥离结构调整带来的差异。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102600" y="1422400"/>
            <a:ext cx="3403600" cy="21336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331200" y="1625600"/>
            <a:ext cx="29464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Attention-LSTM</a:t>
            </a:r>
            <a:endParaRPr lang="en-US" altLang="en-US" sz="115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331200" y="1930400"/>
            <a:ext cx="2946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</a:t>
            </a:r>
            <a:r>
              <a:rPr lang="en-US" altLang="zh-CN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gating </a:t>
            </a:r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331200" y="2387600"/>
            <a:ext cx="29464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模型主动把权重分配给哪些因子，形成独立于</a:t>
            </a:r>
            <a:r>
              <a:rPr lang="en-US" altLang="zh-CN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SHAP </a:t>
            </a:r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的第二个视角。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85800" y="3759200"/>
            <a:ext cx="34036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914400" y="3937000"/>
            <a:ext cx="29464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00" b="1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第一步</a:t>
            </a:r>
            <a:endParaRPr lang="zh-CN" altLang="en-US" sz="1100" b="1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14400" y="4216400"/>
            <a:ext cx="2946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特征级门控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14400" y="4572000"/>
            <a:ext cx="2946400" cy="530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时间步退化为</a:t>
            </a:r>
            <a:r>
              <a:rPr lang="en-US" altLang="zh-CN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时，把时间注意力改造为特征注意力：</a:t>
            </a:r>
            <a:r>
              <a:rPr lang="en-US" altLang="zh-CN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 </a:t>
            </a:r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由特征得分经</a:t>
            </a:r>
            <a:r>
              <a:rPr lang="en-US" altLang="zh-CN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softmax </a:t>
            </a:r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归一化得到。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394200" y="3759200"/>
            <a:ext cx="34036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4622800" y="3937000"/>
            <a:ext cx="29464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00" b="1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第二步</a:t>
            </a:r>
            <a:endParaRPr lang="zh-CN" altLang="en-US" sz="1100" b="1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622800" y="4216400"/>
            <a:ext cx="2946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可对照性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622800" y="4572000"/>
            <a:ext cx="29464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 </a:t>
            </a:r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满足归一化约束，因此可直接与</a:t>
            </a:r>
            <a:r>
              <a:rPr lang="en-US" altLang="zh-CN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SHAP </a:t>
            </a:r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排名做</a:t>
            </a:r>
            <a:r>
              <a:rPr lang="en-US" altLang="zh-CN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Spearman </a:t>
            </a:r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等级相关对照。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8102600" y="3759200"/>
            <a:ext cx="34036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8331200" y="3937000"/>
            <a:ext cx="29464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00" b="1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第三步</a:t>
            </a:r>
            <a:endParaRPr lang="zh-CN" altLang="en-US" sz="1100" b="1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331200" y="4216400"/>
            <a:ext cx="2946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冲突处理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331200" y="4572000"/>
            <a:ext cx="29464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两套排序近零相关时并列进入加权排序，按各自权重竞争，而非相互否决。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结论为什么可信：双视角证据</a:t>
            </a:r>
            <a:r>
              <a:rPr lang="en-US" altLang="zh-CN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多协议校核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1473200"/>
          <a:ext cx="50800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94000"/>
              </a:tblGrid>
              <a:tr h="4762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归因视角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排序前三位因子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</a:tr>
              <a:tr h="47625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XGBoost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SHAP</a:t>
                      </a:r>
                      <a:endParaRPr lang="en-US" altLang="zh-CN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植被指数、降水量、平均气温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注意力时序模型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旱灾受灾面积、干旱指数、平均气温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</a:tr>
              <a:tr h="47625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两视角重合度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仅平均气温一项，秩相关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−0.055</a:t>
                      </a:r>
                      <a:endParaRPr lang="en-US" altLang="zh-CN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/>
        </p:nvGraphicFramePr>
        <p:xfrm>
          <a:off x="6096000" y="1473200"/>
          <a:ext cx="5410200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6895"/>
                <a:gridCol w="2813304"/>
              </a:tblGrid>
              <a:tr h="482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验证协议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结果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</a:tr>
              <a:tr h="4826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随机划分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8:2</a:t>
                      </a:r>
                      <a:endParaRPr lang="en-US" altLang="zh-CN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R² = 0.907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0.038</a:t>
                      </a:r>
                      <a:endParaRPr lang="en-US" altLang="zh-CN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留一年验证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R² = 0.894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0.104</a:t>
                      </a:r>
                      <a:endParaRPr lang="en-US" altLang="zh-CN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</a:tr>
              <a:tr h="4826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留一省验证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中位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R² = −16.83</a:t>
                      </a:r>
                      <a:endParaRPr lang="en-US" altLang="zh-CN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县域留一县验证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R² = 0.660</a:t>
                      </a:r>
                      <a:endParaRPr lang="en-US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685800" y="3606800"/>
            <a:ext cx="5080000" cy="19050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89000" y="3784600"/>
            <a:ext cx="46736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双视角互补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9000" y="4165600"/>
            <a:ext cx="46736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两条路线的因子排序并不重合，平台将其作为互补证据交叉印证方向性结论，并在冲突时按权重竞争处理。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096000" y="4064000"/>
            <a:ext cx="5410200" cy="14478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299200" y="4241800"/>
            <a:ext cx="50038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能力边界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299200" y="4622800"/>
            <a:ext cx="50038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省级截面样本不支持跨省外推，平台据此只提供区域内相对风险与情景推演，不承诺产量绝对值的预测。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5800" y="5689600"/>
            <a:ext cx="108204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数据来源：平台系统总览与模型验证记录，口径与佐证材料一致。</a:t>
            </a:r>
            <a:endParaRPr lang="zh-CN" altLang="en-US" sz="105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结论是怎么被校核的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1473200"/>
          <a:ext cx="10820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079"/>
                <a:gridCol w="2596895"/>
                <a:gridCol w="3246120"/>
                <a:gridCol w="2813304"/>
              </a:tblGrid>
              <a:tr h="45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校核项目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方法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结果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含义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三协议交叉验证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随机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8:2 /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留一年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/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留一省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0.907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0.038 / 0.894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0.104 /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中位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−16.83</a:t>
                      </a:r>
                      <a:endParaRPr lang="en-US" altLang="zh-CN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区分省内识别能力与跨省外推能力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植被指数消融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从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11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维特征中移除该特征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R²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由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0.907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降至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0.904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ΔR² = 0.003</a:t>
                      </a:r>
                      <a:endParaRPr lang="en-US" altLang="zh-CN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修正「植被指数是核心因子」的直觉判断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混合效应方差分解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 = α_i + βX + ε</a:t>
                      </a:r>
                      <a:endParaRPr lang="en-US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ICC = 0.9710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95% CI [0.9496, 0.9805]</a:t>
                      </a:r>
                      <a:endParaRPr lang="en-US" altLang="zh-CN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97%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方差来自省份固有差异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似然比检验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混合效应模型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vs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混合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OLS</a:t>
                      </a:r>
                      <a:endParaRPr lang="en-US" altLang="zh-CN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LR = 741.59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远小于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0.001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省份基线不可忽略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真值单点校验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某主产省某年，实际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4615 kg/ha</a:t>
                      </a:r>
                      <a:endParaRPr lang="en-US" altLang="zh-CN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偏差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−227.5 / −441.6 / +42.6</a:t>
                      </a:r>
                      <a:endParaRPr lang="en-US" altLang="zh-CN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三模型偏差均在数百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kg/ha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量级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85800" y="4495800"/>
            <a:ext cx="10820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负结果与高分并列披露，是这套结论能够被复核的前提。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归因结果：全局因子边际贡献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 descr="shap_importan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1750" y="1371600"/>
            <a:ext cx="7048500" cy="47244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85800" y="6223000"/>
            <a:ext cx="108204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</a:t>
            </a:r>
            <a:r>
              <a:rPr lang="en-US" altLang="zh-CN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XGBoost-SHAP </a:t>
            </a:r>
            <a:r>
              <a:rPr lang="zh-CN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的全局因子重要性排序，与注意力视角的排序并不重合</a:t>
            </a:r>
            <a:endParaRPr lang="zh-CN" altLang="en-US" sz="115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风险结论的空间分布与历史演化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 descr="M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1750" y="1371600"/>
            <a:ext cx="7048500" cy="47244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85800" y="6223000"/>
            <a:ext cx="108204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31 </a:t>
            </a:r>
            <a:r>
              <a:rPr lang="zh-CN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</a:t>
            </a:r>
            <a:r>
              <a:rPr lang="en-US" altLang="zh-CN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13 </a:t>
            </a:r>
            <a:r>
              <a:rPr lang="zh-CN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年风险等级时间轴，支持按年份拖动查看区域相对风险排序</a:t>
            </a:r>
            <a:endParaRPr lang="zh-CN" altLang="en-US" sz="115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情景推演：不调整实际生产也能比较方案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 descr="M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1750" y="1371600"/>
            <a:ext cx="7048500" cy="47244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85800" y="6223000"/>
            <a:ext cx="108204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调整灌溉率、化肥投入与降水参数，实时返回单产风险的变化方向与量级</a:t>
            </a:r>
            <a:endParaRPr lang="zh-CN" altLang="en-US" sz="115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关键实测指标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1473200"/>
          <a:ext cx="10820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4567"/>
                <a:gridCol w="6275832"/>
              </a:tblGrid>
              <a:tr h="45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指标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实测值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主报告协议精度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R² = 0.907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0.038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种子），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RMSE = 312.5 kg/ha</a:t>
                      </a:r>
                      <a:endParaRPr lang="en-US" altLang="zh-CN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时间外推表现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R² = 0.894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0.104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leave-year-out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空间外推表现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中位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R² = −16.83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leave-province-out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31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省仅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1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省为正）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空间单元下沉表现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县级合并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R² = 0.660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leave-county-out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方差分解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ICC = 0.9710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95% CI [0.9496, 0.9805]</a:t>
                      </a:r>
                      <a:endParaRPr lang="en-US" altLang="zh-CN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系统响应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单次推理秒级完成，普通云主机部署，无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GPU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依赖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工程质量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自动化测试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27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个用例；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项安全响应头与请求分级限流；满足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WCAG 2.2 AA</a:t>
                      </a:r>
                      <a:endParaRPr lang="en-US" altLang="zh-CN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能力边界与合规口径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85800" y="1473200"/>
            <a:ext cx="5257800" cy="20320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14400" y="1676400"/>
            <a:ext cx="48006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模型边界</a:t>
            </a:r>
            <a:endParaRPr lang="zh-CN" altLang="en-US" sz="115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14400" y="1981200"/>
            <a:ext cx="48006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不做跨省产量外推</a:t>
            </a:r>
            <a:endParaRPr lang="zh-CN" altLang="en-US" sz="1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14400" y="2413000"/>
            <a:ext cx="48006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留一省验证中位</a:t>
            </a:r>
            <a:r>
              <a:rPr lang="en-US" altLang="zh-CN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R² </a:t>
            </a:r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lang="en-US" altLang="zh-CN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−16.83</a:t>
            </a:r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，系统只输出区域内相对风险与情景推演。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248400" y="1473200"/>
            <a:ext cx="5257800" cy="20320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477000" y="1676400"/>
            <a:ext cx="48006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表达边界</a:t>
            </a:r>
            <a:endParaRPr lang="zh-CN" altLang="en-US" sz="115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477000" y="1981200"/>
            <a:ext cx="48006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不承诺产量绝对值</a:t>
            </a:r>
            <a:endParaRPr lang="zh-CN" altLang="en-US" sz="1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477000" y="2413000"/>
            <a:ext cx="48006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单点校验偏差在数百</a:t>
            </a:r>
            <a:r>
              <a:rPr lang="en-US" altLang="zh-CN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kg/ha </a:t>
            </a:r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量级，对外以风险等级与相对排序表达。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85800" y="3733800"/>
            <a:ext cx="5257800" cy="20320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14400" y="3937000"/>
            <a:ext cx="48006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数据合规</a:t>
            </a:r>
            <a:endParaRPr lang="zh-CN" altLang="en-US" sz="115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14400" y="4241800"/>
            <a:ext cx="48006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来源与授权可追溯</a:t>
            </a:r>
            <a:endParaRPr lang="zh-CN" altLang="en-US" sz="1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14400" y="4673600"/>
            <a:ext cx="48006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所有数据集登记来源机构、授权方式与适用范围，公开数据仅在授权范围内使用并标注来源。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248400" y="3733800"/>
            <a:ext cx="5257800" cy="20320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6477000" y="3937000"/>
            <a:ext cx="48006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复现留痕</a:t>
            </a:r>
            <a:endParaRPr lang="zh-CN" altLang="en-US" sz="115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477000" y="4241800"/>
            <a:ext cx="48006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超参与随机种子全留档</a:t>
            </a:r>
            <a:endParaRPr lang="zh-CN" altLang="en-US" sz="1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477000" y="4673600"/>
            <a:ext cx="48006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三模型均保留模型卡与种子记录，结论可被独立复现与复核。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14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应用价值与推广路径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85800" y="1422400"/>
            <a:ext cx="3403600" cy="21336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14400" y="1625600"/>
            <a:ext cx="29464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农业管理部门</a:t>
            </a:r>
            <a:endParaRPr lang="zh-CN" altLang="en-US" sz="115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14400" y="1930400"/>
            <a:ext cx="2946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资源投放次序的依据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14400" y="2387600"/>
            <a:ext cx="29464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区域风险分布与归因结果支撑防灾减灾资源优先投向哪里。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394200" y="1422400"/>
            <a:ext cx="3403600" cy="21336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622800" y="1625600"/>
            <a:ext cx="29464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农业保险基层机构</a:t>
            </a:r>
            <a:endParaRPr lang="zh-CN" altLang="en-US" sz="115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622800" y="1930400"/>
            <a:ext cx="2946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可核查的风险归因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622800" y="2387600"/>
            <a:ext cx="29464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分省归因结论可作为差异化产品设计与费率复核的参考。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102600" y="1422400"/>
            <a:ext cx="3403600" cy="21336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331200" y="1625600"/>
            <a:ext cx="29464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科研与教学场景</a:t>
            </a:r>
            <a:endParaRPr lang="zh-CN" altLang="en-US" sz="115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331200" y="1930400"/>
            <a:ext cx="2946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可复用的数据与方法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331200" y="2387600"/>
            <a:ext cx="29464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数据口径文档与模型卡齐备，可直接用于实训与后续研究。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85800" y="3759200"/>
            <a:ext cx="34036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914400" y="3937000"/>
            <a:ext cx="29464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00" b="1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第一步</a:t>
            </a:r>
            <a:endParaRPr lang="zh-CN" altLang="en-US" sz="1100" b="1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14400" y="4216400"/>
            <a:ext cx="2946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小范围试点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14400" y="4572000"/>
            <a:ext cx="29464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1—2 </a:t>
            </a:r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个主产省形成可展示的应用案例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394200" y="3759200"/>
            <a:ext cx="34036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4622800" y="3937000"/>
            <a:ext cx="29464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00" b="1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第二步</a:t>
            </a:r>
            <a:endParaRPr lang="zh-CN" altLang="en-US" sz="1100" b="1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622800" y="4216400"/>
            <a:ext cx="2946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轻量化推广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622800" y="4572000"/>
            <a:ext cx="29464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坚持无</a:t>
            </a:r>
            <a:r>
              <a:rPr lang="en-US" altLang="zh-CN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GPU </a:t>
            </a:r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单体部署，降低基层落地门槛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8102600" y="3759200"/>
            <a:ext cx="34036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8331200" y="3937000"/>
            <a:ext cx="29464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00" b="1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第三步</a:t>
            </a:r>
            <a:endParaRPr lang="zh-CN" altLang="en-US" sz="1100" b="1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331200" y="4216400"/>
            <a:ext cx="2946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接口与数据开放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331200" y="4572000"/>
            <a:ext cx="29464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开放数据集说明与接口，吸引同类研究复用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15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3559</Words>
  <Application>WPS 演示</Application>
  <PresentationFormat>宽屏</PresentationFormat>
  <Paragraphs>456</Paragraphs>
  <Slides>15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Arial Unicode MS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cyx67</dc:creator>
  <cp:lastModifiedBy>WPS_1672104470</cp:lastModifiedBy>
  <cp:revision>157</cp:revision>
  <dcterms:created xsi:type="dcterms:W3CDTF">2019-06-19T02:08:00Z</dcterms:created>
  <dcterms:modified xsi:type="dcterms:W3CDTF">2026-10-14T08:39:19Z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11022CA537FC4CAF8728FD68B477AA28_11</vt:lpwstr>
  </property>
</Properties>
</file>
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19200" y="1676400"/>
            <a:ext cx="97536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</a:rPr>
              <a:t>第八届全球校园人工智能算法精英大赛　赛题五</a:t>
            </a:r>
            <a:endParaRPr lang="zh-CN" altLang="en-US" sz="1500">
              <a:solidFill>
                <a:srgbClr val="A8C4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9200" y="2184400"/>
            <a:ext cx="9753600" cy="13538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</a:t>
            </a:r>
            <a:r>
              <a:rPr lang="en-US" altLang="zh-CN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农业智能体</a:t>
            </a:r>
            <a:r>
              <a:rPr lang="en-US" altLang="zh-CN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决策服务平台</a:t>
            </a:r>
            <a:endParaRPr lang="zh-CN" altLang="en-US"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19200" y="4013200"/>
            <a:ext cx="1270000" cy="63500"/>
          </a:xfrm>
          <a:prstGeom prst="rect">
            <a:avLst/>
          </a:prstGeom>
          <a:solidFill>
            <a:srgbClr val="7FB0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19200" y="4318000"/>
            <a:ext cx="88900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DCE7E1"/>
                </a:solidFill>
                <a:latin typeface="微软雅黑" panose="020B0503020204020204" charset="-122"/>
                <a:ea typeface="微软雅黑" panose="020B0503020204020204" charset="-122"/>
              </a:rPr>
              <a:t>以大语言模型为决策中枢，融合知识图谱与检索增强生成，为农业生产、管理与服务提供可执行的方案。</a:t>
            </a:r>
            <a:endParaRPr lang="zh-CN" altLang="en-US" sz="1700">
              <a:solidFill>
                <a:srgbClr val="DCE7E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19200" y="5740400"/>
            <a:ext cx="6350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答辩材料　</a:t>
            </a:r>
            <a:r>
              <a:rPr lang="en-US" altLang="zh-CN" sz="14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</a:t>
            </a:r>
            <a:r>
              <a:rPr lang="zh-CN" altLang="en-US" sz="14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4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14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1400">
              <a:solidFill>
                <a:srgbClr val="A8C4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基层农业从业者的三个困境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98600"/>
            <a:ext cx="3403600" cy="2667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4400" y="1752600"/>
            <a:ext cx="29464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2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2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400" y="2082800"/>
            <a:ext cx="29464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知识分散</a:t>
            </a:r>
            <a:endParaRPr lang="zh-CN" altLang="en-US" sz="17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4400" y="2565400"/>
            <a:ext cx="2946400" cy="576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农技规程、病虫情报与地方技术意见分散在不同机构与渠道，基层获取完整信息的成本很高。</a:t>
            </a:r>
            <a:endParaRPr lang="zh-CN" altLang="en-US" sz="12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94200" y="1498600"/>
            <a:ext cx="3403600" cy="2667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622800" y="1752600"/>
            <a:ext cx="29464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2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2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22800" y="2082800"/>
            <a:ext cx="29464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建议与本地条件脱节</a:t>
            </a:r>
            <a:endParaRPr lang="zh-CN" altLang="en-US" sz="17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22800" y="2565400"/>
            <a:ext cx="29464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权威条文很少结合本地气象、土壤状况和当季生产进度，通用建议难以直接采用。</a:t>
            </a:r>
            <a:endParaRPr lang="zh-CN" altLang="en-US" sz="12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02600" y="1498600"/>
            <a:ext cx="3403600" cy="2667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331200" y="1752600"/>
            <a:ext cx="29464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2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2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31200" y="2082800"/>
            <a:ext cx="29464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答案无法执行</a:t>
            </a:r>
            <a:endParaRPr lang="zh-CN" altLang="en-US" sz="17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31200" y="2565400"/>
            <a:ext cx="29464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现有农业问答多停留在概念解释，给不出明确的时间节点、用量与操作步骤。</a:t>
            </a:r>
            <a:endParaRPr lang="zh-CN" altLang="en-US" sz="12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5800" y="4724400"/>
            <a:ext cx="108204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结果是一个常见矛盾：知识查得到，但用不上。</a:t>
            </a:r>
            <a:endParaRPr lang="zh-CN" altLang="en-US" sz="17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赛题考核项与我们的设计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1082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79"/>
                <a:gridCol w="3462528"/>
                <a:gridCol w="5193791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赛题考核项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我们的设计目标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实现方式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回答专业性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每条建议都有可核查的依据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农技知识库检索增强生成，逐条标注依据类型与出处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方案可操作性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落到时间、对象、用量与注意事项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结构化方案模板，结合生育期日历与投入品登记信息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交互自然流畅度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支持口语化多轮问答，缺失信息主动追问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槽位补全策略，流式输出，结构化卡片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知识检索准确性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检索结果可评测、可追溯、可随知识更新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稠密与关键词混合检索，交叉编码重排，元数据与时效过滤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5800" y="4038600"/>
            <a:ext cx="10820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四项考核对应四条设计原则：依据可查、步骤可执行、问答可追问、结论可追溯。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系统总体架构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224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3600" y="1625600"/>
            <a:ext cx="10464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交互层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銆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€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自然语言问答　农情数据上传　方案卡片　文档导出　可视化联动</a:t>
            </a:r>
            <a:endParaRPr lang="zh-CN" altLang="en-US" sz="13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22098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63600" y="2413000"/>
            <a:ext cx="10464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智能体层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銆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€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意图识别与任务规划　工具调用编排　多轮槽位补全　会话记忆　证据校验</a:t>
            </a:r>
            <a:endParaRPr lang="zh-CN" altLang="en-US" sz="13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5800" y="29972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63600" y="3200400"/>
            <a:ext cx="10464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工具层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銆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€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区域风险查询　因子归因解释　情景模拟　韧性路径推荐　水肥处方计算　病虫害诊断　气象与物候查询　知识检索</a:t>
            </a:r>
            <a:endParaRPr lang="zh-CN" altLang="en-US" sz="13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5800" y="37846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63600" y="3987800"/>
            <a:ext cx="10464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知识层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銆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€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农技知识库　向量与关键词混合检索　重排　农业知识图谱　引用溯源与时效加权</a:t>
            </a:r>
            <a:endParaRPr lang="zh-CN" altLang="en-US" sz="13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5800" y="45720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63600" y="4775200"/>
            <a:ext cx="10464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数据层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銆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€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省级多模态面板（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13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年）　县级生产面板（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2725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县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23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年）　遥感气象与空间数据　模型训练产物</a:t>
            </a:r>
            <a:endParaRPr lang="zh-CN" altLang="en-US" sz="13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5800" y="5486400"/>
            <a:ext cx="10820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各层通过统一接口解耦，模型与知识可以独立迭代，不影响交互体验。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智能体如何处理一个提问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3600" y="15748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3600" y="18542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意图识别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3600" y="22098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判断属于风险查询、措施咨询、诊断或规划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417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619500" y="15748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19500" y="18542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槽位检查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19500" y="2209800"/>
            <a:ext cx="21844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核对作物、区域、生育期与地块条件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976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375400" y="15748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0" y="18542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主动追问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75400" y="22098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缺少关键信息时先问清楚，不猜测作答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9535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131300" y="15748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31300" y="18542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任务规划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31300" y="2209800"/>
            <a:ext cx="21844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把问题拆成可并行执行的子任务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858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63600" y="31750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3600" y="34544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工具调用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63600" y="38100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调用模型、规则、知识检索与气象工具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4417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619500" y="31750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619500" y="34544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证据校验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619500" y="38100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汇总结果，识别冲突与缺失并降级处理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1976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375400" y="31750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375400" y="34544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方案生成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375400" y="3810000"/>
            <a:ext cx="21844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按模板生成结构化建议并标注依据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9535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9131300" y="31750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131300" y="34544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溯源输出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131300" y="3810000"/>
            <a:ext cx="21844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给出引用来源，支持导出与继续追问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85800" y="4724400"/>
            <a:ext cx="10820400" cy="13208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685800" y="4724400"/>
            <a:ext cx="63500" cy="1320800"/>
          </a:xfrm>
          <a:prstGeom prst="rect">
            <a:avLst/>
          </a:prstGeom>
          <a:solidFill>
            <a:srgbClr val="7FB0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990600" y="4902200"/>
            <a:ext cx="102870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一次实际问答的轨迹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90600" y="5181600"/>
            <a:ext cx="10287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用户提问：河南周口冬小麦返青期偏旱，今年要不要追肥</a:t>
            </a:r>
            <a:endParaRPr lang="zh-CN" altLang="en-US" sz="14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90600" y="5537200"/>
            <a:ext cx="102870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槽位齐全，调用区域风险查询、水肥处方计算与知识检索；输出分次用量、施用时间与注意事项，并标注每条建议的依据来源。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智能体可调用的九项工具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10820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304"/>
                <a:gridCol w="6059423"/>
                <a:gridCol w="1947672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作用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状态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区域风险查询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按省份与年份返回风险等级与区域排序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已实装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因子归因解释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返回各因子对风险的贡献度与作用方向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已实装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参数情景模拟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调整灌溉、化肥与降水参数后的反事实推演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已实装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韧性路径推荐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按短板因子输出分阶段措施与优先级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已实装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知识检索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从农技知识库召回条文并给出出处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已实装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图谱关系检索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按实体展开多跳关系与社区摘要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已实装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水肥处方计算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按作物与生育期给出分次用量与施用方式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本期建设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病虫害诊断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由症状或照片给出疑似对象与防治适期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本期建设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气象与物候查询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返回预报要素、积温与生育期推断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本期建设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知识底座：检索与关系推理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22400"/>
            <a:ext cx="5207000" cy="2235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9000" y="1600200"/>
            <a:ext cx="48006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检索链路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000" y="1981200"/>
            <a:ext cx="4800600" cy="8458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稠密向量检索，捕捉语义相近的表达</a:t>
            </a:r>
            <a:b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关键词检索，保证术语精确匹配</a:t>
            </a:r>
            <a:b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倒数排名融合，合并两路召回结果</a:t>
            </a:r>
            <a:b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交叉编码重排，只保留高分片段进入生成</a:t>
            </a:r>
            <a:b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</a:t>
            </a:r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引用溯源，逐句标注出处与发布日期</a:t>
            </a:r>
            <a:endParaRPr lang="zh-CN" altLang="en-US" sz="11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5800" y="3810000"/>
            <a:ext cx="5207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9000" y="3987800"/>
            <a:ext cx="48006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检索质量保障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89000" y="4343400"/>
            <a:ext cx="4800600" cy="507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知识条目带作物、区域、生育期、来源机构与发布日期五类元数据，先过滤后排序；超过有效期的技术意见自动降权；检索内容不足时明确说明未收录，不生成结论。</a:t>
            </a:r>
            <a:endParaRPr lang="zh-CN" altLang="en-US" sz="11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99200" y="1422400"/>
            <a:ext cx="5207000" cy="2489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502400" y="1600200"/>
            <a:ext cx="48006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知识图谱本体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02400" y="1955800"/>
            <a:ext cx="48006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节点覆盖作物、生育期、气候胁迫、病虫害、农事措施、投入品、区域与标准规程八类。</a:t>
            </a:r>
            <a:endParaRPr lang="zh-CN" altLang="en-US" sz="11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02400" y="2514600"/>
            <a:ext cx="4800600" cy="8458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</a:t>
            </a:r>
            <a: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作物处于某一生育期</a:t>
            </a:r>
            <a:b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</a:t>
            </a:r>
            <a: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生育期易发特定胁迫或病虫害</a:t>
            </a:r>
            <a:b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</a:t>
            </a:r>
            <a: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胁迫与病虫害推荐对应农事措施</a:t>
            </a:r>
            <a:b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</a:t>
            </a:r>
            <a: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措施使用投入品并依据标准规程</a:t>
            </a:r>
            <a:b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</a:t>
            </a:r>
            <a:r>
              <a:rPr lang="en-US" altLang="zh-CN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区域约束措施的适用性与农时</a:t>
            </a:r>
            <a:endParaRPr lang="zh-CN" altLang="en-US" sz="11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99200" y="4064000"/>
            <a:ext cx="5207000" cy="1168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502400" y="4241800"/>
            <a:ext cx="48006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查询路由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02400" y="4597400"/>
            <a:ext cx="48006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综述型提问走社区摘要，具体实体提问沿关系路径多跳推理，条文查找直接返回相关片段。</a:t>
            </a:r>
            <a:endParaRPr lang="zh-CN" altLang="en-US" sz="11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5800" y="5689600"/>
            <a:ext cx="10820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两条通道各司其职：检索保证条文可溯源，图谱保证关系可推理。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建议为什么可信：决策引擎提供双视角证据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5080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94000"/>
              </a:tblGrid>
              <a:tr h="4762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归因视角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排序前三位因子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XGBoost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SHAP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植被指数、降水量、平均气温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注意力时序模型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旱灾受灾面积、干旱指数、平均气温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两视角重合度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仅平均气温一项，秩相关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−0.055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6096000" y="1473200"/>
          <a:ext cx="54102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895"/>
                <a:gridCol w="2813304"/>
              </a:tblGrid>
              <a:tr h="482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验证协议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结果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826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随机划分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8:2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R² = 0.907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0.038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留一年验证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R² = 0.894</a:t>
                      </a:r>
                      <a:endParaRPr lang="en-US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826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留一省验证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中位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R² = −16.83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县域留一县验证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R² = 0.660</a:t>
                      </a:r>
                      <a:endParaRPr lang="en-US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685800" y="3606800"/>
            <a:ext cx="5080000" cy="1905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" y="3784600"/>
            <a:ext cx="46736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双视角互补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9000" y="4165600"/>
            <a:ext cx="46736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两条路线的因子排序并不完全重合，平台将其作为互补证据交叉印证方向性结论，不主张一致性验证。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96000" y="4064000"/>
            <a:ext cx="5410200" cy="14478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299200" y="4241800"/>
            <a:ext cx="50038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能力边界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99200" y="4622800"/>
            <a:ext cx="50038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省级截面样本不支持跨省外推，平台据此只提供区域内相对风险与情景推演，不承诺产量绝对值的预测。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5800" y="5689600"/>
            <a:ext cx="108204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数据来源：平台系统总览与模型验证记录，口径与佐证材料一致。</a:t>
            </a:r>
            <a:endParaRPr lang="zh-CN" altLang="en-US" sz="10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四类产出物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1082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876"/>
                <a:gridCol w="2380488"/>
                <a:gridCol w="3462528"/>
                <a:gridCol w="2921507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产出类型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必要输入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结构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依据来源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农事管理方案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作物、区域、生育期、地块条件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生育期任务清单、时间节点、操作要点、风险提示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技术规程，区域风险归因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病虫害防治建议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作物、症状或照片、发生时期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疑似对象、诊断依据、防治适期、农业与化学防治措施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病虫情报，图谱关系，登记信息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水肥调控处方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作物、生育期、土壤条件、已施用量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分次用量、施用时间、施用方式、注意事项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测土配方资料，技术规程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生产规划报告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区域、规模、品种与目标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风险画像、品种与农时建议、投入安排、应对措施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区域风险归因，情景模拟，韧性路径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5800" y="4038600"/>
            <a:ext cx="10820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每类产出都有固定骨架，生成后逐条回填依据，可核查、可导出。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数据资产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10820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895"/>
                <a:gridCol w="3678935"/>
                <a:gridCol w="4544567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数据集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规模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主要内容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省级多模态面板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省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13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403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条样本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维特征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气象、致灾统计、遥感植被与地表温度、灌溉化肥机械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城市级生产面板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个主产省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148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个地级市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13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市级产量、气象、耕地比例与生产条件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县级建模面板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1041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县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10407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条记录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14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特征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县域气象、遥感与生产投入，用于留一县验证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县级社会经济面板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2725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县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23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62676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条记录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82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字段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播种面积、耕地面积、粮食产量、机械动力、县级经纬度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空间与遥感数据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全国省、市、县行政边界，省级月度植被与地表温度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栅格聚合与空间匹配的基础数据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5800" y="4495800"/>
            <a:ext cx="10820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县级社会经济面板由团队从公开统计资料中整理提取，为县域尺度服务提供样本支撑。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系统界面：从归因结论到具体措施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pathway_cro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0" y="1371600"/>
            <a:ext cx="7048500" cy="4724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5800" y="6223000"/>
            <a:ext cx="10820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每条措施同时给出短板因子、贡献方向、参考投入与预期改善幅度，并关联对应政策文件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评测方案：</a:t>
            </a:r>
            <a:r>
              <a:rPr lang="en-US" altLang="zh-CN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</a:t>
            </a:r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题四类问题，六项指标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10820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304"/>
                <a:gridCol w="4760976"/>
                <a:gridCol w="324612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定义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验收标准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检索命中率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标准依据出现在召回片段中的题目占比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不低于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85%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引用正确率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答案标注出处与实际使用片段一致的题目占比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不低于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95%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方案可操作性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农学背景评审按五分制打分，考察时间、用量与操作要点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平均不低于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4.0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无依据输出率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出现无法回溯到检索内容或模型输出的结论的题目占比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不高于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2%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边界拒答正确率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超出知识范围或模型边界时正确说明的题目占比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不低于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90%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响应时延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从提交问题到返回完整方案的时间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秒级完成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5800" y="4953000"/>
            <a:ext cx="10820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评测集按事实检索、归因解释、方案生成与边界拒答四类各</a:t>
            </a:r>
            <a:r>
              <a:rPr lang="en-US" altLang="zh-CN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 </a:t>
            </a:r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</a:t>
            </a:r>
            <a:r>
              <a:rPr lang="en-US" altLang="zh-CN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13 </a:t>
            </a:r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题，逐题标注标准答案要点与依据来源。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能力边界与合规要求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732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4400" y="16764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模型边界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400" y="1981200"/>
            <a:ext cx="4800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不做跨省产量外推</a:t>
            </a:r>
            <a:endParaRPr lang="zh-CN" altLang="en-US" sz="1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4400" y="2413000"/>
            <a:ext cx="48006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省级样本的留一省验证中位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R²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−16.83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，平台只输出区域内相对风险与情景推演。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48400" y="14732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477000" y="16764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农艺合规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77000" y="1981200"/>
            <a:ext cx="4800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用药建议严格受限</a:t>
            </a:r>
            <a:endParaRPr lang="zh-CN" altLang="en-US" sz="1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77000" y="2413000"/>
            <a:ext cx="48006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剂量只引用登记信息，同时给出安全间隔期与防护要求，并提示以当地植保机构意见为准。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5800" y="37338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14400" y="39370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知识时效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14400" y="4241800"/>
            <a:ext cx="4800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标注发布与失效</a:t>
            </a:r>
            <a:endParaRPr lang="zh-CN" altLang="en-US" sz="1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14400" y="4673600"/>
            <a:ext cx="48006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每条知识登记发布日期，超期内容在排序中降权，答案中显示依据的发布时间。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248400" y="37338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477000" y="39370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数据合规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77000" y="4241800"/>
            <a:ext cx="4800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来源与授权可追溯</a:t>
            </a:r>
            <a:endParaRPr lang="zh-CN" altLang="en-US" sz="1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477000" y="4673600"/>
            <a:ext cx="48006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所有数据与知识条目登记来源与授权信息，内部研发文档不进入对外知识库。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应用价值与推广路径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4400" y="16256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直接生产者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400" y="1930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按生育期排列的农事清单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4400" y="23876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口语提问即可获得措施、时间与用量，降低获取与理解成本。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942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622800" y="16256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推广机构与合作社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22800" y="1930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批量风险画像与措施建议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22800" y="23876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据此安排培训与现场指导的重点，把人力投向风险集中的环节。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026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331200" y="16256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区域管理者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31200" y="1930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可核查的量化决策依据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31200" y="23876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风险空间分布与情景模拟结果支撑防灾资源投放次序的讨论。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858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14400" y="3937000"/>
            <a:ext cx="2946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第一步</a:t>
            </a:r>
            <a:endParaRPr lang="zh-CN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4400" y="4216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小范围试点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4400" y="45720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在合作农技推广机构与合作社检验方案在真实生产条件下的可用性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3942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622800" y="3937000"/>
            <a:ext cx="2946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第二步</a:t>
            </a:r>
            <a:endParaRPr lang="zh-CN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622800" y="4216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多用户开放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22800" y="45720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以软件即服务形式开放使用，配套角色权限与使用统计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1026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331200" y="3937000"/>
            <a:ext cx="2946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第三步</a:t>
            </a:r>
            <a:endParaRPr lang="zh-CN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331200" y="4216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接口开放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331200" y="45720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开放数据与模型接口，供科研与教学场景复用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3390</Words>
  <Application>WPS 演示</Application>
  <PresentationFormat>宽屏</PresentationFormat>
  <Paragraphs>490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Arial Unicode MS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cyx67</dc:creator>
  <cp:lastModifiedBy>WPS_1672104470</cp:lastModifiedBy>
  <cp:revision>157</cp:revision>
  <dcterms:created xsi:type="dcterms:W3CDTF">2019-06-19T02:08:00Z</dcterms:created>
  <dcterms:modified xsi:type="dcterms:W3CDTF">2026-10-06T07:15:55Z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A9921FA6E46847C4B51B91C6CAC7AC41_11</vt:lpwstr>
  </property>
</Properties>
</file>
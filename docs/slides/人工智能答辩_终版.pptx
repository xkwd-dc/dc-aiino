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60" r:id="rId4"/>
    <p:sldId id="258" r:id="rId5"/>
    <p:sldId id="261" r:id="rId6"/>
    <p:sldId id="279" r:id="rId7"/>
    <p:sldId id="263" r:id="rId8"/>
    <p:sldId id="267" r:id="rId9"/>
    <p:sldId id="280" r:id="rId10"/>
    <p:sldId id="271" r:id="rId11"/>
    <p:sldId id="272" r:id="rId12"/>
    <p:sldId id="273" r:id="rId13"/>
    <p:sldId id="274" r:id="rId14"/>
    <p:sldId id="275" r:id="rId15"/>
    <p:sldId id="276" r:id="rId16"/>
    <p:sldId id="27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6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63" autoAdjust="0"/>
  </p:normalViewPr>
  <p:slideViewPr>
    <p:cSldViewPr snapToGrid="0" snapToObjects="1" showGuides="1">
      <p:cViewPr varScale="1">
        <p:scale>
          <a:sx n="77" d="100"/>
          <a:sy n="77" d="100"/>
        </p:scale>
        <p:origin x="883" y="67"/>
      </p:cViewPr>
      <p:guideLst>
        <p:guide orient="horz" pos="2266"/>
        <p:guide pos="29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9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9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9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9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9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40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914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4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5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5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5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9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70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7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7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7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75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76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7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7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7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8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8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8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8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8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8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8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4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4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4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8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89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9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9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9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9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91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6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6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6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6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8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914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5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915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915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slideLayout" Target="../slideLayouts/slideLayout7.xml"/><Relationship Id="rId17" Type="http://schemas.openxmlformats.org/officeDocument/2006/relationships/image" Target="../media/image1.png"/><Relationship Id="rId18" Type="http://schemas.openxmlformats.org/officeDocument/2006/relationships/image" Target="../media/image2.png"/><Relationship Id="rId19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tags" Target="../tags/tag18.xml"/><Relationship Id="rId4" Type="http://schemas.openxmlformats.org/officeDocument/2006/relationships/tags" Target="../tags/tag19.xml"/><Relationship Id="rId5" Type="http://schemas.openxmlformats.org/officeDocument/2006/relationships/tags" Target="../tags/tag20.xml"/><Relationship Id="rId6" Type="http://schemas.openxmlformats.org/officeDocument/2006/relationships/tags" Target="../tags/tag21.xml"/><Relationship Id="rId7" Type="http://schemas.openxmlformats.org/officeDocument/2006/relationships/tags" Target="../tags/tag22.xml"/><Relationship Id="rId8" Type="http://schemas.openxmlformats.org/officeDocument/2006/relationships/tags" Target="../tags/tag23.xml"/><Relationship Id="rId9" Type="http://schemas.openxmlformats.org/officeDocument/2006/relationships/tags" Target="../tags/tag24.xml"/><Relationship Id="rId10" Type="http://schemas.openxmlformats.org/officeDocument/2006/relationships/tags" Target="../tags/tag25.xml"/><Relationship Id="rId11" Type="http://schemas.openxmlformats.org/officeDocument/2006/relationships/tags" Target="../tags/tag26.xml"/><Relationship Id="rId12" Type="http://schemas.openxmlformats.org/officeDocument/2006/relationships/tags" Target="../tags/tag27.xml"/><Relationship Id="rId13" Type="http://schemas.openxmlformats.org/officeDocument/2006/relationships/tags" Target="../tags/tag28.xml"/><Relationship Id="rId14" Type="http://schemas.openxmlformats.org/officeDocument/2006/relationships/tags" Target="../tags/tag29.xml"/><Relationship Id="rId15" Type="http://schemas.openxmlformats.org/officeDocument/2006/relationships/tags" Target="../tags/tag30.xml"/><Relationship Id="rId16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tags" Target="../tags/tag33.xml"/><Relationship Id="rId4" Type="http://schemas.openxmlformats.org/officeDocument/2006/relationships/tags" Target="../tags/tag34.xml"/><Relationship Id="rId5" Type="http://schemas.openxmlformats.org/officeDocument/2006/relationships/tags" Target="../tags/tag35.xml"/><Relationship Id="rId6" Type="http://schemas.openxmlformats.org/officeDocument/2006/relationships/tags" Target="../tags/tag36.xml"/><Relationship Id="rId7" Type="http://schemas.openxmlformats.org/officeDocument/2006/relationships/tags" Target="../tags/tag37.xml"/><Relationship Id="rId8" Type="http://schemas.openxmlformats.org/officeDocument/2006/relationships/tags" Target="../tags/tag38.xml"/><Relationship Id="rId9" Type="http://schemas.openxmlformats.org/officeDocument/2006/relationships/tags" Target="../tags/tag39.xml"/><Relationship Id="rId10" Type="http://schemas.openxmlformats.org/officeDocument/2006/relationships/tags" Target="../tags/tag40.xml"/><Relationship Id="rId11" Type="http://schemas.openxmlformats.org/officeDocument/2006/relationships/tags" Target="../tags/tag41.xml"/><Relationship Id="rId12" Type="http://schemas.openxmlformats.org/officeDocument/2006/relationships/tags" Target="../tags/tag42.xml"/><Relationship Id="rId13" Type="http://schemas.openxmlformats.org/officeDocument/2006/relationships/tags" Target="../tags/tag43.xml"/><Relationship Id="rId14" Type="http://schemas.openxmlformats.org/officeDocument/2006/relationships/tags" Target="../tags/tag44.xml"/><Relationship Id="rId15" Type="http://schemas.openxmlformats.org/officeDocument/2006/relationships/tags" Target="../tags/tag45.xml"/><Relationship Id="rId16" Type="http://schemas.openxmlformats.org/officeDocument/2006/relationships/tags" Target="../tags/tag46.xml"/><Relationship Id="rId17" Type="http://schemas.openxmlformats.org/officeDocument/2006/relationships/tags" Target="../tags/tag47.xml"/><Relationship Id="rId18" Type="http://schemas.openxmlformats.org/officeDocument/2006/relationships/tags" Target="../tags/tag48.xml"/><Relationship Id="rId19" Type="http://schemas.openxmlformats.org/officeDocument/2006/relationships/tags" Target="../tags/tag49.xml"/><Relationship Id="rId20" Type="http://schemas.openxmlformats.org/officeDocument/2006/relationships/tags" Target="../tags/tag50.xml"/><Relationship Id="rId2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image" Target="../media/image8.jpeg"/><Relationship Id="rId5" Type="http://schemas.openxmlformats.org/officeDocument/2006/relationships/image" Target="../media/image9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Relationship Id="rId7" Type="http://schemas.openxmlformats.org/officeDocument/2006/relationships/tags" Target="../tags/tag57.xml"/><Relationship Id="rId8" Type="http://schemas.openxmlformats.org/officeDocument/2006/relationships/tags" Target="../tags/tag58.xml"/><Relationship Id="rId9" Type="http://schemas.openxmlformats.org/officeDocument/2006/relationships/tags" Target="../tags/tag59.xml"/><Relationship Id="rId10" Type="http://schemas.openxmlformats.org/officeDocument/2006/relationships/tags" Target="../tags/tag60.xml"/><Relationship Id="rId11" Type="http://schemas.openxmlformats.org/officeDocument/2006/relationships/tags" Target="../tags/tag61.xml"/><Relationship Id="rId12" Type="http://schemas.openxmlformats.org/officeDocument/2006/relationships/tags" Target="../tags/tag62.xml"/><Relationship Id="rId13" Type="http://schemas.openxmlformats.org/officeDocument/2006/relationships/tags" Target="../tags/tag63.xml"/><Relationship Id="rId14" Type="http://schemas.openxmlformats.org/officeDocument/2006/relationships/tags" Target="../tags/tag64.xml"/><Relationship Id="rId15" Type="http://schemas.openxmlformats.org/officeDocument/2006/relationships/tags" Target="../tags/tag65.xml"/><Relationship Id="rId16" Type="http://schemas.openxmlformats.org/officeDocument/2006/relationships/tags" Target="../tags/tag66.xml"/><Relationship Id="rId17" Type="http://schemas.openxmlformats.org/officeDocument/2006/relationships/tags" Target="../tags/tag67.xml"/><Relationship Id="rId18" Type="http://schemas.openxmlformats.org/officeDocument/2006/relationships/tags" Target="../tags/tag68.xml"/><Relationship Id="rId19" Type="http://schemas.openxmlformats.org/officeDocument/2006/relationships/tags" Target="../tags/tag69.xml"/><Relationship Id="rId20" Type="http://schemas.openxmlformats.org/officeDocument/2006/relationships/tags" Target="../tags/tag70.xml"/><Relationship Id="rId21" Type="http://schemas.openxmlformats.org/officeDocument/2006/relationships/tags" Target="../tags/tag71.xml"/><Relationship Id="rId22" Type="http://schemas.openxmlformats.org/officeDocument/2006/relationships/tags" Target="../tags/tag72.xml"/><Relationship Id="rId23" Type="http://schemas.openxmlformats.org/officeDocument/2006/relationships/tags" Target="../tags/tag73.xml"/><Relationship Id="rId24" Type="http://schemas.openxmlformats.org/officeDocument/2006/relationships/tags" Target="../tags/tag74.xml"/><Relationship Id="rId25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75.xml"/><Relationship Id="rId2" Type="http://schemas.openxmlformats.org/officeDocument/2006/relationships/tags" Target="../tags/tag76.xml"/><Relationship Id="rId3" Type="http://schemas.openxmlformats.org/officeDocument/2006/relationships/tags" Target="../tags/tag77.xml"/><Relationship Id="rId4" Type="http://schemas.openxmlformats.org/officeDocument/2006/relationships/tags" Target="../tags/tag78.xml"/><Relationship Id="rId5" Type="http://schemas.openxmlformats.org/officeDocument/2006/relationships/tags" Target="../tags/tag79.xml"/><Relationship Id="rId6" Type="http://schemas.openxmlformats.org/officeDocument/2006/relationships/tags" Target="../tags/tag80.xml"/><Relationship Id="rId7" Type="http://schemas.openxmlformats.org/officeDocument/2006/relationships/tags" Target="../tags/tag81.xml"/><Relationship Id="rId8" Type="http://schemas.openxmlformats.org/officeDocument/2006/relationships/tags" Target="../tags/tag82.xml"/><Relationship Id="rId9" Type="http://schemas.openxmlformats.org/officeDocument/2006/relationships/tags" Target="../tags/tag83.xml"/><Relationship Id="rId10" Type="http://schemas.openxmlformats.org/officeDocument/2006/relationships/tags" Target="../tags/tag84.xml"/><Relationship Id="rId11" Type="http://schemas.openxmlformats.org/officeDocument/2006/relationships/tags" Target="../tags/tag85.xml"/><Relationship Id="rId12" Type="http://schemas.openxmlformats.org/officeDocument/2006/relationships/tags" Target="../tags/tag86.xml"/><Relationship Id="rId13" Type="http://schemas.openxmlformats.org/officeDocument/2006/relationships/tags" Target="../tags/tag87.xml"/><Relationship Id="rId14" Type="http://schemas.openxmlformats.org/officeDocument/2006/relationships/tags" Target="../tags/tag88.xml"/><Relationship Id="rId15" Type="http://schemas.openxmlformats.org/officeDocument/2006/relationships/tags" Target="../tags/tag89.xml"/><Relationship Id="rId16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90.xml"/><Relationship Id="rId2" Type="http://schemas.openxmlformats.org/officeDocument/2006/relationships/tags" Target="../tags/tag91.xml"/><Relationship Id="rId3" Type="http://schemas.openxmlformats.org/officeDocument/2006/relationships/tags" Target="../tags/tag92.xml"/><Relationship Id="rId4" Type="http://schemas.openxmlformats.org/officeDocument/2006/relationships/tags" Target="../tags/tag93.xml"/><Relationship Id="rId5" Type="http://schemas.openxmlformats.org/officeDocument/2006/relationships/tags" Target="../tags/tag94.xml"/><Relationship Id="rId6" Type="http://schemas.openxmlformats.org/officeDocument/2006/relationships/tags" Target="../tags/tag95.xml"/><Relationship Id="rId7" Type="http://schemas.openxmlformats.org/officeDocument/2006/relationships/tags" Target="../tags/tag96.xml"/><Relationship Id="rId8" Type="http://schemas.openxmlformats.org/officeDocument/2006/relationships/tags" Target="../tags/tag97.xml"/><Relationship Id="rId9" Type="http://schemas.openxmlformats.org/officeDocument/2006/relationships/tags" Target="../tags/tag98.xml"/><Relationship Id="rId10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585" name="Rectangle 2"/>
          <p:cNvSpPr/>
          <p:nvPr/>
        </p:nvSpPr>
        <p:spPr>
          <a:xfrm>
            <a:off x="3840480" y="0"/>
            <a:ext cx="109728" cy="68580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586" name="TextBox 3"/>
          <p:cNvSpPr txBox="1"/>
          <p:nvPr/>
        </p:nvSpPr>
        <p:spPr>
          <a:xfrm>
            <a:off x="457200" y="457200"/>
            <a:ext cx="3200400" cy="277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CRAIC · 2026</a:t>
            </a:r>
          </a:p>
        </p:txBody>
      </p:sp>
      <p:sp>
        <p:nvSpPr>
          <p:cNvPr id="1048587" name="TextBox 4"/>
          <p:cNvSpPr txBox="1"/>
          <p:nvPr/>
        </p:nvSpPr>
        <p:spPr>
          <a:xfrm>
            <a:off x="457200" y="868680"/>
            <a:ext cx="3200400" cy="1381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第二十八届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中国机器人及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人工智能创新大赛</a:t>
            </a:r>
          </a:p>
        </p:txBody>
      </p:sp>
      <p:sp>
        <p:nvSpPr>
          <p:cNvPr id="1048588" name="TextBox 5"/>
          <p:cNvSpPr txBox="1"/>
          <p:nvPr/>
        </p:nvSpPr>
        <p:spPr>
          <a:xfrm>
            <a:off x="457200" y="3017520"/>
            <a:ext cx="3200400" cy="277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人工智能创新比赛</a:t>
            </a:r>
          </a:p>
        </p:txBody>
      </p:sp>
      <p:sp>
        <p:nvSpPr>
          <p:cNvPr id="1048589" name="TextBox 6"/>
          <p:cNvSpPr txBox="1"/>
          <p:nvPr/>
        </p:nvSpPr>
        <p:spPr>
          <a:xfrm>
            <a:off x="457200" y="4846320"/>
            <a:ext cx="3200400" cy="18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团队名称  TEAM</a:t>
            </a:r>
          </a:p>
        </p:txBody>
      </p:sp>
      <p:sp>
        <p:nvSpPr>
          <p:cNvPr id="1048590" name="TextBox 7"/>
          <p:cNvSpPr txBox="1"/>
          <p:nvPr/>
        </p:nvSpPr>
        <p:spPr>
          <a:xfrm>
            <a:off x="457200" y="51206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</a:t>
            </a:r>
          </a:p>
        </p:txBody>
      </p:sp>
      <p:sp>
        <p:nvSpPr>
          <p:cNvPr id="1048591" name="TextBox 8"/>
          <p:cNvSpPr txBox="1"/>
          <p:nvPr/>
        </p:nvSpPr>
        <p:spPr>
          <a:xfrm>
            <a:off x="457200" y="5719920"/>
            <a:ext cx="3200400" cy="233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潘妙齐 · 熊鑫 · 常宇璇</a:t>
            </a:r>
          </a:p>
        </p:txBody>
      </p:sp>
      <p:sp>
        <p:nvSpPr>
          <p:cNvPr id="1048593" name="TextBox 10"/>
          <p:cNvSpPr txBox="1"/>
          <p:nvPr/>
        </p:nvSpPr>
        <p:spPr>
          <a:xfrm>
            <a:off x="457200" y="6121001"/>
            <a:ext cx="3200400" cy="18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2026.05</a:t>
            </a:r>
          </a:p>
        </p:txBody>
      </p:sp>
      <p:sp>
        <p:nvSpPr>
          <p:cNvPr id="1048595" name="TextBox 12"/>
          <p:cNvSpPr txBox="1"/>
          <p:nvPr/>
        </p:nvSpPr>
        <p:spPr>
          <a:xfrm>
            <a:off x="4389120" y="1691640"/>
            <a:ext cx="7498079" cy="2160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基于多模态的</a:t>
            </a:r>
          </a:p>
          <a:p>
            <a:pPr algn="l">
              <a:lnSpc>
                <a:spcPct val="130000"/>
              </a:lnSpc>
            </a:pPr>
            <a:r>
              <a:rPr sz="3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极端气候下我国粮食生产风险的</a:t>
            </a:r>
          </a:p>
          <a:p>
            <a:pPr algn="l">
              <a:lnSpc>
                <a:spcPct val="130000"/>
              </a:lnSpc>
            </a:pPr>
            <a:r>
              <a:rPr sz="3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核心因子识别与韧性提升可视化系统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65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66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8669" name="TextBox 6"/>
          <p:cNvSpPr txBox="1"/>
          <p:nvPr/>
        </p:nvSpPr>
        <p:spPr>
          <a:xfrm>
            <a:off x="457200" y="557530"/>
            <a:ext cx="11247120" cy="565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sz="3200"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研究背景</a:t>
            </a:r>
          </a:p>
        </p:txBody>
      </p:sp>
      <p:sp>
        <p:nvSpPr>
          <p:cNvPr id="1048670" name="Rectangle 7"/>
          <p:cNvSpPr/>
          <p:nvPr/>
        </p:nvSpPr>
        <p:spPr>
          <a:xfrm>
            <a:off x="457200" y="1088771"/>
            <a:ext cx="1657350" cy="7899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72" name="Rectangle 9"/>
          <p:cNvSpPr/>
          <p:nvPr>
            <p:custDataLst>
              <p:tags r:id="rId1"/>
            </p:custDataLst>
          </p:nvPr>
        </p:nvSpPr>
        <p:spPr>
          <a:xfrm>
            <a:off x="548640" y="1430654"/>
            <a:ext cx="3566160" cy="4787265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73" name="Rectangle 10"/>
          <p:cNvSpPr/>
          <p:nvPr>
            <p:custDataLst>
              <p:tags r:id="rId2"/>
            </p:custDataLst>
          </p:nvPr>
        </p:nvSpPr>
        <p:spPr>
          <a:xfrm>
            <a:off x="548640" y="1430655"/>
            <a:ext cx="3566160" cy="73152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74" name="TextBox 11"/>
          <p:cNvSpPr txBox="1"/>
          <p:nvPr>
            <p:custDataLst>
              <p:tags r:id="rId3"/>
            </p:custDataLst>
          </p:nvPr>
        </p:nvSpPr>
        <p:spPr>
          <a:xfrm>
            <a:off x="822960" y="1647000"/>
            <a:ext cx="356616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政策牵引</a:t>
            </a:r>
          </a:p>
        </p:txBody>
      </p:sp>
      <p:sp>
        <p:nvSpPr>
          <p:cNvPr id="1048675" name="TextBox 12"/>
          <p:cNvSpPr txBox="1"/>
          <p:nvPr>
            <p:custDataLst>
              <p:tags r:id="rId4"/>
            </p:custDataLst>
          </p:nvPr>
        </p:nvSpPr>
        <p:spPr>
          <a:xfrm>
            <a:off x="669290" y="2436495"/>
            <a:ext cx="3262630" cy="1270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党的二十大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、「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十四五」规划纲要、历年中央一号文件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→ 「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夯实粮食安全根基,强化产能基础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」</a:t>
            </a:r>
            <a:endParaRPr sz="1400" dirty="0"/>
          </a:p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IPCC AR6: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气候变化加剧全球农业系统脆弱性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76" name="Rectangle 13"/>
          <p:cNvSpPr/>
          <p:nvPr>
            <p:custDataLst>
              <p:tags r:id="rId5"/>
            </p:custDataLst>
          </p:nvPr>
        </p:nvSpPr>
        <p:spPr>
          <a:xfrm>
            <a:off x="4343399" y="1430655"/>
            <a:ext cx="3611245" cy="4787264"/>
          </a:xfrm>
          <a:prstGeom prst="rect">
            <a:avLst/>
          </a:prstGeom>
          <a:solidFill>
            <a:srgbClr val="FC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77" name="Rectangle 14"/>
          <p:cNvSpPr/>
          <p:nvPr>
            <p:custDataLst>
              <p:tags r:id="rId6"/>
            </p:custDataLst>
          </p:nvPr>
        </p:nvSpPr>
        <p:spPr>
          <a:xfrm>
            <a:off x="4343400" y="1430655"/>
            <a:ext cx="3611244" cy="73152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78" name="TextBox 15"/>
          <p:cNvSpPr txBox="1"/>
          <p:nvPr>
            <p:custDataLst>
              <p:tags r:id="rId7"/>
            </p:custDataLst>
          </p:nvPr>
        </p:nvSpPr>
        <p:spPr>
          <a:xfrm>
            <a:off x="4617720" y="1647000"/>
            <a:ext cx="356616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现实痛点</a:t>
            </a:r>
            <a:endParaRPr sz="2000" b="1" dirty="0">
              <a:solidFill>
                <a:srgbClr val="FAFAF7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79" name="TextBox 16"/>
          <p:cNvSpPr txBox="1"/>
          <p:nvPr>
            <p:custDataLst>
              <p:tags r:id="rId8"/>
            </p:custDataLst>
          </p:nvPr>
        </p:nvSpPr>
        <p:spPr>
          <a:xfrm>
            <a:off x="4513580" y="2436495"/>
            <a:ext cx="3317240" cy="1270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2023 京津冀「23·7」极端暴雨</a:t>
            </a:r>
          </a:p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→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河北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 24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万公顷农田受灾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→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绝产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 13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万公顷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,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玉米损失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 22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万吨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endParaRPr sz="1400" dirty="0"/>
          </a:p>
          <a:p>
            <a:pPr algn="l">
              <a:lnSpc>
                <a:spcPct val="120000"/>
              </a:lnSpc>
            </a:pP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海河流域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 1963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年来首次流域性洪水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80" name="Rectangle 17"/>
          <p:cNvSpPr/>
          <p:nvPr>
            <p:custDataLst>
              <p:tags r:id="rId9"/>
            </p:custDataLst>
          </p:nvPr>
        </p:nvSpPr>
        <p:spPr>
          <a:xfrm>
            <a:off x="8183242" y="1430654"/>
            <a:ext cx="3521077" cy="4787263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48681" name="Rectangle 18"/>
          <p:cNvSpPr/>
          <p:nvPr>
            <p:custDataLst>
              <p:tags r:id="rId10"/>
            </p:custDataLst>
          </p:nvPr>
        </p:nvSpPr>
        <p:spPr>
          <a:xfrm>
            <a:off x="8183880" y="1430655"/>
            <a:ext cx="3520440" cy="73152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82" name="TextBox 19"/>
          <p:cNvSpPr txBox="1"/>
          <p:nvPr>
            <p:custDataLst>
              <p:tags r:id="rId11"/>
            </p:custDataLst>
          </p:nvPr>
        </p:nvSpPr>
        <p:spPr>
          <a:xfrm>
            <a:off x="8412480" y="1647000"/>
            <a:ext cx="356616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趋势加剧</a:t>
            </a:r>
          </a:p>
        </p:txBody>
      </p:sp>
      <p:sp>
        <p:nvSpPr>
          <p:cNvPr id="1048683" name="TextBox 20"/>
          <p:cNvSpPr txBox="1"/>
          <p:nvPr>
            <p:custDataLst>
              <p:tags r:id="rId12"/>
            </p:custDataLst>
          </p:nvPr>
        </p:nvSpPr>
        <p:spPr>
          <a:xfrm>
            <a:off x="8291830" y="2436495"/>
            <a:ext cx="3446145" cy="1270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2023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全国均温</a:t>
            </a: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 10.7℃ 创 1961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来新高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13 </a:t>
            </a: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省创历史最高温纪录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endParaRPr sz="1400" dirty="0"/>
          </a:p>
          <a:p>
            <a:pPr algn="l">
              <a:lnSpc>
                <a:spcPct val="120000"/>
              </a:lnSpc>
            </a:pPr>
            <a:r>
              <a:rPr sz="1400" b="0" dirty="0" err="1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长江中下游高温干旱、西南「旱涝急转」频发</a:t>
            </a:r>
            <a:endParaRPr sz="1400" b="0" dirty="0">
              <a:solidFill>
                <a:srgbClr val="1A1A1A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97152" name="Picture 21" descr="chart_policy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658571" y="3963260"/>
            <a:ext cx="3358494" cy="2028826"/>
          </a:xfrm>
          <a:prstGeom prst="rect">
            <a:avLst/>
          </a:prstGeom>
        </p:spPr>
      </p:pic>
      <p:pic>
        <p:nvPicPr>
          <p:cNvPr id="2097153" name="Picture 22" descr="chart_disaster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474428" y="3968883"/>
            <a:ext cx="3349185" cy="2023203"/>
          </a:xfrm>
          <a:prstGeom prst="rect">
            <a:avLst/>
          </a:prstGeom>
        </p:spPr>
      </p:pic>
      <p:pic>
        <p:nvPicPr>
          <p:cNvPr id="2097154" name="Picture 23" descr="chart_temp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8242193" y="3968883"/>
            <a:ext cx="3358713" cy="20289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85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86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</a:t>
            </a:r>
            <a:r>
              <a:rPr sz="1000" b="0" dirty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000" b="0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极端气候下粮食生产风险核心因子识别与韧性提升可视化系统</a:t>
            </a:r>
            <a:endParaRPr sz="1000" b="0" dirty="0">
              <a:solidFill>
                <a:srgbClr val="FAFAF7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89" name="TextBox 6"/>
          <p:cNvSpPr txBox="1"/>
          <p:nvPr/>
        </p:nvSpPr>
        <p:spPr>
          <a:xfrm>
            <a:off x="457200" y="640080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现有研究的三大瓶颈</a:t>
            </a:r>
          </a:p>
        </p:txBody>
      </p:sp>
      <p:sp>
        <p:nvSpPr>
          <p:cNvPr id="1048690" name="Rectangle 7"/>
          <p:cNvSpPr/>
          <p:nvPr/>
        </p:nvSpPr>
        <p:spPr>
          <a:xfrm>
            <a:off x="457200" y="1173480"/>
            <a:ext cx="3670300" cy="8001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92" name="Rectangle 9"/>
          <p:cNvSpPr/>
          <p:nvPr/>
        </p:nvSpPr>
        <p:spPr>
          <a:xfrm>
            <a:off x="548640" y="1598930"/>
            <a:ext cx="2286000" cy="114300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93" name="TextBox 10"/>
          <p:cNvSpPr txBox="1"/>
          <p:nvPr/>
        </p:nvSpPr>
        <p:spPr>
          <a:xfrm>
            <a:off x="548640" y="1995170"/>
            <a:ext cx="228600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数据维度单一</a:t>
            </a:r>
          </a:p>
        </p:txBody>
      </p:sp>
      <p:sp>
        <p:nvSpPr>
          <p:cNvPr id="1048694" name="Rectangle 11"/>
          <p:cNvSpPr/>
          <p:nvPr/>
        </p:nvSpPr>
        <p:spPr>
          <a:xfrm>
            <a:off x="2926080" y="1598930"/>
            <a:ext cx="5029200" cy="114300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95" name="TextBox 12"/>
          <p:cNvSpPr txBox="1"/>
          <p:nvPr/>
        </p:nvSpPr>
        <p:spPr>
          <a:xfrm>
            <a:off x="3063240" y="1763522"/>
            <a:ext cx="4846320" cy="782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依赖单一统计数据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缺乏遥感、气象、空间矢量等多模态融合</a:t>
            </a:r>
          </a:p>
        </p:txBody>
      </p:sp>
      <p:sp>
        <p:nvSpPr>
          <p:cNvPr id="1048696" name="Rectangle 13"/>
          <p:cNvSpPr/>
          <p:nvPr/>
        </p:nvSpPr>
        <p:spPr>
          <a:xfrm>
            <a:off x="8046720" y="1598930"/>
            <a:ext cx="3566160" cy="1143000"/>
          </a:xfrm>
          <a:prstGeom prst="rect">
            <a:avLst/>
          </a:prstGeom>
          <a:solidFill>
            <a:srgbClr val="FC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97" name="Rectangle 14"/>
          <p:cNvSpPr/>
          <p:nvPr/>
        </p:nvSpPr>
        <p:spPr>
          <a:xfrm>
            <a:off x="8046720" y="1598930"/>
            <a:ext cx="73152" cy="11430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98" name="TextBox 15"/>
          <p:cNvSpPr txBox="1"/>
          <p:nvPr/>
        </p:nvSpPr>
        <p:spPr>
          <a:xfrm>
            <a:off x="8229600" y="1763522"/>
            <a:ext cx="3291840" cy="189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影响</a:t>
            </a:r>
          </a:p>
        </p:txBody>
      </p:sp>
      <p:sp>
        <p:nvSpPr>
          <p:cNvPr id="1048699" name="TextBox 16"/>
          <p:cNvSpPr txBox="1"/>
          <p:nvPr/>
        </p:nvSpPr>
        <p:spPr>
          <a:xfrm>
            <a:off x="8229600" y="2056130"/>
            <a:ext cx="3291840" cy="391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宏观—中观—微观多粒度刻画不足</a:t>
            </a:r>
          </a:p>
        </p:txBody>
      </p:sp>
      <p:sp>
        <p:nvSpPr>
          <p:cNvPr id="1048700" name="Rectangle 17"/>
          <p:cNvSpPr/>
          <p:nvPr/>
        </p:nvSpPr>
        <p:spPr>
          <a:xfrm>
            <a:off x="548640" y="2879090"/>
            <a:ext cx="2286000" cy="114300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01" name="TextBox 18"/>
          <p:cNvSpPr txBox="1"/>
          <p:nvPr/>
        </p:nvSpPr>
        <p:spPr>
          <a:xfrm>
            <a:off x="548640" y="3275330"/>
            <a:ext cx="228600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模型可解释性不足</a:t>
            </a:r>
          </a:p>
        </p:txBody>
      </p:sp>
      <p:sp>
        <p:nvSpPr>
          <p:cNvPr id="1048702" name="Rectangle 19"/>
          <p:cNvSpPr/>
          <p:nvPr/>
        </p:nvSpPr>
        <p:spPr>
          <a:xfrm>
            <a:off x="2926080" y="2879090"/>
            <a:ext cx="5029200" cy="114300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03" name="TextBox 20"/>
          <p:cNvSpPr txBox="1"/>
          <p:nvPr/>
        </p:nvSpPr>
        <p:spPr>
          <a:xfrm>
            <a:off x="3063240" y="3043682"/>
            <a:ext cx="4846320" cy="782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传统机器学习「黑箱化」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多采用单一模型,缺乏多模型协同验证</a:t>
            </a:r>
          </a:p>
        </p:txBody>
      </p:sp>
      <p:sp>
        <p:nvSpPr>
          <p:cNvPr id="1048704" name="Rectangle 21"/>
          <p:cNvSpPr/>
          <p:nvPr/>
        </p:nvSpPr>
        <p:spPr>
          <a:xfrm>
            <a:off x="8046720" y="2879090"/>
            <a:ext cx="3566160" cy="1143000"/>
          </a:xfrm>
          <a:prstGeom prst="rect">
            <a:avLst/>
          </a:prstGeom>
          <a:solidFill>
            <a:srgbClr val="FC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05" name="Rectangle 22"/>
          <p:cNvSpPr/>
          <p:nvPr/>
        </p:nvSpPr>
        <p:spPr>
          <a:xfrm>
            <a:off x="8046720" y="2879090"/>
            <a:ext cx="73152" cy="11430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06" name="TextBox 23"/>
          <p:cNvSpPr txBox="1"/>
          <p:nvPr/>
        </p:nvSpPr>
        <p:spPr>
          <a:xfrm>
            <a:off x="8229600" y="3043682"/>
            <a:ext cx="3291840" cy="189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影响</a:t>
            </a:r>
          </a:p>
        </p:txBody>
      </p:sp>
      <p:sp>
        <p:nvSpPr>
          <p:cNvPr id="1048707" name="TextBox 24"/>
          <p:cNvSpPr txBox="1"/>
          <p:nvPr/>
        </p:nvSpPr>
        <p:spPr>
          <a:xfrm>
            <a:off x="8229600" y="3336290"/>
            <a:ext cx="3291840" cy="391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因子影响路径与贡献度难以量化</a:t>
            </a:r>
          </a:p>
        </p:txBody>
      </p:sp>
      <p:sp>
        <p:nvSpPr>
          <p:cNvPr id="1048708" name="Rectangle 25"/>
          <p:cNvSpPr/>
          <p:nvPr/>
        </p:nvSpPr>
        <p:spPr>
          <a:xfrm>
            <a:off x="548640" y="4159250"/>
            <a:ext cx="2286000" cy="114300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09" name="TextBox 26"/>
          <p:cNvSpPr txBox="1"/>
          <p:nvPr/>
        </p:nvSpPr>
        <p:spPr>
          <a:xfrm>
            <a:off x="548640" y="4555490"/>
            <a:ext cx="228600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研究成果难以落地</a:t>
            </a:r>
          </a:p>
        </p:txBody>
      </p:sp>
      <p:sp>
        <p:nvSpPr>
          <p:cNvPr id="1048710" name="Rectangle 27"/>
          <p:cNvSpPr/>
          <p:nvPr/>
        </p:nvSpPr>
        <p:spPr>
          <a:xfrm>
            <a:off x="2926080" y="4159250"/>
            <a:ext cx="5029200" cy="114300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11" name="TextBox 28"/>
          <p:cNvSpPr txBox="1"/>
          <p:nvPr/>
        </p:nvSpPr>
        <p:spPr>
          <a:xfrm>
            <a:off x="3063240" y="4323842"/>
            <a:ext cx="4846320" cy="782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多停留在算法与论文层面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缺乏面向决策者的工程化工具</a:t>
            </a:r>
          </a:p>
        </p:txBody>
      </p:sp>
      <p:sp>
        <p:nvSpPr>
          <p:cNvPr id="1048712" name="Rectangle 29"/>
          <p:cNvSpPr/>
          <p:nvPr/>
        </p:nvSpPr>
        <p:spPr>
          <a:xfrm>
            <a:off x="8046720" y="4159250"/>
            <a:ext cx="3566160" cy="1143000"/>
          </a:xfrm>
          <a:prstGeom prst="rect">
            <a:avLst/>
          </a:prstGeom>
          <a:solidFill>
            <a:srgbClr val="FC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13" name="Rectangle 30"/>
          <p:cNvSpPr/>
          <p:nvPr/>
        </p:nvSpPr>
        <p:spPr>
          <a:xfrm>
            <a:off x="8046720" y="4159250"/>
            <a:ext cx="73152" cy="11430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14" name="TextBox 31"/>
          <p:cNvSpPr txBox="1"/>
          <p:nvPr/>
        </p:nvSpPr>
        <p:spPr>
          <a:xfrm>
            <a:off x="8229600" y="4323842"/>
            <a:ext cx="3291840" cy="189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影响</a:t>
            </a:r>
          </a:p>
        </p:txBody>
      </p:sp>
      <p:sp>
        <p:nvSpPr>
          <p:cNvPr id="1048715" name="TextBox 32"/>
          <p:cNvSpPr txBox="1"/>
          <p:nvPr/>
        </p:nvSpPr>
        <p:spPr>
          <a:xfrm>
            <a:off x="8229600" y="4616450"/>
            <a:ext cx="3291840" cy="391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前沿 AI 难以服务政策实践</a:t>
            </a:r>
          </a:p>
        </p:txBody>
      </p:sp>
      <p:sp>
        <p:nvSpPr>
          <p:cNvPr id="1048716" name="TextBox 33"/>
          <p:cNvSpPr txBox="1"/>
          <p:nvPr/>
        </p:nvSpPr>
        <p:spPr>
          <a:xfrm>
            <a:off x="548640" y="5722620"/>
            <a:ext cx="10972800" cy="293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dirty="0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→ </a:t>
            </a:r>
            <a:r>
              <a:rPr b="1" dirty="0" err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本项目针对三大瓶颈,从数据层</a:t>
            </a:r>
            <a:r>
              <a:rPr b="1" dirty="0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b="1" dirty="0" err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方法层</a:t>
            </a:r>
            <a:r>
              <a:rPr b="1" dirty="0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b="1" dirty="0" err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应用层</a:t>
            </a:r>
            <a:r>
              <a:rPr b="1" dirty="0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b="1" dirty="0" err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三个维度系统性破题</a:t>
            </a:r>
            <a:endParaRPr b="1" dirty="0">
              <a:solidFill>
                <a:srgbClr val="D9760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40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41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8644" name="TextBox 6"/>
          <p:cNvSpPr txBox="1"/>
          <p:nvPr/>
        </p:nvSpPr>
        <p:spPr>
          <a:xfrm>
            <a:off x="457200" y="640080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一分钟看懂我们做了什么</a:t>
            </a:r>
          </a:p>
        </p:txBody>
      </p:sp>
      <p:sp>
        <p:nvSpPr>
          <p:cNvPr id="1048645" name="Rectangle 7"/>
          <p:cNvSpPr/>
          <p:nvPr/>
        </p:nvSpPr>
        <p:spPr>
          <a:xfrm>
            <a:off x="457200" y="1219327"/>
            <a:ext cx="4470400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46" name="TextBox 8"/>
          <p:cNvSpPr txBox="1"/>
          <p:nvPr/>
        </p:nvSpPr>
        <p:spPr>
          <a:xfrm>
            <a:off x="487375" y="1502092"/>
            <a:ext cx="11247120" cy="261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Data × Method × Application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的端到端闭环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47" name="Rectangle 9"/>
          <p:cNvSpPr/>
          <p:nvPr>
            <p:custDataLst>
              <p:tags r:id="rId1"/>
            </p:custDataLst>
          </p:nvPr>
        </p:nvSpPr>
        <p:spPr>
          <a:xfrm>
            <a:off x="548640" y="2103120"/>
            <a:ext cx="3566160" cy="301752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48" name="Rectangle 10"/>
          <p:cNvSpPr/>
          <p:nvPr>
            <p:custDataLst>
              <p:tags r:id="rId2"/>
            </p:custDataLst>
          </p:nvPr>
        </p:nvSpPr>
        <p:spPr>
          <a:xfrm>
            <a:off x="548640" y="2103120"/>
            <a:ext cx="3566160" cy="73152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49" name="TextBox 11"/>
          <p:cNvSpPr txBox="1"/>
          <p:nvPr>
            <p:custDataLst>
              <p:tags r:id="rId3"/>
            </p:custDataLst>
          </p:nvPr>
        </p:nvSpPr>
        <p:spPr>
          <a:xfrm>
            <a:off x="822960" y="2377440"/>
            <a:ext cx="301752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048650" name="TextBox 12"/>
          <p:cNvSpPr txBox="1"/>
          <p:nvPr>
            <p:custDataLst>
              <p:tags r:id="rId4"/>
            </p:custDataLst>
          </p:nvPr>
        </p:nvSpPr>
        <p:spPr>
          <a:xfrm>
            <a:off x="822960" y="3017520"/>
            <a:ext cx="3017520" cy="321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数据 DATA</a:t>
            </a:r>
          </a:p>
        </p:txBody>
      </p:sp>
      <p:sp>
        <p:nvSpPr>
          <p:cNvPr id="1048651" name="TextBox 13"/>
          <p:cNvSpPr txBox="1"/>
          <p:nvPr>
            <p:custDataLst>
              <p:tags r:id="rId5"/>
            </p:custDataLst>
          </p:nvPr>
        </p:nvSpPr>
        <p:spPr>
          <a:xfrm>
            <a:off x="777240" y="3441065"/>
            <a:ext cx="3337560" cy="12153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融合 4 类异构数据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（统计 + 遥感 + 气象 + GIS）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全国 31 省 · 2011–2023 · 403 样本</a:t>
            </a:r>
          </a:p>
        </p:txBody>
      </p:sp>
      <p:sp>
        <p:nvSpPr>
          <p:cNvPr id="1048652" name="Rectangle 14"/>
          <p:cNvSpPr/>
          <p:nvPr>
            <p:custDataLst>
              <p:tags r:id="rId6"/>
            </p:custDataLst>
          </p:nvPr>
        </p:nvSpPr>
        <p:spPr>
          <a:xfrm>
            <a:off x="4343400" y="2103120"/>
            <a:ext cx="3566160" cy="3017520"/>
          </a:xfrm>
          <a:prstGeom prst="rect">
            <a:avLst/>
          </a:prstGeom>
          <a:solidFill>
            <a:srgbClr val="E6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53" name="Rectangle 15"/>
          <p:cNvSpPr/>
          <p:nvPr>
            <p:custDataLst>
              <p:tags r:id="rId7"/>
            </p:custDataLst>
          </p:nvPr>
        </p:nvSpPr>
        <p:spPr>
          <a:xfrm>
            <a:off x="4343400" y="2103120"/>
            <a:ext cx="3566160" cy="73152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54" name="TextBox 16"/>
          <p:cNvSpPr txBox="1"/>
          <p:nvPr>
            <p:custDataLst>
              <p:tags r:id="rId8"/>
            </p:custDataLst>
          </p:nvPr>
        </p:nvSpPr>
        <p:spPr>
          <a:xfrm>
            <a:off x="4617720" y="2377440"/>
            <a:ext cx="301752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048655" name="TextBox 17"/>
          <p:cNvSpPr txBox="1"/>
          <p:nvPr>
            <p:custDataLst>
              <p:tags r:id="rId9"/>
            </p:custDataLst>
          </p:nvPr>
        </p:nvSpPr>
        <p:spPr>
          <a:xfrm>
            <a:off x="4617720" y="3017520"/>
            <a:ext cx="3017520" cy="321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方法 METHOD</a:t>
            </a:r>
          </a:p>
        </p:txBody>
      </p:sp>
      <p:sp>
        <p:nvSpPr>
          <p:cNvPr id="1048656" name="TextBox 18"/>
          <p:cNvSpPr txBox="1"/>
          <p:nvPr>
            <p:custDataLst>
              <p:tags r:id="rId10"/>
            </p:custDataLst>
          </p:nvPr>
        </p:nvSpPr>
        <p:spPr>
          <a:xfrm>
            <a:off x="4572000" y="3421380"/>
            <a:ext cx="3325495" cy="1215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XGBoost-SHAP × Attention-LSTM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双引擎协同验证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非线性归因 + 时序响应 双视角</a:t>
            </a:r>
          </a:p>
        </p:txBody>
      </p:sp>
      <p:sp>
        <p:nvSpPr>
          <p:cNvPr id="1048657" name="Rectangle 19"/>
          <p:cNvSpPr/>
          <p:nvPr>
            <p:custDataLst>
              <p:tags r:id="rId11"/>
            </p:custDataLst>
          </p:nvPr>
        </p:nvSpPr>
        <p:spPr>
          <a:xfrm>
            <a:off x="8138160" y="2103120"/>
            <a:ext cx="3566160" cy="301752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58" name="Rectangle 20"/>
          <p:cNvSpPr/>
          <p:nvPr>
            <p:custDataLst>
              <p:tags r:id="rId12"/>
            </p:custDataLst>
          </p:nvPr>
        </p:nvSpPr>
        <p:spPr>
          <a:xfrm>
            <a:off x="8138160" y="2103120"/>
            <a:ext cx="3566160" cy="73152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59" name="TextBox 21"/>
          <p:cNvSpPr txBox="1"/>
          <p:nvPr>
            <p:custDataLst>
              <p:tags r:id="rId13"/>
            </p:custDataLst>
          </p:nvPr>
        </p:nvSpPr>
        <p:spPr>
          <a:xfrm>
            <a:off x="8412480" y="2377440"/>
            <a:ext cx="301752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048660" name="TextBox 22"/>
          <p:cNvSpPr txBox="1"/>
          <p:nvPr>
            <p:custDataLst>
              <p:tags r:id="rId14"/>
            </p:custDataLst>
          </p:nvPr>
        </p:nvSpPr>
        <p:spPr>
          <a:xfrm>
            <a:off x="8412480" y="3017520"/>
            <a:ext cx="3017520" cy="3213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应用 APPLICATION</a:t>
            </a:r>
          </a:p>
        </p:txBody>
      </p:sp>
      <p:sp>
        <p:nvSpPr>
          <p:cNvPr id="1048661" name="TextBox 23"/>
          <p:cNvSpPr txBox="1"/>
          <p:nvPr>
            <p:custDataLst>
              <p:tags r:id="rId15"/>
            </p:custDataLst>
          </p:nvPr>
        </p:nvSpPr>
        <p:spPr>
          <a:xfrm>
            <a:off x="8354695" y="3443605"/>
            <a:ext cx="3017520" cy="1215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Vue + Flask 可视化决策系统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四大模块 · 在线交互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单次推理 ≤ 2 秒</a:t>
            </a:r>
          </a:p>
        </p:txBody>
      </p:sp>
      <p:sp>
        <p:nvSpPr>
          <p:cNvPr id="1048662" name="Rectangle 24"/>
          <p:cNvSpPr/>
          <p:nvPr/>
        </p:nvSpPr>
        <p:spPr>
          <a:xfrm>
            <a:off x="548640" y="5486400"/>
            <a:ext cx="11155680" cy="64008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63" name="TextBox 25"/>
          <p:cNvSpPr txBox="1"/>
          <p:nvPr/>
        </p:nvSpPr>
        <p:spPr>
          <a:xfrm>
            <a:off x="777240" y="5667692"/>
            <a:ext cx="10698480" cy="277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破解传统研究「数据单一</a:t>
            </a:r>
            <a:r>
              <a:rPr sz="1400" b="1" dirty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400" b="1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黑箱模型</a:t>
            </a:r>
            <a:r>
              <a:rPr sz="1400" b="1" dirty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400" b="1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难以落地」三大瓶颈</a:t>
            </a:r>
            <a:endParaRPr sz="1400" b="1" dirty="0">
              <a:solidFill>
                <a:srgbClr val="FAFAF7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18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19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8722" name="TextBox 6"/>
          <p:cNvSpPr txBox="1"/>
          <p:nvPr/>
        </p:nvSpPr>
        <p:spPr>
          <a:xfrm>
            <a:off x="457200" y="640080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研究目标 与 四大研究内容</a:t>
            </a:r>
          </a:p>
        </p:txBody>
      </p:sp>
      <p:sp>
        <p:nvSpPr>
          <p:cNvPr id="1048723" name="Rectangle 7"/>
          <p:cNvSpPr/>
          <p:nvPr/>
        </p:nvSpPr>
        <p:spPr>
          <a:xfrm>
            <a:off x="457200" y="1174496"/>
            <a:ext cx="4724400" cy="7899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24" name="TextBox 8"/>
          <p:cNvSpPr txBox="1"/>
          <p:nvPr/>
        </p:nvSpPr>
        <p:spPr>
          <a:xfrm>
            <a:off x="457200" y="1536192"/>
            <a:ext cx="11247120" cy="350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覆盖「风险识别→因子归因→韧性评估→可视化决策」全链条</a:t>
            </a:r>
          </a:p>
        </p:txBody>
      </p:sp>
      <p:sp>
        <p:nvSpPr>
          <p:cNvPr id="1048725" name="Rectangle 9"/>
          <p:cNvSpPr/>
          <p:nvPr>
            <p:custDataLst>
              <p:tags r:id="rId1"/>
            </p:custDataLst>
          </p:nvPr>
        </p:nvSpPr>
        <p:spPr>
          <a:xfrm>
            <a:off x="548640" y="2011680"/>
            <a:ext cx="2697480" cy="411480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26" name="Rectangle 10"/>
          <p:cNvSpPr/>
          <p:nvPr>
            <p:custDataLst>
              <p:tags r:id="rId2"/>
            </p:custDataLst>
          </p:nvPr>
        </p:nvSpPr>
        <p:spPr>
          <a:xfrm>
            <a:off x="548640" y="2011680"/>
            <a:ext cx="2697480" cy="73152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27" name="TextBox 11"/>
          <p:cNvSpPr txBox="1"/>
          <p:nvPr>
            <p:custDataLst>
              <p:tags r:id="rId3"/>
            </p:custDataLst>
          </p:nvPr>
        </p:nvSpPr>
        <p:spPr>
          <a:xfrm>
            <a:off x="777240" y="228600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1048728" name="TextBox 12"/>
          <p:cNvSpPr txBox="1"/>
          <p:nvPr>
            <p:custDataLst>
              <p:tags r:id="rId4"/>
            </p:custDataLst>
          </p:nvPr>
        </p:nvSpPr>
        <p:spPr>
          <a:xfrm>
            <a:off x="777240" y="2926080"/>
            <a:ext cx="242316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多模态融合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数据集构建</a:t>
            </a:r>
          </a:p>
        </p:txBody>
      </p:sp>
      <p:sp>
        <p:nvSpPr>
          <p:cNvPr id="1048729" name="TextBox 13"/>
          <p:cNvSpPr txBox="1"/>
          <p:nvPr>
            <p:custDataLst>
              <p:tags r:id="rId5"/>
            </p:custDataLst>
          </p:nvPr>
        </p:nvSpPr>
        <p:spPr>
          <a:xfrm>
            <a:off x="777240" y="4114800"/>
            <a:ext cx="2423160" cy="144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统计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+ MODIS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遥感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+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气象站点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+ GIS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矢量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线性插值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Butterworth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滤波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时空对齐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Z-score</a:t>
            </a:r>
          </a:p>
        </p:txBody>
      </p:sp>
      <p:sp>
        <p:nvSpPr>
          <p:cNvPr id="1048730" name="Rectangle 14"/>
          <p:cNvSpPr/>
          <p:nvPr>
            <p:custDataLst>
              <p:tags r:id="rId6"/>
            </p:custDataLst>
          </p:nvPr>
        </p:nvSpPr>
        <p:spPr>
          <a:xfrm>
            <a:off x="3383280" y="2011680"/>
            <a:ext cx="2697480" cy="411480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48731" name="Rectangle 15"/>
          <p:cNvSpPr/>
          <p:nvPr>
            <p:custDataLst>
              <p:tags r:id="rId7"/>
            </p:custDataLst>
          </p:nvPr>
        </p:nvSpPr>
        <p:spPr>
          <a:xfrm>
            <a:off x="3383280" y="2011680"/>
            <a:ext cx="2697480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32" name="TextBox 16"/>
          <p:cNvSpPr txBox="1"/>
          <p:nvPr>
            <p:custDataLst>
              <p:tags r:id="rId8"/>
            </p:custDataLst>
          </p:nvPr>
        </p:nvSpPr>
        <p:spPr>
          <a:xfrm>
            <a:off x="3611880" y="228600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048733" name="TextBox 17"/>
          <p:cNvSpPr txBox="1"/>
          <p:nvPr>
            <p:custDataLst>
              <p:tags r:id="rId9"/>
            </p:custDataLst>
          </p:nvPr>
        </p:nvSpPr>
        <p:spPr>
          <a:xfrm>
            <a:off x="3611880" y="2926080"/>
            <a:ext cx="242316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XGBoost-SHAP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非线性归因</a:t>
            </a:r>
          </a:p>
        </p:txBody>
      </p:sp>
      <p:sp>
        <p:nvSpPr>
          <p:cNvPr id="1048734" name="TextBox 18"/>
          <p:cNvSpPr txBox="1"/>
          <p:nvPr>
            <p:custDataLst>
              <p:tags r:id="rId10"/>
            </p:custDataLst>
          </p:nvPr>
        </p:nvSpPr>
        <p:spPr>
          <a:xfrm>
            <a:off x="3611880" y="4114800"/>
            <a:ext cx="2423160" cy="14338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梯度提升树构建风险拟合模型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SHAP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三维度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:</a:t>
            </a:r>
            <a:endParaRPr lang="en-US"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全局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个体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交互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735" name="Rectangle 19"/>
          <p:cNvSpPr/>
          <p:nvPr>
            <p:custDataLst>
              <p:tags r:id="rId11"/>
            </p:custDataLst>
          </p:nvPr>
        </p:nvSpPr>
        <p:spPr>
          <a:xfrm>
            <a:off x="6217920" y="2011680"/>
            <a:ext cx="2697480" cy="411480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36" name="Rectangle 20"/>
          <p:cNvSpPr/>
          <p:nvPr>
            <p:custDataLst>
              <p:tags r:id="rId12"/>
            </p:custDataLst>
          </p:nvPr>
        </p:nvSpPr>
        <p:spPr>
          <a:xfrm>
            <a:off x="6217920" y="2011680"/>
            <a:ext cx="2697480" cy="73152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37" name="TextBox 21"/>
          <p:cNvSpPr txBox="1"/>
          <p:nvPr>
            <p:custDataLst>
              <p:tags r:id="rId13"/>
            </p:custDataLst>
          </p:nvPr>
        </p:nvSpPr>
        <p:spPr>
          <a:xfrm>
            <a:off x="6446520" y="228600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048738" name="TextBox 22"/>
          <p:cNvSpPr txBox="1"/>
          <p:nvPr>
            <p:custDataLst>
              <p:tags r:id="rId14"/>
            </p:custDataLst>
          </p:nvPr>
        </p:nvSpPr>
        <p:spPr>
          <a:xfrm>
            <a:off x="6446520" y="2926080"/>
            <a:ext cx="242316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Attention-LSTM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时序验证</a:t>
            </a:r>
          </a:p>
        </p:txBody>
      </p:sp>
      <p:sp>
        <p:nvSpPr>
          <p:cNvPr id="1048739" name="TextBox 23"/>
          <p:cNvSpPr txBox="1"/>
          <p:nvPr>
            <p:custDataLst>
              <p:tags r:id="rId15"/>
            </p:custDataLst>
          </p:nvPr>
        </p:nvSpPr>
        <p:spPr>
          <a:xfrm>
            <a:off x="6446520" y="4114800"/>
            <a:ext cx="2423160" cy="14338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注意力机制聚焦极端气候敏感时点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作为双重验证模型独立验证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XGB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结果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740" name="Rectangle 24"/>
          <p:cNvSpPr/>
          <p:nvPr>
            <p:custDataLst>
              <p:tags r:id="rId16"/>
            </p:custDataLst>
          </p:nvPr>
        </p:nvSpPr>
        <p:spPr>
          <a:xfrm>
            <a:off x="9052560" y="2011680"/>
            <a:ext cx="2697480" cy="411480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41" name="Rectangle 25"/>
          <p:cNvSpPr/>
          <p:nvPr>
            <p:custDataLst>
              <p:tags r:id="rId17"/>
            </p:custDataLst>
          </p:nvPr>
        </p:nvSpPr>
        <p:spPr>
          <a:xfrm>
            <a:off x="9052560" y="2011680"/>
            <a:ext cx="2697480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42" name="TextBox 26"/>
          <p:cNvSpPr txBox="1"/>
          <p:nvPr>
            <p:custDataLst>
              <p:tags r:id="rId18"/>
            </p:custDataLst>
          </p:nvPr>
        </p:nvSpPr>
        <p:spPr>
          <a:xfrm>
            <a:off x="9281160" y="228600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1048743" name="TextBox 27"/>
          <p:cNvSpPr txBox="1"/>
          <p:nvPr>
            <p:custDataLst>
              <p:tags r:id="rId19"/>
            </p:custDataLst>
          </p:nvPr>
        </p:nvSpPr>
        <p:spPr>
          <a:xfrm>
            <a:off x="9281160" y="2926080"/>
            <a:ext cx="2423160" cy="698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可视化决策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支持系统</a:t>
            </a:r>
          </a:p>
        </p:txBody>
      </p:sp>
      <p:sp>
        <p:nvSpPr>
          <p:cNvPr id="1048744" name="TextBox 28"/>
          <p:cNvSpPr txBox="1"/>
          <p:nvPr>
            <p:custDataLst>
              <p:tags r:id="rId20"/>
            </p:custDataLst>
          </p:nvPr>
        </p:nvSpPr>
        <p:spPr>
          <a:xfrm>
            <a:off x="9281160" y="4083685"/>
            <a:ext cx="2423160" cy="1064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Vue + Flask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四大模块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: </a:t>
            </a:r>
            <a:endParaRPr lang="en-US"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地图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看板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模拟</a:t>
            </a:r>
            <a:r>
              <a:rPr sz="16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路径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面向决策者的可操作工具</a:t>
            </a:r>
            <a:endParaRPr sz="16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1">
  <p:cSld>
    <p:spTree>
      <p:nvGrpSpPr>
        <p:cNvPr id="1" name="">
          <a:extLst>
            <a:ext uri="{FF2B5EF4-FFF2-40B4-BE49-F238E27FC236}">
              <a16:creationId xmlns:a16="http://schemas.microsoft.com/office/drawing/2014/main" id="{36BD7758-BCC0-B3C8-668B-FABB0C6FD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Rectangle 1">
            <a:extLst>
              <a:ext uri="{FF2B5EF4-FFF2-40B4-BE49-F238E27FC236}">
                <a16:creationId xmlns:a16="http://schemas.microsoft.com/office/drawing/2014/main" id="{5BBABB64-E19C-2EDB-441C-0BE517085A3C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595" name="Rectangle 2">
            <a:extLst>
              <a:ext uri="{FF2B5EF4-FFF2-40B4-BE49-F238E27FC236}">
                <a16:creationId xmlns:a16="http://schemas.microsoft.com/office/drawing/2014/main" id="{C6392C77-3335-8974-4A3C-9C24D49D0618}"/>
              </a:ext>
            </a:extLst>
          </p:cNvPr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596" name="TextBox 3">
            <a:extLst>
              <a:ext uri="{FF2B5EF4-FFF2-40B4-BE49-F238E27FC236}">
                <a16:creationId xmlns:a16="http://schemas.microsoft.com/office/drawing/2014/main" id="{FAB0E112-82C8-B14F-7D37-CD81F48421DC}"/>
              </a:ext>
            </a:extLst>
          </p:cNvPr>
          <p:cNvSpPr txBox="1"/>
          <p:nvPr/>
        </p:nvSpPr>
        <p:spPr>
          <a:xfrm>
            <a:off x="457200" y="6585648"/>
            <a:ext cx="7315200" cy="160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8597" name="TextBox 5">
            <a:extLst>
              <a:ext uri="{FF2B5EF4-FFF2-40B4-BE49-F238E27FC236}">
                <a16:creationId xmlns:a16="http://schemas.microsoft.com/office/drawing/2014/main" id="{D304B937-F736-C9BE-D338-2D9EB33BF19D}"/>
              </a:ext>
            </a:extLst>
          </p:cNvPr>
          <p:cNvSpPr txBox="1"/>
          <p:nvPr/>
        </p:nvSpPr>
        <p:spPr>
          <a:xfrm>
            <a:off x="457200" y="228600"/>
            <a:ext cx="5486400" cy="204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技术路线</a:t>
            </a:r>
          </a:p>
        </p:txBody>
      </p:sp>
      <p:sp>
        <p:nvSpPr>
          <p:cNvPr id="1048598" name="TextBox 6">
            <a:extLst>
              <a:ext uri="{FF2B5EF4-FFF2-40B4-BE49-F238E27FC236}">
                <a16:creationId xmlns:a16="http://schemas.microsoft.com/office/drawing/2014/main" id="{744F6F55-B293-8CEB-345B-6FAFF720236D}"/>
              </a:ext>
            </a:extLst>
          </p:cNvPr>
          <p:cNvSpPr txBox="1"/>
          <p:nvPr/>
        </p:nvSpPr>
        <p:spPr>
          <a:xfrm>
            <a:off x="457200" y="640080"/>
            <a:ext cx="11247120" cy="554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总体技术路线</a:t>
            </a:r>
          </a:p>
        </p:txBody>
      </p:sp>
      <p:sp>
        <p:nvSpPr>
          <p:cNvPr id="1048599" name="Rectangle 7">
            <a:extLst>
              <a:ext uri="{FF2B5EF4-FFF2-40B4-BE49-F238E27FC236}">
                <a16:creationId xmlns:a16="http://schemas.microsoft.com/office/drawing/2014/main" id="{84B7AE2F-9B71-D920-DE04-EE4CD5451793}"/>
              </a:ext>
            </a:extLst>
          </p:cNvPr>
          <p:cNvSpPr/>
          <p:nvPr/>
        </p:nvSpPr>
        <p:spPr>
          <a:xfrm>
            <a:off x="457200" y="1417320"/>
            <a:ext cx="548640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600" name="TextBox 8">
            <a:extLst>
              <a:ext uri="{FF2B5EF4-FFF2-40B4-BE49-F238E27FC236}">
                <a16:creationId xmlns:a16="http://schemas.microsoft.com/office/drawing/2014/main" id="{03F0A995-0C5B-5CF3-651B-FEB3B279C447}"/>
              </a:ext>
            </a:extLst>
          </p:cNvPr>
          <p:cNvSpPr txBox="1"/>
          <p:nvPr/>
        </p:nvSpPr>
        <p:spPr>
          <a:xfrm>
            <a:off x="457200" y="1536192"/>
            <a:ext cx="11247120" cy="233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多模态数据驱动 + 双引擎协同验证 + 可视化系统集成</a:t>
            </a:r>
          </a:p>
        </p:txBody>
      </p:sp>
      <p:sp>
        <p:nvSpPr>
          <p:cNvPr id="1048601" name="Rounded Rectangle 1048600"/>
          <p:cNvSpPr/>
          <p:nvPr/>
        </p:nvSpPr>
        <p:spPr>
          <a:xfrm>
            <a:off x="502920" y="1920240"/>
            <a:ext cx="2587752" cy="585216"/>
          </a:xfrm>
          <a:prstGeom prst="roundRect">
            <a:avLst>
              <a:gd name="adj" fmla="val 10000"/>
            </a:avLst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2" name="TextBox 1048601"/>
          <p:cNvSpPr txBox="1"/>
          <p:nvPr/>
        </p:nvSpPr>
        <p:spPr>
          <a:xfrm>
            <a:off x="667512" y="1920240"/>
            <a:ext cx="22585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97606"/>
                </a:solidFill>
                <a:latin typeface="微软雅黑"/>
                <a:ea typeface="微软雅黑"/>
                <a:cs typeface="微软雅黑"/>
              </a:rPr>
              <a:t>01   </a:t>
            </a:r>
            <a:r>
              <a:rPr sz="1600" b="1">
                <a:solidFill>
                  <a:srgbClr val="FAFAF7"/>
                </a:solidFill>
                <a:latin typeface="微软雅黑"/>
                <a:ea typeface="微软雅黑"/>
                <a:cs typeface="微软雅黑"/>
              </a:rPr>
              <a:t>数据采集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CFDDD6"/>
                </a:solidFill>
                <a:latin typeface="微软雅黑"/>
                <a:ea typeface="微软雅黑"/>
                <a:cs typeface="微软雅黑"/>
              </a:rPr>
              <a:t>2026.5 – 7</a:t>
            </a:r>
          </a:p>
        </p:txBody>
      </p:sp>
      <p:sp>
        <p:nvSpPr>
          <p:cNvPr id="1048603" name="Rounded Rectangle 1048602"/>
          <p:cNvSpPr/>
          <p:nvPr/>
        </p:nvSpPr>
        <p:spPr>
          <a:xfrm>
            <a:off x="3364991" y="1920240"/>
            <a:ext cx="2587752" cy="585216"/>
          </a:xfrm>
          <a:prstGeom prst="roundRect">
            <a:avLst>
              <a:gd name="adj" fmla="val 10000"/>
            </a:avLst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4" name="TextBox 1048603"/>
          <p:cNvSpPr txBox="1"/>
          <p:nvPr/>
        </p:nvSpPr>
        <p:spPr>
          <a:xfrm>
            <a:off x="3529584" y="1920240"/>
            <a:ext cx="22585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B55C"/>
                </a:solidFill>
                <a:latin typeface="微软雅黑"/>
                <a:ea typeface="微软雅黑"/>
                <a:cs typeface="微软雅黑"/>
              </a:rPr>
              <a:t>02   </a:t>
            </a:r>
            <a:r>
              <a:rPr sz="1600" b="1">
                <a:solidFill>
                  <a:srgbClr val="FAFAF7"/>
                </a:solidFill>
                <a:latin typeface="微软雅黑"/>
                <a:ea typeface="微软雅黑"/>
                <a:cs typeface="微软雅黑"/>
              </a:rPr>
              <a:t>数据预处理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CFDDD6"/>
                </a:solidFill>
                <a:latin typeface="微软雅黑"/>
                <a:ea typeface="微软雅黑"/>
                <a:cs typeface="微软雅黑"/>
              </a:rPr>
              <a:t>2026.5 – 7</a:t>
            </a:r>
          </a:p>
        </p:txBody>
      </p:sp>
      <p:sp>
        <p:nvSpPr>
          <p:cNvPr id="1048605" name="Rounded Rectangle 1048604"/>
          <p:cNvSpPr/>
          <p:nvPr/>
        </p:nvSpPr>
        <p:spPr>
          <a:xfrm>
            <a:off x="6227064" y="1920240"/>
            <a:ext cx="2587752" cy="585216"/>
          </a:xfrm>
          <a:prstGeom prst="roundRect">
            <a:avLst>
              <a:gd name="adj" fmla="val 10000"/>
            </a:avLst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6" name="TextBox 1048605"/>
          <p:cNvSpPr txBox="1"/>
          <p:nvPr/>
        </p:nvSpPr>
        <p:spPr>
          <a:xfrm>
            <a:off x="6391655" y="1920240"/>
            <a:ext cx="22585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97606"/>
                </a:solidFill>
                <a:latin typeface="微软雅黑"/>
                <a:ea typeface="微软雅黑"/>
                <a:cs typeface="微软雅黑"/>
              </a:rPr>
              <a:t>03   </a:t>
            </a:r>
            <a:r>
              <a:rPr sz="1600" b="1">
                <a:solidFill>
                  <a:srgbClr val="FAFAF7"/>
                </a:solidFill>
                <a:latin typeface="微软雅黑"/>
                <a:ea typeface="微软雅黑"/>
                <a:cs typeface="微软雅黑"/>
              </a:rPr>
              <a:t>双引擎建模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CFDDD6"/>
                </a:solidFill>
                <a:latin typeface="微软雅黑"/>
                <a:ea typeface="微软雅黑"/>
                <a:cs typeface="微软雅黑"/>
              </a:rPr>
              <a:t>2026.8 – 10</a:t>
            </a:r>
          </a:p>
        </p:txBody>
      </p:sp>
      <p:sp>
        <p:nvSpPr>
          <p:cNvPr id="1048607" name="Rounded Rectangle 1048606"/>
          <p:cNvSpPr/>
          <p:nvPr/>
        </p:nvSpPr>
        <p:spPr>
          <a:xfrm>
            <a:off x="9089136" y="1920240"/>
            <a:ext cx="2587752" cy="585216"/>
          </a:xfrm>
          <a:prstGeom prst="roundRect">
            <a:avLst>
              <a:gd name="adj" fmla="val 10000"/>
            </a:avLst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08" name="TextBox 1048607"/>
          <p:cNvSpPr txBox="1"/>
          <p:nvPr/>
        </p:nvSpPr>
        <p:spPr>
          <a:xfrm>
            <a:off x="9253728" y="1920240"/>
            <a:ext cx="225856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B55C"/>
                </a:solidFill>
                <a:latin typeface="微软雅黑"/>
                <a:ea typeface="微软雅黑"/>
                <a:cs typeface="微软雅黑"/>
              </a:rPr>
              <a:t>04   </a:t>
            </a:r>
            <a:r>
              <a:rPr sz="1600" b="1">
                <a:solidFill>
                  <a:srgbClr val="FAFAF7"/>
                </a:solidFill>
                <a:latin typeface="微软雅黑"/>
                <a:ea typeface="微软雅黑"/>
                <a:cs typeface="微软雅黑"/>
              </a:rPr>
              <a:t>系统集成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CFDDD6"/>
                </a:solidFill>
                <a:latin typeface="微软雅黑"/>
                <a:ea typeface="微软雅黑"/>
                <a:cs typeface="微软雅黑"/>
              </a:rPr>
              <a:t>2026.12 – 27.4</a:t>
            </a:r>
          </a:p>
        </p:txBody>
      </p:sp>
      <p:sp>
        <p:nvSpPr>
          <p:cNvPr id="1048609" name="Right Arrow 1048608"/>
          <p:cNvSpPr/>
          <p:nvPr/>
        </p:nvSpPr>
        <p:spPr>
          <a:xfrm>
            <a:off x="3108960" y="2103120"/>
            <a:ext cx="237744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0" name="Right Arrow 1048609"/>
          <p:cNvSpPr/>
          <p:nvPr/>
        </p:nvSpPr>
        <p:spPr>
          <a:xfrm>
            <a:off x="5971031" y="2103120"/>
            <a:ext cx="237744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1" name="Right Arrow 1048610"/>
          <p:cNvSpPr/>
          <p:nvPr/>
        </p:nvSpPr>
        <p:spPr>
          <a:xfrm>
            <a:off x="8833104" y="2103120"/>
            <a:ext cx="237744" cy="21945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2" name="Rounded Rectangle 1048611"/>
          <p:cNvSpPr/>
          <p:nvPr/>
        </p:nvSpPr>
        <p:spPr>
          <a:xfrm>
            <a:off x="502920" y="2615184"/>
            <a:ext cx="2587752" cy="1993392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3" name="Rounded Rectangle 1048612"/>
          <p:cNvSpPr/>
          <p:nvPr/>
        </p:nvSpPr>
        <p:spPr>
          <a:xfrm>
            <a:off x="3364991" y="2615184"/>
            <a:ext cx="2587752" cy="1993392"/>
          </a:xfrm>
          <a:prstGeom prst="roundRect">
            <a:avLst>
              <a:gd name="adj" fmla="val 10000"/>
            </a:avLst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4" name="Rounded Rectangle 1048613"/>
          <p:cNvSpPr/>
          <p:nvPr/>
        </p:nvSpPr>
        <p:spPr>
          <a:xfrm>
            <a:off x="6227064" y="2615184"/>
            <a:ext cx="2587752" cy="1993392"/>
          </a:xfrm>
          <a:prstGeom prst="roundRect">
            <a:avLst>
              <a:gd name="adj" fmla="val 10000"/>
            </a:avLst>
          </a:prstGeom>
          <a:solidFill>
            <a:srgbClr val="FB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5" name="Rounded Rectangle 1048614"/>
          <p:cNvSpPr/>
          <p:nvPr/>
        </p:nvSpPr>
        <p:spPr>
          <a:xfrm>
            <a:off x="9089136" y="2615184"/>
            <a:ext cx="2587752" cy="1993392"/>
          </a:xfrm>
          <a:prstGeom prst="roundRect">
            <a:avLst>
              <a:gd name="adj" fmla="val 10000"/>
            </a:avLst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6" name="TextBox 1048615"/>
          <p:cNvSpPr txBox="1"/>
          <p:nvPr/>
        </p:nvSpPr>
        <p:spPr>
          <a:xfrm>
            <a:off x="685800" y="2761488"/>
            <a:ext cx="2221992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E5A8E"/>
                </a:solidFill>
                <a:latin typeface="微软雅黑"/>
                <a:ea typeface="微软雅黑"/>
                <a:cs typeface="微软雅黑"/>
              </a:rPr>
              <a:t>统计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· 中国统计年鉴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1E5A8E"/>
                </a:solidFill>
                <a:latin typeface="微软雅黑"/>
                <a:ea typeface="微软雅黑"/>
                <a:cs typeface="微软雅黑"/>
              </a:rPr>
              <a:t>气象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· CMDC 地面站点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1E5A8E"/>
                </a:solidFill>
                <a:latin typeface="微软雅黑"/>
                <a:ea typeface="微软雅黑"/>
                <a:cs typeface="微软雅黑"/>
              </a:rPr>
              <a:t>遥感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· MODIS NDVI/LST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1E5A8E"/>
                </a:solidFill>
                <a:latin typeface="微软雅黑"/>
                <a:ea typeface="微软雅黑"/>
                <a:cs typeface="微软雅黑"/>
              </a:rPr>
              <a:t>空间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· GIS 行政区矢量</a:t>
            </a:r>
          </a:p>
          <a:p>
            <a:pPr algn="l">
              <a:lnSpc>
                <a:spcPct val="112000"/>
              </a:lnSpc>
            </a:pPr>
            <a:r>
              <a:rPr sz="900" b="0">
                <a:solidFill>
                  <a:srgbClr val="B8C6D6"/>
                </a:solidFill>
                <a:latin typeface="微软雅黑"/>
                <a:ea typeface="微软雅黑"/>
                <a:cs typeface="微软雅黑"/>
              </a:rPr>
              <a:t>───────────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D97606"/>
                </a:solidFill>
                <a:latin typeface="微软雅黑"/>
                <a:ea typeface="微软雅黑"/>
                <a:cs typeface="微软雅黑"/>
              </a:rPr>
              <a:t>产出 </a:t>
            </a:r>
            <a:r>
              <a:rPr sz="105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403 × 11 多模态面板</a:t>
            </a:r>
          </a:p>
        </p:txBody>
      </p:sp>
      <p:sp>
        <p:nvSpPr>
          <p:cNvPr id="1048617" name="TextBox 1048616"/>
          <p:cNvSpPr txBox="1"/>
          <p:nvPr/>
        </p:nvSpPr>
        <p:spPr>
          <a:xfrm>
            <a:off x="3547872" y="2761488"/>
            <a:ext cx="2221992" cy="1700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①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完整性清洗</a:t>
            </a:r>
          </a:p>
          <a:p>
            <a:pPr algn="l">
              <a:lnSpc>
                <a:spcPct val="128000"/>
              </a:lnSpc>
            </a:pPr>
            <a:r>
              <a:rPr sz="11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②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线性插值补缺</a:t>
            </a:r>
          </a:p>
          <a:p>
            <a:pPr algn="l">
              <a:lnSpc>
                <a:spcPct val="128000"/>
              </a:lnSpc>
            </a:pPr>
            <a:r>
              <a:rPr sz="11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③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Butterworth 滤波</a:t>
            </a:r>
          </a:p>
          <a:p>
            <a:pPr algn="l">
              <a:lnSpc>
                <a:spcPct val="128000"/>
              </a:lnSpc>
            </a:pPr>
            <a:r>
              <a:rPr sz="11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④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时空对齐匹配</a:t>
            </a:r>
          </a:p>
          <a:p>
            <a:pPr algn="l">
              <a:lnSpc>
                <a:spcPct val="128000"/>
              </a:lnSpc>
            </a:pPr>
            <a:r>
              <a:rPr sz="11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⑤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Z-score 标准化</a:t>
            </a:r>
          </a:p>
        </p:txBody>
      </p:sp>
      <p:sp>
        <p:nvSpPr>
          <p:cNvPr id="1048618" name="Rounded Rectangle 1048617"/>
          <p:cNvSpPr/>
          <p:nvPr/>
        </p:nvSpPr>
        <p:spPr>
          <a:xfrm>
            <a:off x="6336792" y="2706624"/>
            <a:ext cx="2368296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E5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19" name="TextBox 1048618"/>
          <p:cNvSpPr txBox="1"/>
          <p:nvPr/>
        </p:nvSpPr>
        <p:spPr>
          <a:xfrm>
            <a:off x="6464807" y="2798064"/>
            <a:ext cx="2112264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>
                <a:solidFill>
                  <a:srgbClr val="D97606"/>
                </a:solidFill>
                <a:latin typeface="微软雅黑"/>
                <a:ea typeface="微软雅黑"/>
                <a:cs typeface="微软雅黑"/>
              </a:rPr>
              <a:t>引擎一  </a:t>
            </a:r>
            <a:r>
              <a:rPr sz="1200" b="1">
                <a:solidFill>
                  <a:srgbClr val="1E5A8E"/>
                </a:solidFill>
                <a:latin typeface="微软雅黑"/>
                <a:ea typeface="微软雅黑"/>
                <a:cs typeface="微软雅黑"/>
              </a:rPr>
              <a:t>XGBoost–SHAP</a:t>
            </a:r>
          </a:p>
          <a:p>
            <a:pPr algn="l">
              <a:lnSpc>
                <a:spcPct val="104000"/>
              </a:lnSpc>
            </a:pPr>
            <a:r>
              <a:rPr sz="9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横截面归因 · SHAP 三维分解</a:t>
            </a:r>
          </a:p>
          <a:p>
            <a:pPr algn="l">
              <a:lnSpc>
                <a:spcPct val="104000"/>
              </a:lnSpc>
            </a:pPr>
            <a:r>
              <a:rPr sz="1200" b="1">
                <a:solidFill>
                  <a:srgbClr val="D97606"/>
                </a:solidFill>
                <a:latin typeface="微软雅黑"/>
                <a:ea typeface="微软雅黑"/>
                <a:cs typeface="微软雅黑"/>
              </a:rPr>
              <a:t>R² = 0.907</a:t>
            </a:r>
          </a:p>
        </p:txBody>
      </p:sp>
      <p:sp>
        <p:nvSpPr>
          <p:cNvPr id="1048620" name="Rounded Rectangle 1048619"/>
          <p:cNvSpPr/>
          <p:nvPr/>
        </p:nvSpPr>
        <p:spPr>
          <a:xfrm>
            <a:off x="6336792" y="3538727"/>
            <a:ext cx="2368296" cy="274320"/>
          </a:xfrm>
          <a:prstGeom prst="roundRect">
            <a:avLst>
              <a:gd name="adj" fmla="val 10000"/>
            </a:avLst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21" name="TextBox 1048620"/>
          <p:cNvSpPr txBox="1"/>
          <p:nvPr/>
        </p:nvSpPr>
        <p:spPr>
          <a:xfrm>
            <a:off x="6336792" y="3538727"/>
            <a:ext cx="23682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⇄  双引擎 · 互补验证</a:t>
            </a:r>
          </a:p>
        </p:txBody>
      </p:sp>
      <p:sp>
        <p:nvSpPr>
          <p:cNvPr id="1048622" name="Rounded Rectangle 1048621"/>
          <p:cNvSpPr/>
          <p:nvPr/>
        </p:nvSpPr>
        <p:spPr>
          <a:xfrm>
            <a:off x="6336792" y="3858768"/>
            <a:ext cx="2368296" cy="7863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F4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23" name="TextBox 1048622"/>
          <p:cNvSpPr txBox="1"/>
          <p:nvPr/>
        </p:nvSpPr>
        <p:spPr>
          <a:xfrm>
            <a:off x="6464807" y="3950207"/>
            <a:ext cx="2112264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950" b="1">
                <a:solidFill>
                  <a:srgbClr val="D97606"/>
                </a:solidFill>
                <a:latin typeface="微软雅黑"/>
                <a:ea typeface="微软雅黑"/>
                <a:cs typeface="微软雅黑"/>
              </a:rPr>
              <a:t>引擎二  </a:t>
            </a:r>
            <a:r>
              <a:rPr sz="12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Attention–LSTM</a:t>
            </a:r>
          </a:p>
          <a:p>
            <a:pPr algn="l">
              <a:lnSpc>
                <a:spcPct val="104000"/>
              </a:lnSpc>
            </a:pPr>
            <a:r>
              <a:rPr sz="9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时序验证 · 注意力聚焦极端时点</a:t>
            </a:r>
          </a:p>
          <a:p>
            <a:pPr algn="l">
              <a:lnSpc>
                <a:spcPct val="104000"/>
              </a:lnSpc>
            </a:pPr>
            <a:r>
              <a:rPr sz="1200" b="1">
                <a:solidFill>
                  <a:srgbClr val="D97606"/>
                </a:solidFill>
                <a:latin typeface="微软雅黑"/>
                <a:ea typeface="微软雅黑"/>
                <a:cs typeface="微软雅黑"/>
              </a:rPr>
              <a:t>R² = 0.816</a:t>
            </a:r>
          </a:p>
        </p:txBody>
      </p:sp>
      <p:sp>
        <p:nvSpPr>
          <p:cNvPr id="1048624" name="TextBox 1048623"/>
          <p:cNvSpPr txBox="1"/>
          <p:nvPr/>
        </p:nvSpPr>
        <p:spPr>
          <a:xfrm>
            <a:off x="9272016" y="2761488"/>
            <a:ext cx="2221992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后端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· Flask + PostgreSQL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前端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· Vue + ECharts + Leaflet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模块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· 地图/看板/模拟/路径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部署 </a:t>
            </a:r>
            <a:r>
              <a:rPr sz="105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· 云端在线访问</a:t>
            </a:r>
          </a:p>
          <a:p>
            <a:pPr algn="l">
              <a:lnSpc>
                <a:spcPct val="112000"/>
              </a:lnSpc>
            </a:pPr>
            <a:r>
              <a:rPr sz="900" b="0">
                <a:solidFill>
                  <a:srgbClr val="B8C6B6"/>
                </a:solidFill>
                <a:latin typeface="微软雅黑"/>
                <a:ea typeface="微软雅黑"/>
                <a:cs typeface="微软雅黑"/>
              </a:rPr>
              <a:t>───────────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D97606"/>
                </a:solidFill>
                <a:latin typeface="微软雅黑"/>
                <a:ea typeface="微软雅黑"/>
                <a:cs typeface="微软雅黑"/>
              </a:rPr>
              <a:t>性能 </a:t>
            </a:r>
            <a:r>
              <a:rPr sz="105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单次推理 ≤ 2 秒</a:t>
            </a:r>
          </a:p>
        </p:txBody>
      </p:sp>
      <p:sp>
        <p:nvSpPr>
          <p:cNvPr id="1048625" name="Rounded Rectangle 1048624"/>
          <p:cNvSpPr/>
          <p:nvPr/>
        </p:nvSpPr>
        <p:spPr>
          <a:xfrm>
            <a:off x="502920" y="4736592"/>
            <a:ext cx="11183111" cy="420624"/>
          </a:xfrm>
          <a:prstGeom prst="roundRect">
            <a:avLst>
              <a:gd name="adj" fmla="val 10000"/>
            </a:avLst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26" name="Rectangle 1048625"/>
          <p:cNvSpPr/>
          <p:nvPr/>
        </p:nvSpPr>
        <p:spPr>
          <a:xfrm>
            <a:off x="502920" y="4736592"/>
            <a:ext cx="91440" cy="42062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27" name="TextBox 1048626"/>
          <p:cNvSpPr txBox="1"/>
          <p:nvPr/>
        </p:nvSpPr>
        <p:spPr>
          <a:xfrm>
            <a:off x="777240" y="4736592"/>
            <a:ext cx="107716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97606"/>
                </a:solidFill>
                <a:latin typeface="微软雅黑"/>
                <a:ea typeface="微软雅黑"/>
                <a:cs typeface="微软雅黑"/>
              </a:rPr>
              <a:t>核心成果   </a:t>
            </a:r>
            <a:r>
              <a:rPr sz="13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双引擎互补归因 · 全模态 R²=0.907（随机 8:2）· 共识核心因子＝</a:t>
            </a:r>
            <a:r>
              <a:rPr sz="1300" b="1">
                <a:solidFill>
                  <a:srgbClr val="1E5A8E"/>
                </a:solidFill>
                <a:latin typeface="微软雅黑"/>
                <a:ea typeface="微软雅黑"/>
                <a:cs typeface="微软雅黑"/>
              </a:rPr>
              <a:t>平均气温 Temp</a:t>
            </a:r>
          </a:p>
        </p:txBody>
      </p:sp>
      <p:sp>
        <p:nvSpPr>
          <p:cNvPr id="1048628" name="TextBox 1048627"/>
          <p:cNvSpPr txBox="1"/>
          <p:nvPr/>
        </p:nvSpPr>
        <p:spPr>
          <a:xfrm>
            <a:off x="502920" y="5248656"/>
            <a:ext cx="54864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97606"/>
                </a:solidFill>
                <a:latin typeface="微软雅黑"/>
                <a:ea typeface="微软雅黑"/>
                <a:cs typeface="微软雅黑"/>
              </a:rPr>
              <a:t>三大创新贯穿全程</a:t>
            </a:r>
          </a:p>
        </p:txBody>
      </p:sp>
      <p:sp>
        <p:nvSpPr>
          <p:cNvPr id="1048629" name="Rounded Rectangle 1048628"/>
          <p:cNvSpPr/>
          <p:nvPr/>
        </p:nvSpPr>
        <p:spPr>
          <a:xfrm>
            <a:off x="502920" y="5468112"/>
            <a:ext cx="3544824" cy="786384"/>
          </a:xfrm>
          <a:prstGeom prst="roundRect">
            <a:avLst>
              <a:gd name="adj" fmla="val 10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30" name="Rectangle 1048629"/>
          <p:cNvSpPr/>
          <p:nvPr/>
        </p:nvSpPr>
        <p:spPr>
          <a:xfrm>
            <a:off x="502920" y="5468112"/>
            <a:ext cx="82296" cy="786384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31" name="TextBox 1048630"/>
          <p:cNvSpPr txBox="1"/>
          <p:nvPr/>
        </p:nvSpPr>
        <p:spPr>
          <a:xfrm>
            <a:off x="722376" y="5559552"/>
            <a:ext cx="3179064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1E5A8E"/>
                </a:solidFill>
                <a:latin typeface="微软雅黑"/>
                <a:ea typeface="微软雅黑"/>
                <a:cs typeface="微软雅黑"/>
              </a:rPr>
              <a:t>数据层   </a:t>
            </a:r>
            <a:r>
              <a:rPr sz="1250" b="1">
                <a:solidFill>
                  <a:srgbClr val="262B2A"/>
                </a:solidFill>
                <a:latin typeface="微软雅黑"/>
                <a:ea typeface="微软雅黑"/>
                <a:cs typeface="微软雅黑"/>
              </a:rPr>
              <a:t>多模态异构融合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统计 + 遥感 + 气象 + GIS 四源协同</a:t>
            </a:r>
          </a:p>
        </p:txBody>
      </p:sp>
      <p:sp>
        <p:nvSpPr>
          <p:cNvPr id="1048632" name="Rounded Rectangle 1048631"/>
          <p:cNvSpPr/>
          <p:nvPr/>
        </p:nvSpPr>
        <p:spPr>
          <a:xfrm>
            <a:off x="4322064" y="5468112"/>
            <a:ext cx="3544824" cy="786384"/>
          </a:xfrm>
          <a:prstGeom prst="roundRect">
            <a:avLst>
              <a:gd name="adj" fmla="val 10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33" name="Rectangle 1048632"/>
          <p:cNvSpPr/>
          <p:nvPr/>
        </p:nvSpPr>
        <p:spPr>
          <a:xfrm>
            <a:off x="4322064" y="5468112"/>
            <a:ext cx="82296" cy="78638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34" name="TextBox 1048633"/>
          <p:cNvSpPr txBox="1"/>
          <p:nvPr/>
        </p:nvSpPr>
        <p:spPr>
          <a:xfrm>
            <a:off x="4541520" y="5559552"/>
            <a:ext cx="3179064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D97606"/>
                </a:solidFill>
                <a:latin typeface="微软雅黑"/>
                <a:ea typeface="微软雅黑"/>
                <a:cs typeface="微软雅黑"/>
              </a:rPr>
              <a:t>方法层   </a:t>
            </a:r>
            <a:r>
              <a:rPr sz="1250" b="1">
                <a:solidFill>
                  <a:srgbClr val="262B2A"/>
                </a:solidFill>
                <a:latin typeface="微软雅黑"/>
                <a:ea typeface="微软雅黑"/>
                <a:cs typeface="微软雅黑"/>
              </a:rPr>
              <a:t>可解释 AI 双引擎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XGBoost-SHAP × Attention-LSTM 互补验证</a:t>
            </a:r>
          </a:p>
        </p:txBody>
      </p:sp>
      <p:sp>
        <p:nvSpPr>
          <p:cNvPr id="1048635" name="Rounded Rectangle 1048634"/>
          <p:cNvSpPr/>
          <p:nvPr/>
        </p:nvSpPr>
        <p:spPr>
          <a:xfrm>
            <a:off x="8141208" y="5468112"/>
            <a:ext cx="3544824" cy="786384"/>
          </a:xfrm>
          <a:prstGeom prst="roundRect">
            <a:avLst>
              <a:gd name="adj" fmla="val 10000"/>
            </a:avLst>
          </a:prstGeom>
          <a:solidFill>
            <a:srgbClr val="F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36" name="Rectangle 1048635"/>
          <p:cNvSpPr/>
          <p:nvPr/>
        </p:nvSpPr>
        <p:spPr>
          <a:xfrm>
            <a:off x="8141208" y="5468112"/>
            <a:ext cx="82296" cy="786384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637" name="TextBox 1048636"/>
          <p:cNvSpPr txBox="1"/>
          <p:nvPr/>
        </p:nvSpPr>
        <p:spPr>
          <a:xfrm>
            <a:off x="8360664" y="5559552"/>
            <a:ext cx="3179064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1F4D2E"/>
                </a:solidFill>
                <a:latin typeface="微软雅黑"/>
                <a:ea typeface="微软雅黑"/>
                <a:cs typeface="微软雅黑"/>
              </a:rPr>
              <a:t>应用层   </a:t>
            </a:r>
            <a:r>
              <a:rPr sz="1250" b="1">
                <a:solidFill>
                  <a:srgbClr val="262B2A"/>
                </a:solidFill>
                <a:latin typeface="微软雅黑"/>
                <a:ea typeface="微软雅黑"/>
                <a:cs typeface="微软雅黑"/>
              </a:rPr>
              <a:t>可视化决策落地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4A5552"/>
                </a:solidFill>
                <a:latin typeface="微软雅黑"/>
                <a:ea typeface="微软雅黑"/>
                <a:cs typeface="微软雅黑"/>
              </a:rPr>
              <a:t>研究成果 → 决策工具的工程化闭环</a:t>
            </a:r>
          </a:p>
        </p:txBody>
      </p:sp>
    </p:spTree>
    <p:extLst>
      <p:ext uri="{BB962C8B-B14F-4D97-AF65-F5344CB8AC3E}">
        <p14:creationId xmlns:p14="http://schemas.microsoft.com/office/powerpoint/2010/main" val="2151533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7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774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8777" name="TextBox 6"/>
          <p:cNvSpPr txBox="1"/>
          <p:nvPr/>
        </p:nvSpPr>
        <p:spPr>
          <a:xfrm>
            <a:off x="487680" y="477520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多模态数据集构建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FD7C3980-A46F-D8F0-CC7C-B1042C18B2D4}"/>
              </a:ext>
            </a:extLst>
          </p:cNvPr>
          <p:cNvSpPr/>
          <p:nvPr/>
        </p:nvSpPr>
        <p:spPr>
          <a:xfrm>
            <a:off x="400050" y="973582"/>
            <a:ext cx="3403600" cy="73152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8F7FE81-D47F-E9F1-FA11-B2D658980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482289"/>
              </p:ext>
            </p:extLst>
          </p:nvPr>
        </p:nvGraphicFramePr>
        <p:xfrm>
          <a:off x="4585156" y="1090931"/>
          <a:ext cx="7473493" cy="5151121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182798">
                  <a:extLst>
                    <a:ext uri="{9D8B030D-6E8A-4147-A177-3AD203B41FA5}">
                      <a16:colId xmlns:a16="http://schemas.microsoft.com/office/drawing/2014/main" val="3633009745"/>
                    </a:ext>
                  </a:extLst>
                </a:gridCol>
                <a:gridCol w="1358230">
                  <a:extLst>
                    <a:ext uri="{9D8B030D-6E8A-4147-A177-3AD203B41FA5}">
                      <a16:colId xmlns:a16="http://schemas.microsoft.com/office/drawing/2014/main" val="818026736"/>
                    </a:ext>
                  </a:extLst>
                </a:gridCol>
                <a:gridCol w="878650">
                  <a:extLst>
                    <a:ext uri="{9D8B030D-6E8A-4147-A177-3AD203B41FA5}">
                      <a16:colId xmlns:a16="http://schemas.microsoft.com/office/drawing/2014/main" val="2302784847"/>
                    </a:ext>
                  </a:extLst>
                </a:gridCol>
                <a:gridCol w="878650">
                  <a:extLst>
                    <a:ext uri="{9D8B030D-6E8A-4147-A177-3AD203B41FA5}">
                      <a16:colId xmlns:a16="http://schemas.microsoft.com/office/drawing/2014/main" val="948476351"/>
                    </a:ext>
                  </a:extLst>
                </a:gridCol>
                <a:gridCol w="3175165">
                  <a:extLst>
                    <a:ext uri="{9D8B030D-6E8A-4147-A177-3AD203B41FA5}">
                      <a16:colId xmlns:a16="http://schemas.microsoft.com/office/drawing/2014/main" val="437890406"/>
                    </a:ext>
                  </a:extLst>
                </a:gridCol>
              </a:tblGrid>
              <a:tr h="35333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b="1" dirty="0"/>
                        <a:t>变量类别</a:t>
                      </a:r>
                      <a:endParaRPr lang="zh-CN" sz="14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b="1"/>
                        <a:t>变量名称</a:t>
                      </a:r>
                      <a:endParaRPr lang="zh-CN" sz="1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b="1"/>
                        <a:t>符号</a:t>
                      </a:r>
                      <a:endParaRPr lang="zh-CN" sz="1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b="1"/>
                        <a:t>单位</a:t>
                      </a:r>
                      <a:endParaRPr lang="zh-CN" sz="14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400" b="1" dirty="0"/>
                        <a:t>计算</a:t>
                      </a:r>
                      <a:r>
                        <a:rPr lang="en-US" altLang="zh-CN" sz="1400" b="1" dirty="0"/>
                        <a:t>/</a:t>
                      </a:r>
                      <a:r>
                        <a:rPr lang="zh-CN" sz="1400" b="1" dirty="0"/>
                        <a:t>定义说明</a:t>
                      </a:r>
                      <a:endParaRPr lang="zh-CN" sz="14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710932409"/>
                  </a:ext>
                </a:extLst>
              </a:tr>
              <a:tr h="63255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被解释变量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粮食单产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Y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kg/ha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各省域年度粮食实际单产（由原始统计数据重算）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744072136"/>
                  </a:ext>
                </a:extLst>
              </a:tr>
              <a:tr h="353995">
                <a:tc rowSpan="4"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解释变量：气候因子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平均气温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 dirty="0"/>
                        <a:t>Temp</a:t>
                      </a:r>
                      <a:endParaRPr lang="en-US" altLang="zh-CN" sz="12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°C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年度省域平均气温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724565668"/>
                  </a:ext>
                </a:extLst>
              </a:tr>
              <a:tr h="3520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干旱指数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SPEI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 dirty="0"/>
                        <a:t>—</a:t>
                      </a:r>
                      <a:endParaRPr lang="en-US" altLang="zh-CN" sz="12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标准化降水蒸散指数（月均值）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656357478"/>
                  </a:ext>
                </a:extLst>
              </a:tr>
              <a:tr h="3539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降水量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Prec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mm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年度累计降水量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425343608"/>
                  </a:ext>
                </a:extLst>
              </a:tr>
              <a:tr h="35333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日照时数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Sun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 dirty="0"/>
                        <a:t>h</a:t>
                      </a:r>
                      <a:endParaRPr lang="en-US" altLang="zh-CN" sz="1200" dirty="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年度累计日照总时长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485286296"/>
                  </a:ext>
                </a:extLst>
              </a:tr>
              <a:tr h="352671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解释变量：致灾因子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洪涝占比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Flood_R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%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洪涝受灾面积占总受灾面积比重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327964190"/>
                  </a:ext>
                </a:extLst>
              </a:tr>
              <a:tr h="35333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旱灾受灾面积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Drou_A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khm²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年度旱灾实际受灾、成灾面积统计值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2289108047"/>
                  </a:ext>
                </a:extLst>
              </a:tr>
              <a:tr h="3539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水灾受灾面积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Flood_A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khm²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年度水灾实际受灾、成灾面积统计值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3674333893"/>
                  </a:ext>
                </a:extLst>
              </a:tr>
              <a:tr h="352010">
                <a:tc rowSpan="3"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解释变量：生产韧性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灌溉率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Irr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%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有效灌溉面积占耕地面积比重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764352792"/>
                  </a:ext>
                </a:extLst>
              </a:tr>
              <a:tr h="3539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农机总动力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Mech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kW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衡量农业机械化与现代化水平指标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545994896"/>
                  </a:ext>
                </a:extLst>
              </a:tr>
              <a:tr h="35201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化肥施用量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Fert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t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 dirty="0"/>
                        <a:t>衡量农业生产投入强度的指标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441196054"/>
                  </a:ext>
                </a:extLst>
              </a:tr>
              <a:tr h="63388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解释变量：遥感因子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zh-CN" sz="1200"/>
                        <a:t>植被指数</a:t>
                      </a:r>
                      <a:endParaRPr lang="zh-CN" sz="12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NDVI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/>
                        <a:t>—</a:t>
                      </a:r>
                      <a:endParaRPr lang="en-US" altLang="zh-CN" sz="12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16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CN" sz="1200" dirty="0"/>
                        <a:t>MODIS</a:t>
                      </a:r>
                      <a:r>
                        <a:rPr lang="zh-CN" sz="1200" dirty="0"/>
                        <a:t>归一化植被指数，生长季均值</a:t>
                      </a:r>
                      <a:endParaRPr lang="zh-CN" sz="12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0800" marR="50800" marT="25400" marB="25400" anchor="ctr"/>
                </a:tc>
                <a:extLst>
                  <a:ext uri="{0D108BD9-81ED-4DB2-BD59-A6C34878D82A}">
                    <a16:rowId xmlns:a16="http://schemas.microsoft.com/office/drawing/2014/main" val="1902264590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BA1FFC75-A421-2A23-A6BC-826B7FEB4A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009"/>
          <a:stretch>
            <a:fillRect/>
          </a:stretch>
        </p:blipFill>
        <p:spPr>
          <a:xfrm>
            <a:off x="49201" y="1278634"/>
            <a:ext cx="4476750" cy="48613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0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51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52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8855" name="TextBox 6"/>
          <p:cNvSpPr txBox="1"/>
          <p:nvPr/>
        </p:nvSpPr>
        <p:spPr>
          <a:xfrm>
            <a:off x="457200" y="327852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双引擎协同验证机制</a:t>
            </a:r>
            <a:endParaRPr sz="3200" b="1" dirty="0">
              <a:solidFill>
                <a:srgbClr val="1F4D2E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856" name="Rectangle 7"/>
          <p:cNvSpPr/>
          <p:nvPr/>
        </p:nvSpPr>
        <p:spPr>
          <a:xfrm>
            <a:off x="444500" y="867920"/>
            <a:ext cx="3696970" cy="100798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57" name="TextBox 8"/>
          <p:cNvSpPr txBox="1"/>
          <p:nvPr/>
        </p:nvSpPr>
        <p:spPr>
          <a:xfrm>
            <a:off x="457200" y="1119888"/>
            <a:ext cx="11247120" cy="394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两个原理不同的模型 → 独立建模 → 交叉印证 → 共识因子稳健</a:t>
            </a:r>
          </a:p>
        </p:txBody>
      </p:sp>
      <p:sp>
        <p:nvSpPr>
          <p:cNvPr id="1048858" name="Rectangle 9"/>
          <p:cNvSpPr/>
          <p:nvPr/>
        </p:nvSpPr>
        <p:spPr>
          <a:xfrm>
            <a:off x="548640" y="1659312"/>
            <a:ext cx="3840480" cy="237744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60" name="TextBox 11"/>
          <p:cNvSpPr txBox="1"/>
          <p:nvPr/>
        </p:nvSpPr>
        <p:spPr>
          <a:xfrm>
            <a:off x="548640" y="1901564"/>
            <a:ext cx="3840480" cy="394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XGBoost + SHAP</a:t>
            </a:r>
          </a:p>
        </p:txBody>
      </p:sp>
      <p:sp>
        <p:nvSpPr>
          <p:cNvPr id="1048861" name="TextBox 12"/>
          <p:cNvSpPr txBox="1"/>
          <p:nvPr/>
        </p:nvSpPr>
        <p:spPr>
          <a:xfrm>
            <a:off x="777240" y="2347652"/>
            <a:ext cx="3383280" cy="14338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数据驱动归因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非线性树模型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全局</a:t>
            </a:r>
            <a:r>
              <a:rPr sz="1600" b="0" dirty="0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/</a:t>
            </a: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个体</a:t>
            </a:r>
            <a:r>
              <a:rPr sz="1600" b="0" dirty="0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/</a:t>
            </a: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交互三维归因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横截面归因视角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862" name="Rectangle 13"/>
          <p:cNvSpPr/>
          <p:nvPr/>
        </p:nvSpPr>
        <p:spPr>
          <a:xfrm>
            <a:off x="7772400" y="1659312"/>
            <a:ext cx="3840480" cy="237744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64" name="TextBox 15"/>
          <p:cNvSpPr txBox="1"/>
          <p:nvPr/>
        </p:nvSpPr>
        <p:spPr>
          <a:xfrm>
            <a:off x="7772400" y="1950777"/>
            <a:ext cx="3840480" cy="3943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Attention-LSTM</a:t>
            </a:r>
          </a:p>
        </p:txBody>
      </p:sp>
      <p:sp>
        <p:nvSpPr>
          <p:cNvPr id="1048865" name="TextBox 16"/>
          <p:cNvSpPr txBox="1"/>
          <p:nvPr/>
        </p:nvSpPr>
        <p:spPr>
          <a:xfrm>
            <a:off x="8001000" y="2347652"/>
            <a:ext cx="3383280" cy="14338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时序响应归因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深度时序模型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注意力加权</a:t>
            </a:r>
            <a:r>
              <a:rPr sz="1600" b="0" dirty="0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softmax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</a:pPr>
            <a:r>
              <a:rPr sz="1600" b="0" dirty="0" err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时序归因视角</a:t>
            </a:r>
            <a:endParaRPr sz="1600" b="0" dirty="0">
              <a:solidFill>
                <a:srgbClr val="E8F0E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866" name="Right Arrow 17"/>
          <p:cNvSpPr/>
          <p:nvPr/>
        </p:nvSpPr>
        <p:spPr>
          <a:xfrm>
            <a:off x="4434840" y="2665152"/>
            <a:ext cx="640080" cy="365760"/>
          </a:xfrm>
          <a:prstGeom prst="rightArrow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67" name="Left Arrow 18"/>
          <p:cNvSpPr/>
          <p:nvPr/>
        </p:nvSpPr>
        <p:spPr>
          <a:xfrm>
            <a:off x="7086600" y="2665152"/>
            <a:ext cx="640080" cy="365760"/>
          </a:xfrm>
          <a:prstGeom prst="leftArrow">
            <a:avLst/>
          </a:prstGeom>
          <a:solidFill>
            <a:srgbClr val="D97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68" name="Rectangle 19"/>
          <p:cNvSpPr/>
          <p:nvPr/>
        </p:nvSpPr>
        <p:spPr>
          <a:xfrm>
            <a:off x="5074920" y="1842192"/>
            <a:ext cx="2057400" cy="201168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869" name="TextBox 20"/>
          <p:cNvSpPr txBox="1"/>
          <p:nvPr/>
        </p:nvSpPr>
        <p:spPr>
          <a:xfrm>
            <a:off x="5074920" y="2007112"/>
            <a:ext cx="2057400" cy="204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交叉印证</a:t>
            </a:r>
          </a:p>
        </p:txBody>
      </p:sp>
      <p:sp>
        <p:nvSpPr>
          <p:cNvPr id="1048870" name="TextBox 21"/>
          <p:cNvSpPr txBox="1"/>
          <p:nvPr/>
        </p:nvSpPr>
        <p:spPr>
          <a:xfrm>
            <a:off x="5052060" y="2320709"/>
            <a:ext cx="2057400" cy="394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互补归因</a:t>
            </a:r>
          </a:p>
        </p:txBody>
      </p:sp>
      <p:sp>
        <p:nvSpPr>
          <p:cNvPr id="1048871" name="TextBox 22"/>
          <p:cNvSpPr txBox="1"/>
          <p:nvPr/>
        </p:nvSpPr>
        <p:spPr>
          <a:xfrm>
            <a:off x="5074920" y="2869349"/>
            <a:ext cx="2057400" cy="746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Top-K 因子</a:t>
            </a:r>
          </a:p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仅 Temp 重合</a:t>
            </a:r>
          </a:p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· 互补视角</a:t>
            </a:r>
          </a:p>
        </p:txBody>
      </p:sp>
      <p:sp>
        <p:nvSpPr>
          <p:cNvPr id="1048872" name="Rectangle 23"/>
          <p:cNvSpPr/>
          <p:nvPr/>
        </p:nvSpPr>
        <p:spPr>
          <a:xfrm>
            <a:off x="501650" y="4138441"/>
            <a:ext cx="5340350" cy="225119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Rectangle 23">
            <a:extLst>
              <a:ext uri="{FF2B5EF4-FFF2-40B4-BE49-F238E27FC236}">
                <a16:creationId xmlns:a16="http://schemas.microsoft.com/office/drawing/2014/main" id="{A36967ED-23D6-945E-61C5-AA6357CD82B9}"/>
              </a:ext>
            </a:extLst>
          </p:cNvPr>
          <p:cNvSpPr/>
          <p:nvPr/>
        </p:nvSpPr>
        <p:spPr>
          <a:xfrm>
            <a:off x="6457950" y="4158393"/>
            <a:ext cx="5306060" cy="2218468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B69531B9-98B0-6834-0A34-39DD404CABAE}"/>
              </a:ext>
            </a:extLst>
          </p:cNvPr>
          <p:cNvSpPr txBox="1"/>
          <p:nvPr/>
        </p:nvSpPr>
        <p:spPr>
          <a:xfrm>
            <a:off x="623570" y="4244621"/>
            <a:ext cx="46634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 err="1">
                <a:solidFill>
                  <a:srgbClr val="D97606"/>
                </a:solidFill>
                <a:latin typeface="微软雅黑" panose="020B0503020204020204" charset="-122"/>
              </a:rPr>
              <a:t>加法模型</a:t>
            </a:r>
            <a:endParaRPr sz="1100" b="1" i="0" dirty="0">
              <a:solidFill>
                <a:srgbClr val="D97606"/>
              </a:solidFill>
              <a:latin typeface="微软雅黑" panose="020B0503020204020204" charset="-122"/>
            </a:endParaRPr>
          </a:p>
        </p:txBody>
      </p:sp>
      <p:sp>
        <p:nvSpPr>
          <p:cNvPr id="4" name="TextBox 14">
            <a:extLst>
              <a:ext uri="{FF2B5EF4-FFF2-40B4-BE49-F238E27FC236}">
                <a16:creationId xmlns:a16="http://schemas.microsoft.com/office/drawing/2014/main" id="{697EEF44-E3B5-69C1-E448-03CFA3C5D753}"/>
              </a:ext>
            </a:extLst>
          </p:cNvPr>
          <p:cNvSpPr txBox="1"/>
          <p:nvPr/>
        </p:nvSpPr>
        <p:spPr>
          <a:xfrm>
            <a:off x="1417320" y="418454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 i="1">
                <a:solidFill>
                  <a:srgbClr val="1A1A1A"/>
                </a:solidFill>
                <a:latin typeface="Arial" panose="020B0604020202020204"/>
              </a:rPr>
              <a:t>ŷ</a:t>
            </a:r>
            <a:r>
              <a:rPr sz="1100" b="1" i="0">
                <a:solidFill>
                  <a:srgbClr val="1A1A1A"/>
                </a:solidFill>
                <a:latin typeface="Arial" panose="020B0604020202020204"/>
              </a:rPr>
              <a:t>ᵢ</a:t>
            </a:r>
            <a:r>
              <a:rPr sz="1400" b="1" i="0">
                <a:solidFill>
                  <a:srgbClr val="1A1A1A"/>
                </a:solidFill>
                <a:latin typeface="Arial" panose="020B0604020202020204"/>
              </a:rPr>
              <a:t> = </a:t>
            </a:r>
            <a:r>
              <a:rPr sz="1500" b="1" i="0">
                <a:solidFill>
                  <a:srgbClr val="1A1A1A"/>
                </a:solidFill>
                <a:latin typeface="Arial" panose="020B0604020202020204"/>
              </a:rPr>
              <a:t>∑</a:t>
            </a:r>
            <a:r>
              <a:rPr sz="1400" b="1" i="0">
                <a:solidFill>
                  <a:srgbClr val="1A1A1A"/>
                </a:solidFill>
                <a:latin typeface="Arial" panose="020B0604020202020204"/>
              </a:rPr>
              <a:t> </a:t>
            </a:r>
            <a:r>
              <a:rPr sz="1400" b="1" i="1">
                <a:solidFill>
                  <a:srgbClr val="1A1A1A"/>
                </a:solidFill>
                <a:latin typeface="Arial" panose="020B0604020202020204"/>
              </a:rPr>
              <a:t>f</a:t>
            </a:r>
            <a:r>
              <a:rPr sz="1100" b="1" i="0">
                <a:solidFill>
                  <a:srgbClr val="1A1A1A"/>
                </a:solidFill>
                <a:latin typeface="Arial" panose="020B0604020202020204"/>
              </a:rPr>
              <a:t>ₖ</a:t>
            </a:r>
            <a:r>
              <a:rPr sz="1400" b="1" i="0">
                <a:solidFill>
                  <a:srgbClr val="1A1A1A"/>
                </a:solidFill>
                <a:latin typeface="Arial" panose="020B0604020202020204"/>
              </a:rPr>
              <a:t>(</a:t>
            </a:r>
            <a:r>
              <a:rPr sz="1400" b="1" i="1">
                <a:solidFill>
                  <a:srgbClr val="1A1A1A"/>
                </a:solidFill>
                <a:latin typeface="Arial" panose="020B0604020202020204"/>
              </a:rPr>
              <a:t>x</a:t>
            </a:r>
            <a:r>
              <a:rPr sz="1100" b="1" i="0">
                <a:solidFill>
                  <a:srgbClr val="1A1A1A"/>
                </a:solidFill>
                <a:latin typeface="Arial" panose="020B0604020202020204"/>
              </a:rPr>
              <a:t>ᵢ</a:t>
            </a:r>
            <a:r>
              <a:rPr sz="1400" b="1" i="0">
                <a:solidFill>
                  <a:srgbClr val="1A1A1A"/>
                </a:solidFill>
                <a:latin typeface="Arial" panose="020B0604020202020204"/>
              </a:rPr>
              <a:t>),  </a:t>
            </a:r>
            <a:r>
              <a:rPr sz="1400" b="1" i="1">
                <a:solidFill>
                  <a:srgbClr val="1A1A1A"/>
                </a:solidFill>
                <a:latin typeface="Arial" panose="020B0604020202020204"/>
              </a:rPr>
              <a:t>k</a:t>
            </a:r>
            <a:r>
              <a:rPr sz="1400" b="1" i="0">
                <a:solidFill>
                  <a:srgbClr val="1A1A1A"/>
                </a:solidFill>
                <a:latin typeface="Arial" panose="020B0604020202020204"/>
              </a:rPr>
              <a:t> = 1, …, </a:t>
            </a:r>
            <a:r>
              <a:rPr sz="1400" b="1" i="1">
                <a:solidFill>
                  <a:srgbClr val="1A1A1A"/>
                </a:solidFill>
                <a:latin typeface="Arial" panose="020B0604020202020204"/>
              </a:rPr>
              <a:t>K</a:t>
            </a: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BD87484D-9BDC-CA58-8C98-3498E6C9529E}"/>
              </a:ext>
            </a:extLst>
          </p:cNvPr>
          <p:cNvSpPr txBox="1"/>
          <p:nvPr/>
        </p:nvSpPr>
        <p:spPr>
          <a:xfrm>
            <a:off x="623570" y="4562299"/>
            <a:ext cx="46634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 err="1">
                <a:solidFill>
                  <a:srgbClr val="D97606"/>
                </a:solidFill>
                <a:latin typeface="微软雅黑" panose="020B0503020204020204" charset="-122"/>
              </a:rPr>
              <a:t>目标函数</a:t>
            </a:r>
            <a:endParaRPr sz="1100" b="1" i="0" dirty="0">
              <a:solidFill>
                <a:srgbClr val="D97606"/>
              </a:solidFill>
              <a:latin typeface="微软雅黑" panose="020B0503020204020204" charset="-122"/>
            </a:endParaRP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2F9A277B-E951-3AAA-F5E0-4AC93828865A}"/>
              </a:ext>
            </a:extLst>
          </p:cNvPr>
          <p:cNvSpPr txBox="1"/>
          <p:nvPr/>
        </p:nvSpPr>
        <p:spPr>
          <a:xfrm>
            <a:off x="1364615" y="4528547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400" b="1" i="0" dirty="0">
                <a:solidFill>
                  <a:srgbClr val="1A1A1A"/>
                </a:solidFill>
                <a:latin typeface="Arial" panose="020B0604020202020204"/>
              </a:rPr>
              <a:t>Obj = </a:t>
            </a:r>
            <a:r>
              <a:rPr sz="1500" b="1" i="0" dirty="0">
                <a:solidFill>
                  <a:srgbClr val="1A1A1A"/>
                </a:solidFill>
                <a:latin typeface="Arial" panose="020B0604020202020204"/>
              </a:rPr>
              <a:t>∑</a:t>
            </a:r>
            <a:r>
              <a:rPr sz="1400" b="1" i="0" dirty="0">
                <a:solidFill>
                  <a:srgbClr val="1A1A1A"/>
                </a:solidFill>
                <a:latin typeface="Arial" panose="020B0604020202020204"/>
              </a:rPr>
              <a:t> L(</a:t>
            </a:r>
            <a:r>
              <a:rPr sz="1400" b="1" i="1" dirty="0">
                <a:solidFill>
                  <a:srgbClr val="1A1A1A"/>
                </a:solidFill>
                <a:latin typeface="Arial" panose="020B0604020202020204"/>
              </a:rPr>
              <a:t>y</a:t>
            </a:r>
            <a:r>
              <a:rPr sz="1100" b="1" i="0" dirty="0">
                <a:solidFill>
                  <a:srgbClr val="1A1A1A"/>
                </a:solidFill>
                <a:latin typeface="Arial" panose="020B0604020202020204"/>
              </a:rPr>
              <a:t>ᵢ</a:t>
            </a:r>
            <a:r>
              <a:rPr sz="1400" b="1" i="0" dirty="0">
                <a:solidFill>
                  <a:srgbClr val="1A1A1A"/>
                </a:solidFill>
                <a:latin typeface="Arial" panose="020B0604020202020204"/>
              </a:rPr>
              <a:t>, </a:t>
            </a:r>
            <a:r>
              <a:rPr sz="1400" b="1" i="1" dirty="0">
                <a:solidFill>
                  <a:srgbClr val="1A1A1A"/>
                </a:solidFill>
                <a:latin typeface="Arial" panose="020B0604020202020204"/>
              </a:rPr>
              <a:t>ŷ</a:t>
            </a:r>
            <a:r>
              <a:rPr sz="1100" b="1" i="0" dirty="0">
                <a:solidFill>
                  <a:srgbClr val="1A1A1A"/>
                </a:solidFill>
                <a:latin typeface="Arial" panose="020B0604020202020204"/>
              </a:rPr>
              <a:t>ᵢ</a:t>
            </a:r>
            <a:r>
              <a:rPr sz="1400" b="1" i="0" dirty="0">
                <a:solidFill>
                  <a:srgbClr val="1A1A1A"/>
                </a:solidFill>
                <a:latin typeface="Arial" panose="020B0604020202020204"/>
              </a:rPr>
              <a:t>) + </a:t>
            </a:r>
            <a:r>
              <a:rPr sz="1500" b="1" i="0" dirty="0">
                <a:solidFill>
                  <a:srgbClr val="1A1A1A"/>
                </a:solidFill>
                <a:latin typeface="Arial" panose="020B0604020202020204"/>
              </a:rPr>
              <a:t>∑</a:t>
            </a:r>
            <a:r>
              <a:rPr sz="1400" b="1" i="0" dirty="0">
                <a:solidFill>
                  <a:srgbClr val="1A1A1A"/>
                </a:solidFill>
                <a:latin typeface="Arial" panose="020B0604020202020204"/>
              </a:rPr>
              <a:t> Ω(</a:t>
            </a:r>
            <a:r>
              <a:rPr sz="1400" b="1" i="1" dirty="0">
                <a:solidFill>
                  <a:srgbClr val="1A1A1A"/>
                </a:solidFill>
                <a:latin typeface="Arial" panose="020B0604020202020204"/>
              </a:rPr>
              <a:t>f</a:t>
            </a:r>
            <a:r>
              <a:rPr sz="1100" b="1" i="0" dirty="0">
                <a:solidFill>
                  <a:srgbClr val="1A1A1A"/>
                </a:solidFill>
                <a:latin typeface="Arial" panose="020B0604020202020204"/>
              </a:rPr>
              <a:t>ₖ</a:t>
            </a:r>
            <a:r>
              <a:rPr sz="1400" b="1" i="0" dirty="0">
                <a:solidFill>
                  <a:srgbClr val="1A1A1A"/>
                </a:solidFill>
                <a:latin typeface="Arial" panose="020B0604020202020204"/>
              </a:rPr>
              <a:t>)</a:t>
            </a:r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10872DB2-D452-170D-49CC-75F0E6484D49}"/>
              </a:ext>
            </a:extLst>
          </p:cNvPr>
          <p:cNvSpPr txBox="1"/>
          <p:nvPr/>
        </p:nvSpPr>
        <p:spPr>
          <a:xfrm>
            <a:off x="623570" y="4840741"/>
            <a:ext cx="4846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A1A1A"/>
                </a:solidFill>
                <a:latin typeface="微软雅黑" panose="020B0503020204020204" charset="-122"/>
              </a:rPr>
              <a:t>非线性建模</a:t>
            </a:r>
            <a:endParaRPr sz="1400" b="1" i="0" dirty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E4EA5C38-133D-32B2-1074-683B0910F7AE}"/>
              </a:ext>
            </a:extLst>
          </p:cNvPr>
          <p:cNvSpPr txBox="1"/>
          <p:nvPr/>
        </p:nvSpPr>
        <p:spPr>
          <a:xfrm>
            <a:off x="1794510" y="4853475"/>
            <a:ext cx="4846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 err="1">
                <a:solidFill>
                  <a:srgbClr val="4A5552"/>
                </a:solidFill>
                <a:latin typeface="微软雅黑" panose="020B0503020204020204" charset="-122"/>
              </a:rPr>
              <a:t>捕捉气温</a:t>
            </a:r>
            <a:r>
              <a:rPr sz="1400" b="0" i="0" dirty="0">
                <a:solidFill>
                  <a:srgbClr val="4A5552"/>
                </a:solidFill>
                <a:latin typeface="微软雅黑" panose="020B0503020204020204" charset="-122"/>
              </a:rPr>
              <a:t> × </a:t>
            </a:r>
            <a:r>
              <a:rPr sz="1400" b="0" i="0" dirty="0" err="1">
                <a:solidFill>
                  <a:srgbClr val="4A5552"/>
                </a:solidFill>
                <a:latin typeface="微软雅黑" panose="020B0503020204020204" charset="-122"/>
              </a:rPr>
              <a:t>灌溉</a:t>
            </a:r>
            <a:r>
              <a:rPr sz="1400" b="0" i="0" dirty="0">
                <a:solidFill>
                  <a:srgbClr val="4A5552"/>
                </a:solidFill>
                <a:latin typeface="微软雅黑" panose="020B0503020204020204" charset="-122"/>
              </a:rPr>
              <a:t> × </a:t>
            </a:r>
            <a:r>
              <a:rPr sz="1400" b="0" i="0" dirty="0" err="1">
                <a:solidFill>
                  <a:srgbClr val="4A5552"/>
                </a:solidFill>
                <a:latin typeface="微软雅黑" panose="020B0503020204020204" charset="-122"/>
              </a:rPr>
              <a:t>降水的多因子耦合</a:t>
            </a:r>
            <a:endParaRPr sz="1400" b="0" i="0" dirty="0">
              <a:solidFill>
                <a:srgbClr val="4A5552"/>
              </a:solidFill>
              <a:latin typeface="微软雅黑" panose="020B0503020204020204" charset="-122"/>
            </a:endParaRPr>
          </a:p>
        </p:txBody>
      </p:sp>
      <p:sp>
        <p:nvSpPr>
          <p:cNvPr id="9" name="TextBox 23">
            <a:extLst>
              <a:ext uri="{FF2B5EF4-FFF2-40B4-BE49-F238E27FC236}">
                <a16:creationId xmlns:a16="http://schemas.microsoft.com/office/drawing/2014/main" id="{D3EE84AA-B194-0644-32BE-98273462D132}"/>
              </a:ext>
            </a:extLst>
          </p:cNvPr>
          <p:cNvSpPr txBox="1"/>
          <p:nvPr/>
        </p:nvSpPr>
        <p:spPr>
          <a:xfrm>
            <a:off x="623570" y="5141114"/>
            <a:ext cx="4846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A1A1A"/>
                </a:solidFill>
                <a:latin typeface="微软雅黑" panose="020B0503020204020204" charset="-122"/>
              </a:rPr>
              <a:t>抗过拟合</a:t>
            </a:r>
            <a:endParaRPr sz="1400" b="1" i="0" dirty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" name="TextBox 24">
            <a:extLst>
              <a:ext uri="{FF2B5EF4-FFF2-40B4-BE49-F238E27FC236}">
                <a16:creationId xmlns:a16="http://schemas.microsoft.com/office/drawing/2014/main" id="{EC926987-C455-9CF1-D105-979F3E072907}"/>
              </a:ext>
            </a:extLst>
          </p:cNvPr>
          <p:cNvSpPr txBox="1"/>
          <p:nvPr/>
        </p:nvSpPr>
        <p:spPr>
          <a:xfrm>
            <a:off x="1794510" y="5141102"/>
            <a:ext cx="4846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 err="1">
                <a:solidFill>
                  <a:srgbClr val="4A5552"/>
                </a:solidFill>
                <a:latin typeface="微软雅黑" panose="020B0503020204020204" charset="-122"/>
              </a:rPr>
              <a:t>正则惩罚下</a:t>
            </a:r>
            <a:r>
              <a:rPr sz="1400" b="0" i="0" dirty="0">
                <a:solidFill>
                  <a:srgbClr val="4A5552"/>
                </a:solidFill>
                <a:latin typeface="微软雅黑" panose="020B0503020204020204" charset="-122"/>
              </a:rPr>
              <a:t> 403 </a:t>
            </a:r>
            <a:r>
              <a:rPr sz="1400" b="0" i="0" dirty="0" err="1">
                <a:solidFill>
                  <a:srgbClr val="4A5552"/>
                </a:solidFill>
                <a:latin typeface="微软雅黑" panose="020B0503020204020204" charset="-122"/>
              </a:rPr>
              <a:t>样本仍保持稳健</a:t>
            </a:r>
            <a:endParaRPr sz="1400" b="0" i="0" dirty="0">
              <a:solidFill>
                <a:srgbClr val="4A555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65388C28-9524-8915-0FA6-9C8257641253}"/>
              </a:ext>
            </a:extLst>
          </p:cNvPr>
          <p:cNvSpPr txBox="1"/>
          <p:nvPr/>
        </p:nvSpPr>
        <p:spPr>
          <a:xfrm>
            <a:off x="623570" y="5461161"/>
            <a:ext cx="4846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 err="1">
                <a:solidFill>
                  <a:srgbClr val="1A1A1A"/>
                </a:solidFill>
                <a:latin typeface="微软雅黑" panose="020B0503020204020204" charset="-122"/>
              </a:rPr>
              <a:t>测试集实测</a:t>
            </a:r>
            <a:endParaRPr sz="1400" b="1" i="0" dirty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27">
            <a:extLst>
              <a:ext uri="{FF2B5EF4-FFF2-40B4-BE49-F238E27FC236}">
                <a16:creationId xmlns:a16="http://schemas.microsoft.com/office/drawing/2014/main" id="{921BD2D4-CF8B-9B9F-4B0B-A0F8660BA984}"/>
              </a:ext>
            </a:extLst>
          </p:cNvPr>
          <p:cNvSpPr txBox="1"/>
          <p:nvPr/>
        </p:nvSpPr>
        <p:spPr>
          <a:xfrm>
            <a:off x="1794510" y="5453637"/>
            <a:ext cx="4846320" cy="320040"/>
          </a:xfrm>
          <a:prstGeom prst="rect">
            <a:avLst/>
          </a:prstGeom>
          <a:noFill/>
        </p:spPr>
        <p:txBody>
          <a:bodyPr wrap="square" lIns="0" tIns="0" bIns="0"/>
          <a:lstStyle/>
          <a:p>
            <a:pPr algn="l"/>
            <a:r>
              <a:rPr sz="1400" dirty="0">
                <a:solidFill>
                  <a:srgbClr val="4A5552"/>
                </a:solidFill>
                <a:latin typeface="微软雅黑" panose="020B0503020204020204" charset="-122"/>
              </a:rPr>
              <a:t>R² = </a:t>
            </a:r>
            <a:r>
              <a:rPr sz="1400" b="1" dirty="0">
                <a:solidFill>
                  <a:srgbClr val="1F4D2E"/>
                </a:solidFill>
                <a:latin typeface="Arial" panose="020B0604020202020204"/>
              </a:rPr>
              <a:t>0.907</a:t>
            </a:r>
            <a:r>
              <a:rPr sz="1400" dirty="0">
                <a:solidFill>
                  <a:srgbClr val="4A5552"/>
                </a:solidFill>
                <a:latin typeface="微软雅黑" panose="020B0503020204020204" charset="-122"/>
              </a:rPr>
              <a:t>    </a:t>
            </a:r>
            <a:r>
              <a:rPr sz="1400" dirty="0" err="1">
                <a:solidFill>
                  <a:srgbClr val="4A5552"/>
                </a:solidFill>
                <a:latin typeface="微软雅黑" panose="020B0503020204020204" charset="-122"/>
              </a:rPr>
              <a:t>解释</a:t>
            </a:r>
            <a:r>
              <a:rPr sz="1400" dirty="0">
                <a:solidFill>
                  <a:srgbClr val="4A5552"/>
                </a:solidFill>
                <a:latin typeface="微软雅黑" panose="020B0503020204020204" charset="-122"/>
              </a:rPr>
              <a:t> 90.7% </a:t>
            </a:r>
            <a:r>
              <a:rPr sz="1400" dirty="0" err="1">
                <a:solidFill>
                  <a:srgbClr val="4A5552"/>
                </a:solidFill>
                <a:latin typeface="微软雅黑" panose="020B0503020204020204" charset="-122"/>
              </a:rPr>
              <a:t>的风险波动</a:t>
            </a:r>
            <a:endParaRPr sz="1400" dirty="0">
              <a:solidFill>
                <a:srgbClr val="4A5552"/>
              </a:solidFill>
              <a:latin typeface="微软雅黑" panose="020B0503020204020204" charset="-122"/>
            </a:endParaRPr>
          </a:p>
        </p:txBody>
      </p:sp>
      <p:sp>
        <p:nvSpPr>
          <p:cNvPr id="13" name="TextBox 26">
            <a:extLst>
              <a:ext uri="{FF2B5EF4-FFF2-40B4-BE49-F238E27FC236}">
                <a16:creationId xmlns:a16="http://schemas.microsoft.com/office/drawing/2014/main" id="{44F6F9C1-258B-C23B-618A-E5C118BAE048}"/>
              </a:ext>
            </a:extLst>
          </p:cNvPr>
          <p:cNvSpPr txBox="1"/>
          <p:nvPr/>
        </p:nvSpPr>
        <p:spPr>
          <a:xfrm>
            <a:off x="599765" y="5840344"/>
            <a:ext cx="48463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CN" sz="1400" b="1" i="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</a:t>
            </a:r>
            <a:r>
              <a:rPr lang="zh-CN" altLang="en-US" sz="1400" b="1" i="0" dirty="0">
                <a:solidFill>
                  <a:srgbClr val="1A1A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归因维度</a:t>
            </a:r>
            <a:endParaRPr sz="1400" b="1" i="0" dirty="0">
              <a:solidFill>
                <a:srgbClr val="1A1A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21">
            <a:extLst>
              <a:ext uri="{FF2B5EF4-FFF2-40B4-BE49-F238E27FC236}">
                <a16:creationId xmlns:a16="http://schemas.microsoft.com/office/drawing/2014/main" id="{430F3D57-7502-6A4D-9248-937FEE8DE3AA}"/>
              </a:ext>
            </a:extLst>
          </p:cNvPr>
          <p:cNvSpPr txBox="1"/>
          <p:nvPr/>
        </p:nvSpPr>
        <p:spPr>
          <a:xfrm>
            <a:off x="1899783" y="5822122"/>
            <a:ext cx="4846320" cy="10772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zh-CN" sz="1400" dirty="0" err="1">
                <a:solidFill>
                  <a:srgbClr val="4A5552"/>
                </a:solidFill>
                <a:latin typeface="微软雅黑" panose="020B0503020204020204" charset="-122"/>
              </a:rPr>
              <a:t>Mean|SHAP</a:t>
            </a:r>
            <a:r>
              <a:rPr lang="en-US" altLang="zh-CN" sz="1400" dirty="0">
                <a:solidFill>
                  <a:srgbClr val="4A5552"/>
                </a:solidFill>
                <a:latin typeface="微软雅黑" panose="020B0503020204020204" charset="-122"/>
              </a:rPr>
              <a:t> value| </a:t>
            </a:r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</a:rPr>
              <a:t>对特征排序、瀑布图分解</a:t>
            </a:r>
            <a:endParaRPr lang="en-US" altLang="zh-CN" sz="1400" dirty="0">
              <a:solidFill>
                <a:srgbClr val="4A5552"/>
              </a:solidFill>
              <a:latin typeface="微软雅黑" panose="020B0503020204020204" charset="-122"/>
            </a:endParaRPr>
          </a:p>
          <a:p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</a:rPr>
              <a:t>单样本预测、</a:t>
            </a:r>
            <a:r>
              <a:rPr lang="en-US" altLang="zh-CN" sz="1400" dirty="0">
                <a:solidFill>
                  <a:srgbClr val="4A5552"/>
                </a:solidFill>
                <a:latin typeface="微软雅黑" panose="020B0503020204020204" charset="-122"/>
              </a:rPr>
              <a:t>SHAP </a:t>
            </a:r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</a:rPr>
              <a:t>交互依赖图揭示非线性耦合</a:t>
            </a:r>
          </a:p>
          <a:p>
            <a:endParaRPr lang="zh-CN" altLang="en-US" sz="1400" dirty="0">
              <a:solidFill>
                <a:srgbClr val="4A5552"/>
              </a:solidFill>
              <a:latin typeface="微软雅黑" panose="020B0503020204020204" charset="-122"/>
            </a:endParaRPr>
          </a:p>
          <a:p>
            <a:endParaRPr lang="zh-CN" altLang="en-US" sz="1400" dirty="0">
              <a:solidFill>
                <a:srgbClr val="4A5552"/>
              </a:solidFill>
              <a:latin typeface="微软雅黑" panose="020B0503020204020204" charset="-122"/>
            </a:endParaRPr>
          </a:p>
          <a:p>
            <a:pPr algn="l"/>
            <a:endParaRPr sz="1400" b="0" i="0" dirty="0">
              <a:solidFill>
                <a:srgbClr val="4A55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C6BA81F-C343-EFA9-1E36-0E873EAA2178}"/>
              </a:ext>
            </a:extLst>
          </p:cNvPr>
          <p:cNvSpPr txBox="1"/>
          <p:nvPr/>
        </p:nvSpPr>
        <p:spPr>
          <a:xfrm>
            <a:off x="6457950" y="4179117"/>
            <a:ext cx="6096000" cy="318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架构与机制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494570F-6099-9DFA-6C53-1B01F0921B90}"/>
              </a:ext>
            </a:extLst>
          </p:cNvPr>
          <p:cNvSpPr txBox="1"/>
          <p:nvPr/>
        </p:nvSpPr>
        <p:spPr>
          <a:xfrm>
            <a:off x="6712570" y="4634144"/>
            <a:ext cx="62781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1A1A1A"/>
                </a:solidFill>
                <a:latin typeface="微软雅黑" panose="020B0503020204020204" charset="-122"/>
              </a:rPr>
              <a:t>LSTM </a:t>
            </a:r>
            <a:r>
              <a:rPr lang="zh-CN" altLang="en-US" sz="1400" b="1" dirty="0">
                <a:solidFill>
                  <a:srgbClr val="1A1A1A"/>
                </a:solidFill>
                <a:latin typeface="微软雅黑" panose="020B0503020204020204" charset="-122"/>
              </a:rPr>
              <a:t>门控记忆 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F82CE33-1471-7F8B-7F24-7C3D10099768}"/>
              </a:ext>
            </a:extLst>
          </p:cNvPr>
          <p:cNvSpPr txBox="1"/>
          <p:nvPr/>
        </p:nvSpPr>
        <p:spPr>
          <a:xfrm>
            <a:off x="6692544" y="5037936"/>
            <a:ext cx="6460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1A1A1A"/>
                </a:solidFill>
                <a:latin typeface="微软雅黑" panose="020B0503020204020204" charset="-122"/>
              </a:rPr>
              <a:t>Attention </a:t>
            </a:r>
            <a:r>
              <a:rPr lang="zh-CN" altLang="en-US" sz="1400" b="1" dirty="0">
                <a:solidFill>
                  <a:srgbClr val="1A1A1A"/>
                </a:solidFill>
                <a:latin typeface="微软雅黑" panose="020B0503020204020204" charset="-122"/>
              </a:rPr>
              <a:t>加权 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C1BE775-9BB4-9AA2-5E8B-05D007022F9E}"/>
              </a:ext>
            </a:extLst>
          </p:cNvPr>
          <p:cNvSpPr txBox="1"/>
          <p:nvPr/>
        </p:nvSpPr>
        <p:spPr>
          <a:xfrm>
            <a:off x="6603334" y="5402305"/>
            <a:ext cx="6549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 </a:t>
            </a:r>
            <a:r>
              <a:rPr lang="zh-CN" altLang="en-US" sz="1400" b="1" dirty="0">
                <a:solidFill>
                  <a:srgbClr val="1A1A1A"/>
                </a:solidFill>
                <a:latin typeface="微软雅黑" panose="020B0503020204020204" charset="-122"/>
              </a:rPr>
              <a:t>时序敏感性</a:t>
            </a:r>
            <a:r>
              <a:rPr lang="zh-CN" altLang="en-US" sz="1800" dirty="0">
                <a:solidFill>
                  <a:srgbClr val="1A1A1A"/>
                </a:solidFill>
                <a:latin typeface="微软雅黑" panose="020B0503020204020204" charset="-122"/>
              </a:rPr>
              <a:t> 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241893F-25D2-013A-8EAA-0190ED63337B}"/>
              </a:ext>
            </a:extLst>
          </p:cNvPr>
          <p:cNvSpPr txBox="1"/>
          <p:nvPr/>
        </p:nvSpPr>
        <p:spPr>
          <a:xfrm>
            <a:off x="6692544" y="5855143"/>
            <a:ext cx="65494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1A1A1A"/>
                </a:solidFill>
                <a:latin typeface="微软雅黑" panose="020B0503020204020204" charset="-122"/>
              </a:rPr>
              <a:t>双重验证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D05E007B-3938-12FC-99D8-73AC08AF4D01}"/>
              </a:ext>
            </a:extLst>
          </p:cNvPr>
          <p:cNvSpPr txBox="1"/>
          <p:nvPr/>
        </p:nvSpPr>
        <p:spPr>
          <a:xfrm>
            <a:off x="8130910" y="4163369"/>
            <a:ext cx="3931920" cy="2285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dirty="0" err="1">
                <a:solidFill>
                  <a:srgbClr val="D97606"/>
                </a:solidFill>
                <a:latin typeface="微软雅黑" panose="020B0503020204020204" charset="-122"/>
              </a:rPr>
              <a:t>单样本实测验证</a:t>
            </a:r>
            <a:endParaRPr sz="1400" b="1" dirty="0">
              <a:solidFill>
                <a:srgbClr val="D97606"/>
              </a:solidFill>
              <a:latin typeface="微软雅黑" panose="020B050302020402020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F53E65A-DCD3-2D5B-526F-158E63133BFC}"/>
              </a:ext>
            </a:extLst>
          </p:cNvPr>
          <p:cNvSpPr/>
          <p:nvPr/>
        </p:nvSpPr>
        <p:spPr>
          <a:xfrm>
            <a:off x="8408020" y="4463072"/>
            <a:ext cx="3282330" cy="1847875"/>
          </a:xfrm>
          <a:prstGeom prst="rect">
            <a:avLst/>
          </a:prstGeom>
          <a:solidFill>
            <a:schemeClr val="lt1">
              <a:alpha val="57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0763383-5CC4-51A0-2E5D-6EAE8EF3DD73}"/>
              </a:ext>
            </a:extLst>
          </p:cNvPr>
          <p:cNvSpPr txBox="1"/>
          <p:nvPr/>
        </p:nvSpPr>
        <p:spPr>
          <a:xfrm>
            <a:off x="8408020" y="4522007"/>
            <a:ext cx="2438880" cy="318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400" dirty="0">
                <a:solidFill>
                  <a:srgbClr val="4A5552"/>
                </a:solidFill>
                <a:latin typeface="微软雅黑" panose="020B0503020204020204" charset="-122"/>
              </a:rPr>
              <a:t>Case · </a:t>
            </a:r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</a:rPr>
              <a:t>河南省 </a:t>
            </a:r>
            <a:r>
              <a:rPr lang="en-US" altLang="zh-CN" sz="1400" dirty="0">
                <a:solidFill>
                  <a:srgbClr val="4A5552"/>
                </a:solidFill>
                <a:latin typeface="微软雅黑" panose="020B0503020204020204" charset="-122"/>
              </a:rPr>
              <a:t>2022</a:t>
            </a: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7019702B-C2F2-231C-7305-030A66A5F91A}"/>
              </a:ext>
            </a:extLst>
          </p:cNvPr>
          <p:cNvSpPr txBox="1"/>
          <p:nvPr/>
        </p:nvSpPr>
        <p:spPr>
          <a:xfrm>
            <a:off x="8568426" y="4895542"/>
            <a:ext cx="3566160" cy="195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dirty="0" err="1">
                <a:solidFill>
                  <a:srgbClr val="4A5552"/>
                </a:solidFill>
                <a:latin typeface="微软雅黑" panose="020B0503020204020204" charset="-122"/>
              </a:rPr>
              <a:t>真实单产</a:t>
            </a:r>
            <a:endParaRPr sz="1200" dirty="0">
              <a:solidFill>
                <a:srgbClr val="4A5552"/>
              </a:solidFill>
              <a:latin typeface="微软雅黑" panose="020B050302020402020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3DD581A-BDDA-97F9-CC73-700C75F3A6FD}"/>
              </a:ext>
            </a:extLst>
          </p:cNvPr>
          <p:cNvSpPr txBox="1"/>
          <p:nvPr/>
        </p:nvSpPr>
        <p:spPr>
          <a:xfrm>
            <a:off x="8465186" y="5139024"/>
            <a:ext cx="6646126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800" b="1" dirty="0">
                <a:solidFill>
                  <a:schemeClr val="accent3">
                    <a:lumMod val="50000"/>
                  </a:schemeClr>
                </a:solidFill>
                <a:latin typeface="Arial" panose="020B0604020202020204"/>
                <a:cs typeface="Arial" panose="020B0604020202020204"/>
              </a:rPr>
              <a:t>4615 kg/ha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054719E-AD4E-372C-E970-1DC6B420B195}"/>
              </a:ext>
            </a:extLst>
          </p:cNvPr>
          <p:cNvSpPr txBox="1"/>
          <p:nvPr/>
        </p:nvSpPr>
        <p:spPr>
          <a:xfrm>
            <a:off x="10073835" y="4871023"/>
            <a:ext cx="1844520" cy="28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1200" dirty="0" err="1">
                <a:solidFill>
                  <a:srgbClr val="4A5552"/>
                </a:solidFill>
                <a:latin typeface="微软雅黑" panose="020B0503020204020204" charset="-122"/>
              </a:rPr>
              <a:t>Att</a:t>
            </a:r>
            <a:r>
              <a:rPr lang="en-US" altLang="zh-CN" sz="1200" dirty="0">
                <a:solidFill>
                  <a:srgbClr val="4A5552"/>
                </a:solidFill>
                <a:latin typeface="微软雅黑" panose="020B0503020204020204" charset="-122"/>
              </a:rPr>
              <a:t>-LSTM </a:t>
            </a:r>
            <a:r>
              <a:rPr lang="zh-CN" altLang="en-US" sz="1200" dirty="0">
                <a:solidFill>
                  <a:srgbClr val="4A5552"/>
                </a:solidFill>
                <a:latin typeface="微软雅黑" panose="020B0503020204020204" charset="-122"/>
              </a:rPr>
              <a:t>预测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B4F03DE-1F7C-8633-439F-E930DD61C1A2}"/>
              </a:ext>
            </a:extLst>
          </p:cNvPr>
          <p:cNvSpPr txBox="1"/>
          <p:nvPr/>
        </p:nvSpPr>
        <p:spPr>
          <a:xfrm>
            <a:off x="10039954" y="5131763"/>
            <a:ext cx="1772533" cy="38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800" b="1" dirty="0">
                <a:solidFill>
                  <a:srgbClr val="D97606"/>
                </a:solidFill>
                <a:latin typeface="Arial" panose="020B0604020202020204"/>
                <a:cs typeface="Arial" panose="020B0604020202020204"/>
              </a:rPr>
              <a:t>4657.6 kg/ha</a:t>
            </a:r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32D34051-E36A-C95B-E2E0-8F37FF3C0ABC}"/>
              </a:ext>
            </a:extLst>
          </p:cNvPr>
          <p:cNvSpPr/>
          <p:nvPr/>
        </p:nvSpPr>
        <p:spPr>
          <a:xfrm>
            <a:off x="8531015" y="5521736"/>
            <a:ext cx="3037415" cy="719629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21">
            <a:extLst>
              <a:ext uri="{FF2B5EF4-FFF2-40B4-BE49-F238E27FC236}">
                <a16:creationId xmlns:a16="http://schemas.microsoft.com/office/drawing/2014/main" id="{2AC07451-7DA7-D5D7-E9B5-C9582599D5CA}"/>
              </a:ext>
            </a:extLst>
          </p:cNvPr>
          <p:cNvSpPr txBox="1"/>
          <p:nvPr/>
        </p:nvSpPr>
        <p:spPr>
          <a:xfrm>
            <a:off x="8892138" y="5567456"/>
            <a:ext cx="2248767" cy="163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dirty="0" err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预测误差</a:t>
            </a:r>
            <a:endParaRPr sz="1000" b="1" dirty="0">
              <a:solidFill>
                <a:srgbClr val="D9760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22">
            <a:extLst>
              <a:ext uri="{FF2B5EF4-FFF2-40B4-BE49-F238E27FC236}">
                <a16:creationId xmlns:a16="http://schemas.microsoft.com/office/drawing/2014/main" id="{FDFCEF3B-61A0-251A-8D9F-C1E0EB524BE1}"/>
              </a:ext>
            </a:extLst>
          </p:cNvPr>
          <p:cNvSpPr txBox="1"/>
          <p:nvPr/>
        </p:nvSpPr>
        <p:spPr>
          <a:xfrm>
            <a:off x="8809462" y="5848762"/>
            <a:ext cx="2574817" cy="259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dirty="0">
                <a:solidFill>
                  <a:srgbClr val="1F4D2E"/>
                </a:solidFill>
                <a:latin typeface="Arial" panose="020B0604020202020204"/>
                <a:cs typeface="Arial" panose="020B0604020202020204"/>
              </a:rPr>
              <a:t>+42.6 kg/ha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65D8162-8CD0-EA7E-452F-3787B7499D07}"/>
              </a:ext>
            </a:extLst>
          </p:cNvPr>
          <p:cNvSpPr txBox="1"/>
          <p:nvPr/>
        </p:nvSpPr>
        <p:spPr>
          <a:xfrm>
            <a:off x="6484565" y="4588337"/>
            <a:ext cx="282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▸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AAF2973-E860-3321-ABEA-38DB915AD7A8}"/>
              </a:ext>
            </a:extLst>
          </p:cNvPr>
          <p:cNvSpPr txBox="1"/>
          <p:nvPr/>
        </p:nvSpPr>
        <p:spPr>
          <a:xfrm>
            <a:off x="6480253" y="4993486"/>
            <a:ext cx="282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▸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80FF2EA-572C-68B5-2C18-8CF353C1B770}"/>
              </a:ext>
            </a:extLst>
          </p:cNvPr>
          <p:cNvSpPr txBox="1"/>
          <p:nvPr/>
        </p:nvSpPr>
        <p:spPr>
          <a:xfrm>
            <a:off x="6473177" y="5405708"/>
            <a:ext cx="282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▸</a:t>
            </a:r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C17567A-F5DD-AC67-0E2E-AF8A55E444A2}"/>
              </a:ext>
            </a:extLst>
          </p:cNvPr>
          <p:cNvSpPr txBox="1"/>
          <p:nvPr/>
        </p:nvSpPr>
        <p:spPr>
          <a:xfrm>
            <a:off x="6484565" y="5822122"/>
            <a:ext cx="282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▸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A716B7-6C3F-D133-7030-8D3542727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8" name="Rectangle 1">
            <a:extLst>
              <a:ext uri="{FF2B5EF4-FFF2-40B4-BE49-F238E27FC236}">
                <a16:creationId xmlns:a16="http://schemas.microsoft.com/office/drawing/2014/main" id="{DAB8A30F-7666-04EB-5A2C-95C985311EEC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959" name="Rectangle 2">
            <a:extLst>
              <a:ext uri="{FF2B5EF4-FFF2-40B4-BE49-F238E27FC236}">
                <a16:creationId xmlns:a16="http://schemas.microsoft.com/office/drawing/2014/main" id="{3CF7B99E-28A5-07C2-670A-E72CB8C029DC}"/>
              </a:ext>
            </a:extLst>
          </p:cNvPr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960" name="TextBox 3">
            <a:extLst>
              <a:ext uri="{FF2B5EF4-FFF2-40B4-BE49-F238E27FC236}">
                <a16:creationId xmlns:a16="http://schemas.microsoft.com/office/drawing/2014/main" id="{9D346EC7-DB41-DE22-0491-17D201B5BCD4}"/>
              </a:ext>
            </a:extLst>
          </p:cNvPr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8963" name="TextBox 6">
            <a:extLst>
              <a:ext uri="{FF2B5EF4-FFF2-40B4-BE49-F238E27FC236}">
                <a16:creationId xmlns:a16="http://schemas.microsoft.com/office/drawing/2014/main" id="{D2BF26A7-D4DE-E494-FE79-A5D821018EE6}"/>
              </a:ext>
            </a:extLst>
          </p:cNvPr>
          <p:cNvSpPr txBox="1"/>
          <p:nvPr/>
        </p:nvSpPr>
        <p:spPr>
          <a:xfrm>
            <a:off x="320040" y="258836"/>
            <a:ext cx="11247120" cy="522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3200" b="1" dirty="0">
                <a:solidFill>
                  <a:srgbClr val="1F4D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双引擎归因互补验证与多模态融合增益</a:t>
            </a:r>
            <a:endParaRPr sz="3200" b="1" dirty="0">
              <a:solidFill>
                <a:srgbClr val="1F4D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1048964" name="Rectangle 7">
            <a:extLst>
              <a:ext uri="{FF2B5EF4-FFF2-40B4-BE49-F238E27FC236}">
                <a16:creationId xmlns:a16="http://schemas.microsoft.com/office/drawing/2014/main" id="{B834448E-9F1A-6C24-F554-7D87509E7924}"/>
              </a:ext>
            </a:extLst>
          </p:cNvPr>
          <p:cNvSpPr/>
          <p:nvPr/>
        </p:nvSpPr>
        <p:spPr>
          <a:xfrm>
            <a:off x="320039" y="815561"/>
            <a:ext cx="6943121" cy="73152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5">
            <a:extLst>
              <a:ext uri="{FF2B5EF4-FFF2-40B4-BE49-F238E27FC236}">
                <a16:creationId xmlns:a16="http://schemas.microsoft.com/office/drawing/2014/main" id="{56E38653-C316-E581-9E97-FD86943770C1}"/>
              </a:ext>
            </a:extLst>
          </p:cNvPr>
          <p:cNvSpPr/>
          <p:nvPr/>
        </p:nvSpPr>
        <p:spPr>
          <a:xfrm>
            <a:off x="299516" y="1071740"/>
            <a:ext cx="5486400" cy="3395287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schemeClr val="accent6">
                    <a:lumMod val="75000"/>
                  </a:schemeClr>
                </a:solidFill>
              </a:rPr>
              <a:t>仅重叠</a:t>
            </a:r>
            <a:endParaRPr lang="zh-CN" alt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Rectangle 26">
            <a:extLst>
              <a:ext uri="{FF2B5EF4-FFF2-40B4-BE49-F238E27FC236}">
                <a16:creationId xmlns:a16="http://schemas.microsoft.com/office/drawing/2014/main" id="{B2ACC761-2297-1B37-87E8-F2BAE84A18AA}"/>
              </a:ext>
            </a:extLst>
          </p:cNvPr>
          <p:cNvSpPr/>
          <p:nvPr/>
        </p:nvSpPr>
        <p:spPr>
          <a:xfrm>
            <a:off x="299517" y="1057708"/>
            <a:ext cx="5486400" cy="459245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25">
            <a:extLst>
              <a:ext uri="{FF2B5EF4-FFF2-40B4-BE49-F238E27FC236}">
                <a16:creationId xmlns:a16="http://schemas.microsoft.com/office/drawing/2014/main" id="{ACF3F084-BDAC-82E1-0300-5E38F50BE702}"/>
              </a:ext>
            </a:extLst>
          </p:cNvPr>
          <p:cNvSpPr/>
          <p:nvPr/>
        </p:nvSpPr>
        <p:spPr>
          <a:xfrm>
            <a:off x="6096000" y="1064387"/>
            <a:ext cx="5865356" cy="3395286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26">
            <a:extLst>
              <a:ext uri="{FF2B5EF4-FFF2-40B4-BE49-F238E27FC236}">
                <a16:creationId xmlns:a16="http://schemas.microsoft.com/office/drawing/2014/main" id="{2A7DEAD8-1C18-44A6-1CB1-90D50C52B0F9}"/>
              </a:ext>
            </a:extLst>
          </p:cNvPr>
          <p:cNvSpPr/>
          <p:nvPr/>
        </p:nvSpPr>
        <p:spPr>
          <a:xfrm>
            <a:off x="6080760" y="1064387"/>
            <a:ext cx="5880596" cy="459245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124722D-0E39-2CA9-D192-BE8681ACA269}"/>
              </a:ext>
            </a:extLst>
          </p:cNvPr>
          <p:cNvSpPr txBox="1"/>
          <p:nvPr/>
        </p:nvSpPr>
        <p:spPr>
          <a:xfrm>
            <a:off x="255678" y="1089036"/>
            <a:ext cx="2973473" cy="385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sz="18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1.</a:t>
            </a:r>
            <a:r>
              <a:rPr lang="zh-CN" altLang="en-US" b="1" dirty="0">
                <a:solidFill>
                  <a:srgbClr val="FAFAF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双引擎归因的互补性验证</a:t>
            </a:r>
            <a:endParaRPr lang="en-US" altLang="zh-CN" sz="1800" b="1" dirty="0">
              <a:solidFill>
                <a:srgbClr val="FAFAF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2CB6D5E-D61B-5F63-5008-9611D9371BDF}"/>
              </a:ext>
            </a:extLst>
          </p:cNvPr>
          <p:cNvSpPr/>
          <p:nvPr/>
        </p:nvSpPr>
        <p:spPr>
          <a:xfrm>
            <a:off x="320040" y="4564118"/>
            <a:ext cx="11329267" cy="1727555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26">
            <a:extLst>
              <a:ext uri="{FF2B5EF4-FFF2-40B4-BE49-F238E27FC236}">
                <a16:creationId xmlns:a16="http://schemas.microsoft.com/office/drawing/2014/main" id="{501FFF63-9E01-FC61-7546-7FFCD758854E}"/>
              </a:ext>
            </a:extLst>
          </p:cNvPr>
          <p:cNvSpPr/>
          <p:nvPr/>
        </p:nvSpPr>
        <p:spPr>
          <a:xfrm>
            <a:off x="320039" y="4556765"/>
            <a:ext cx="5486401" cy="488016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AF3420C-E9D9-1F97-7F85-8A3787F91AC5}"/>
              </a:ext>
            </a:extLst>
          </p:cNvPr>
          <p:cNvSpPr txBox="1"/>
          <p:nvPr/>
        </p:nvSpPr>
        <p:spPr>
          <a:xfrm>
            <a:off x="6043589" y="1080270"/>
            <a:ext cx="3650538" cy="385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b="1" dirty="0">
                <a:solidFill>
                  <a:srgbClr val="FAFAF7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2.SHAP</a:t>
            </a:r>
            <a:r>
              <a:rPr lang="zh-CN" altLang="en-US" b="1" dirty="0">
                <a:solidFill>
                  <a:srgbClr val="FAFAF7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交互效应揭示非线性机理</a:t>
            </a:r>
            <a:endParaRPr lang="en-US" altLang="zh-CN" sz="1800" b="1" dirty="0">
              <a:solidFill>
                <a:srgbClr val="FAFAF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BE9766A6-9317-07AC-F832-F25E718CC42D}"/>
              </a:ext>
            </a:extLst>
          </p:cNvPr>
          <p:cNvSpPr txBox="1"/>
          <p:nvPr/>
        </p:nvSpPr>
        <p:spPr>
          <a:xfrm>
            <a:off x="6162907" y="1555339"/>
            <a:ext cx="5486400" cy="204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图 · </a:t>
            </a:r>
            <a:r>
              <a:rPr sz="1100"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灌溉率</a:t>
            </a:r>
            <a:r>
              <a:rPr sz="1100"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 × </a:t>
            </a:r>
            <a:r>
              <a:rPr sz="1100"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气温</a:t>
            </a:r>
            <a:r>
              <a:rPr sz="1100"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 SHAP </a:t>
            </a:r>
            <a:r>
              <a:rPr sz="1100"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交互依赖</a:t>
            </a:r>
            <a:endParaRPr sz="1100" b="1" dirty="0">
              <a:solidFill>
                <a:srgbClr val="1F4D2E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Picture 9" descr="fig6_shap_interaction.png">
            <a:extLst>
              <a:ext uri="{FF2B5EF4-FFF2-40B4-BE49-F238E27FC236}">
                <a16:creationId xmlns:a16="http://schemas.microsoft.com/office/drawing/2014/main" id="{4AAB7B19-57BA-5587-5FAC-BB3C212F2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907" y="1823973"/>
            <a:ext cx="3669529" cy="2446353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B122A6A-58AF-6960-8A90-D50644D87070}"/>
              </a:ext>
            </a:extLst>
          </p:cNvPr>
          <p:cNvSpPr/>
          <p:nvPr/>
        </p:nvSpPr>
        <p:spPr>
          <a:xfrm>
            <a:off x="10088137" y="1555339"/>
            <a:ext cx="1783823" cy="265982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89197CE-C4A1-BE93-217B-0CFBF3D0958B}"/>
              </a:ext>
            </a:extLst>
          </p:cNvPr>
          <p:cNvSpPr txBox="1"/>
          <p:nvPr/>
        </p:nvSpPr>
        <p:spPr>
          <a:xfrm>
            <a:off x="10140842" y="1616083"/>
            <a:ext cx="282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▸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F5798EF-190B-0B95-1CDC-10A8864386BA}"/>
              </a:ext>
            </a:extLst>
          </p:cNvPr>
          <p:cNvSpPr txBox="1"/>
          <p:nvPr/>
        </p:nvSpPr>
        <p:spPr>
          <a:xfrm>
            <a:off x="10153790" y="3266816"/>
            <a:ext cx="282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▸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F0FA18C-8EB3-6B6C-0D95-AF90DB41D10A}"/>
              </a:ext>
            </a:extLst>
          </p:cNvPr>
          <p:cNvSpPr txBox="1"/>
          <p:nvPr/>
        </p:nvSpPr>
        <p:spPr>
          <a:xfrm>
            <a:off x="10153790" y="2593145"/>
            <a:ext cx="282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D97606"/>
                </a:solidFill>
                <a:latin typeface="微软雅黑" panose="020B0503020204020204" charset="-122"/>
              </a:rPr>
              <a:t>▸</a:t>
            </a:r>
            <a:endParaRPr lang="zh-CN" altLang="en-US" dirty="0"/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90F21B08-1E2D-ACD0-7C89-0AB2CA72B376}"/>
              </a:ext>
            </a:extLst>
          </p:cNvPr>
          <p:cNvSpPr txBox="1"/>
          <p:nvPr/>
        </p:nvSpPr>
        <p:spPr>
          <a:xfrm>
            <a:off x="10532719" y="1659385"/>
            <a:ext cx="897281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1" dirty="0">
                <a:solidFill>
                  <a:srgbClr val="1F4D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核心发现</a:t>
            </a:r>
            <a:endParaRPr sz="1400" b="1" dirty="0">
              <a:solidFill>
                <a:srgbClr val="1F4D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AC987249-4D34-4C3D-956A-FD936A16F995}"/>
              </a:ext>
            </a:extLst>
          </p:cNvPr>
          <p:cNvSpPr txBox="1"/>
          <p:nvPr/>
        </p:nvSpPr>
        <p:spPr>
          <a:xfrm>
            <a:off x="10528998" y="2624723"/>
            <a:ext cx="744885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1" dirty="0">
                <a:solidFill>
                  <a:srgbClr val="1F4D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低温环境</a:t>
            </a:r>
            <a:endParaRPr sz="1400" b="1" dirty="0">
              <a:solidFill>
                <a:srgbClr val="1F4D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113BCDD2-24C2-DE21-1CAF-6C68AC0DA8F5}"/>
              </a:ext>
            </a:extLst>
          </p:cNvPr>
          <p:cNvSpPr txBox="1"/>
          <p:nvPr/>
        </p:nvSpPr>
        <p:spPr>
          <a:xfrm>
            <a:off x="10528998" y="3319444"/>
            <a:ext cx="901002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1" dirty="0">
                <a:solidFill>
                  <a:srgbClr val="1F4D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高温环境</a:t>
            </a:r>
            <a:endParaRPr sz="1400" b="1" dirty="0">
              <a:solidFill>
                <a:srgbClr val="1F4D2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6" name="TextBox 24">
            <a:extLst>
              <a:ext uri="{FF2B5EF4-FFF2-40B4-BE49-F238E27FC236}">
                <a16:creationId xmlns:a16="http://schemas.microsoft.com/office/drawing/2014/main" id="{E990D6E1-AD96-C206-D984-F68B29191A9F}"/>
              </a:ext>
            </a:extLst>
          </p:cNvPr>
          <p:cNvSpPr txBox="1"/>
          <p:nvPr/>
        </p:nvSpPr>
        <p:spPr>
          <a:xfrm>
            <a:off x="10262031" y="1949146"/>
            <a:ext cx="1609929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200" dirty="0">
                <a:solidFill>
                  <a:srgbClr val="4A5552"/>
                </a:solidFill>
                <a:latin typeface="微软雅黑" panose="020B0503020204020204" charset="-122"/>
              </a:rPr>
              <a:t>灌溉对风险具有降低作用，但在高温环境下</a:t>
            </a:r>
            <a:endParaRPr lang="en-US" altLang="zh-CN" sz="1200" dirty="0">
              <a:solidFill>
                <a:srgbClr val="4A5552"/>
              </a:solidFill>
              <a:latin typeface="微软雅黑" panose="020B0503020204020204" charset="-122"/>
            </a:endParaRPr>
          </a:p>
          <a:p>
            <a:pPr algn="l"/>
            <a:r>
              <a:rPr lang="zh-CN" altLang="en-US" sz="1200" dirty="0">
                <a:solidFill>
                  <a:srgbClr val="4A5552"/>
                </a:solidFill>
                <a:latin typeface="微软雅黑" panose="020B0503020204020204" charset="-122"/>
              </a:rPr>
              <a:t>其缓解效果被削弱</a:t>
            </a:r>
            <a:endParaRPr sz="1200" b="0" i="0" dirty="0">
              <a:solidFill>
                <a:srgbClr val="4A5552"/>
              </a:solidFill>
              <a:latin typeface="微软雅黑" panose="020B0503020204020204" charset="-122"/>
            </a:endParaRPr>
          </a:p>
        </p:txBody>
      </p:sp>
      <p:sp>
        <p:nvSpPr>
          <p:cNvPr id="7" name="TextBox 24">
            <a:extLst>
              <a:ext uri="{FF2B5EF4-FFF2-40B4-BE49-F238E27FC236}">
                <a16:creationId xmlns:a16="http://schemas.microsoft.com/office/drawing/2014/main" id="{93B3A27E-C054-D901-96DE-F9486E7EF7D0}"/>
              </a:ext>
            </a:extLst>
          </p:cNvPr>
          <p:cNvSpPr txBox="1"/>
          <p:nvPr/>
        </p:nvSpPr>
        <p:spPr>
          <a:xfrm>
            <a:off x="10275861" y="2949942"/>
            <a:ext cx="150338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200" b="0" i="0" dirty="0">
                <a:solidFill>
                  <a:srgbClr val="4A5552"/>
                </a:solidFill>
                <a:latin typeface="微软雅黑" panose="020B0503020204020204" charset="-122"/>
              </a:rPr>
              <a:t>灌溉显著降低风险</a:t>
            </a:r>
            <a:endParaRPr sz="1200" b="0" i="0" dirty="0">
              <a:solidFill>
                <a:srgbClr val="4A555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24">
            <a:extLst>
              <a:ext uri="{FF2B5EF4-FFF2-40B4-BE49-F238E27FC236}">
                <a16:creationId xmlns:a16="http://schemas.microsoft.com/office/drawing/2014/main" id="{F252DC7D-D728-9A48-FDAB-856F7A370190}"/>
              </a:ext>
            </a:extLst>
          </p:cNvPr>
          <p:cNvSpPr txBox="1"/>
          <p:nvPr/>
        </p:nvSpPr>
        <p:spPr>
          <a:xfrm>
            <a:off x="10225930" y="3616733"/>
            <a:ext cx="155331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200" dirty="0">
                <a:solidFill>
                  <a:srgbClr val="4A5552"/>
                </a:solidFill>
                <a:latin typeface="微软雅黑" panose="020B0503020204020204" charset="-122"/>
              </a:rPr>
              <a:t>灌溉作用减弱甚至效果不明显</a:t>
            </a:r>
            <a:endParaRPr sz="1200" b="0" i="0" dirty="0">
              <a:solidFill>
                <a:srgbClr val="4A5552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12">
            <a:extLst>
              <a:ext uri="{FF2B5EF4-FFF2-40B4-BE49-F238E27FC236}">
                <a16:creationId xmlns:a16="http://schemas.microsoft.com/office/drawing/2014/main" id="{3D34C212-F6EF-35C9-F9B5-95CCB23AFF5D}"/>
              </a:ext>
            </a:extLst>
          </p:cNvPr>
          <p:cNvSpPr/>
          <p:nvPr/>
        </p:nvSpPr>
        <p:spPr>
          <a:xfrm>
            <a:off x="490220" y="2131604"/>
            <a:ext cx="365760" cy="505835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3">
            <a:extLst>
              <a:ext uri="{FF2B5EF4-FFF2-40B4-BE49-F238E27FC236}">
                <a16:creationId xmlns:a16="http://schemas.microsoft.com/office/drawing/2014/main" id="{ECAB0C59-E6AA-D387-1CE6-EAD7F188F3D0}"/>
              </a:ext>
            </a:extLst>
          </p:cNvPr>
          <p:cNvSpPr txBox="1"/>
          <p:nvPr/>
        </p:nvSpPr>
        <p:spPr>
          <a:xfrm>
            <a:off x="487680" y="2158631"/>
            <a:ext cx="365760" cy="379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1</a:t>
            </a:r>
          </a:p>
        </p:txBody>
      </p:sp>
      <p:sp>
        <p:nvSpPr>
          <p:cNvPr id="24" name="Rectangle 16">
            <a:extLst>
              <a:ext uri="{FF2B5EF4-FFF2-40B4-BE49-F238E27FC236}">
                <a16:creationId xmlns:a16="http://schemas.microsoft.com/office/drawing/2014/main" id="{AEC59DDF-DA22-9276-8111-F4663062D171}"/>
              </a:ext>
            </a:extLst>
          </p:cNvPr>
          <p:cNvSpPr/>
          <p:nvPr/>
        </p:nvSpPr>
        <p:spPr>
          <a:xfrm>
            <a:off x="487680" y="2803157"/>
            <a:ext cx="365760" cy="610518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8EB60FB8-E11A-1545-E3DE-E05ADFF67B4A}"/>
              </a:ext>
            </a:extLst>
          </p:cNvPr>
          <p:cNvSpPr txBox="1"/>
          <p:nvPr/>
        </p:nvSpPr>
        <p:spPr>
          <a:xfrm>
            <a:off x="487680" y="2911780"/>
            <a:ext cx="365760" cy="379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2</a:t>
            </a:r>
          </a:p>
        </p:txBody>
      </p:sp>
      <p:sp>
        <p:nvSpPr>
          <p:cNvPr id="26" name="Rectangle 20">
            <a:extLst>
              <a:ext uri="{FF2B5EF4-FFF2-40B4-BE49-F238E27FC236}">
                <a16:creationId xmlns:a16="http://schemas.microsoft.com/office/drawing/2014/main" id="{0436B45E-909D-C447-11C3-BE05659DA1CF}"/>
              </a:ext>
            </a:extLst>
          </p:cNvPr>
          <p:cNvSpPr/>
          <p:nvPr/>
        </p:nvSpPr>
        <p:spPr>
          <a:xfrm>
            <a:off x="490220" y="3579393"/>
            <a:ext cx="365760" cy="505835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1">
            <a:extLst>
              <a:ext uri="{FF2B5EF4-FFF2-40B4-BE49-F238E27FC236}">
                <a16:creationId xmlns:a16="http://schemas.microsoft.com/office/drawing/2014/main" id="{C0CA47A5-F9A7-2A7E-1EDD-B2EB5E42FAB7}"/>
              </a:ext>
            </a:extLst>
          </p:cNvPr>
          <p:cNvSpPr txBox="1"/>
          <p:nvPr/>
        </p:nvSpPr>
        <p:spPr>
          <a:xfrm>
            <a:off x="490220" y="3642445"/>
            <a:ext cx="365760" cy="379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3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8AD22DC0-54D6-F93D-3459-CBEEAF76C7D1}"/>
              </a:ext>
            </a:extLst>
          </p:cNvPr>
          <p:cNvSpPr/>
          <p:nvPr/>
        </p:nvSpPr>
        <p:spPr>
          <a:xfrm>
            <a:off x="424397" y="1620723"/>
            <a:ext cx="2124710" cy="2716912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FC54602-D324-136F-7481-E039AB4F151C}"/>
              </a:ext>
            </a:extLst>
          </p:cNvPr>
          <p:cNvSpPr/>
          <p:nvPr/>
        </p:nvSpPr>
        <p:spPr>
          <a:xfrm>
            <a:off x="3562535" y="1616083"/>
            <a:ext cx="2124710" cy="2716912"/>
          </a:xfrm>
          <a:prstGeom prst="roundRect">
            <a:avLst/>
          </a:prstGeom>
          <a:noFill/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3E766CE-C217-F1DF-AABC-F1972286057D}"/>
              </a:ext>
            </a:extLst>
          </p:cNvPr>
          <p:cNvSpPr txBox="1"/>
          <p:nvPr/>
        </p:nvSpPr>
        <p:spPr>
          <a:xfrm>
            <a:off x="868680" y="2050400"/>
            <a:ext cx="858520" cy="35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NDVI</a:t>
            </a:r>
            <a:endParaRPr lang="zh-CN" altLang="en-US" sz="16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E17183D-1A91-66F4-96A2-05BAF6545536}"/>
              </a:ext>
            </a:extLst>
          </p:cNvPr>
          <p:cNvSpPr txBox="1"/>
          <p:nvPr/>
        </p:nvSpPr>
        <p:spPr>
          <a:xfrm>
            <a:off x="916723" y="2755331"/>
            <a:ext cx="858520" cy="35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600" b="1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Prec</a:t>
            </a:r>
            <a:endParaRPr lang="zh-CN" altLang="en-US" sz="16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25FD6F5-B933-8B06-6B93-46CB91DB01D2}"/>
              </a:ext>
            </a:extLst>
          </p:cNvPr>
          <p:cNvSpPr txBox="1"/>
          <p:nvPr/>
        </p:nvSpPr>
        <p:spPr>
          <a:xfrm>
            <a:off x="900786" y="3504396"/>
            <a:ext cx="858520" cy="35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Temp</a:t>
            </a:r>
            <a:endParaRPr lang="zh-CN" altLang="en-US" sz="16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F2D27940-D2AC-88B1-893F-C8697EBFC82B}"/>
              </a:ext>
            </a:extLst>
          </p:cNvPr>
          <p:cNvSpPr txBox="1"/>
          <p:nvPr/>
        </p:nvSpPr>
        <p:spPr>
          <a:xfrm>
            <a:off x="918117" y="2359815"/>
            <a:ext cx="1441447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植被指数</a:t>
            </a:r>
            <a:endParaRPr sz="14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15">
            <a:extLst>
              <a:ext uri="{FF2B5EF4-FFF2-40B4-BE49-F238E27FC236}">
                <a16:creationId xmlns:a16="http://schemas.microsoft.com/office/drawing/2014/main" id="{F50D13CB-0C58-0195-CEAC-45C5D31469FF}"/>
              </a:ext>
            </a:extLst>
          </p:cNvPr>
          <p:cNvSpPr txBox="1"/>
          <p:nvPr/>
        </p:nvSpPr>
        <p:spPr>
          <a:xfrm>
            <a:off x="964503" y="3120026"/>
            <a:ext cx="1441447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降水量</a:t>
            </a:r>
            <a:endParaRPr sz="14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15">
            <a:extLst>
              <a:ext uri="{FF2B5EF4-FFF2-40B4-BE49-F238E27FC236}">
                <a16:creationId xmlns:a16="http://schemas.microsoft.com/office/drawing/2014/main" id="{1BFDBA0A-645E-176A-E90E-BE33F2E45C29}"/>
              </a:ext>
            </a:extLst>
          </p:cNvPr>
          <p:cNvSpPr txBox="1"/>
          <p:nvPr/>
        </p:nvSpPr>
        <p:spPr>
          <a:xfrm>
            <a:off x="964503" y="3878940"/>
            <a:ext cx="1441447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平均气温</a:t>
            </a:r>
            <a:endParaRPr sz="14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3C5ED1A3-FF02-FF79-03D3-814C61ED4E85}"/>
              </a:ext>
            </a:extLst>
          </p:cNvPr>
          <p:cNvCxnSpPr/>
          <p:nvPr/>
        </p:nvCxnSpPr>
        <p:spPr>
          <a:xfrm>
            <a:off x="424397" y="1953384"/>
            <a:ext cx="21145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349C3B0B-C106-DAF3-1172-AF69F876D2BD}"/>
              </a:ext>
            </a:extLst>
          </p:cNvPr>
          <p:cNvSpPr txBox="1"/>
          <p:nvPr/>
        </p:nvSpPr>
        <p:spPr>
          <a:xfrm>
            <a:off x="594856" y="1631886"/>
            <a:ext cx="17417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 err="1">
                <a:solidFill>
                  <a:schemeClr val="tx2"/>
                </a:solidFill>
                <a:latin typeface="微软雅黑" panose="020B0503020204020204" charset="-122"/>
                <a:cs typeface="微软雅黑" panose="020B0503020204020204" charset="-122"/>
              </a:rPr>
              <a:t>XGBoost</a:t>
            </a:r>
            <a:r>
              <a:rPr lang="en-US" altLang="zh-CN" sz="1600" b="1" dirty="0">
                <a:solidFill>
                  <a:schemeClr val="tx2"/>
                </a:solidFill>
                <a:latin typeface="微软雅黑" panose="020B0503020204020204" charset="-122"/>
                <a:cs typeface="微软雅黑" panose="020B0503020204020204" charset="-122"/>
              </a:rPr>
              <a:t> SHAP</a:t>
            </a:r>
            <a:endParaRPr lang="zh-CN" altLang="en-US" sz="1600" dirty="0">
              <a:solidFill>
                <a:schemeClr val="tx2"/>
              </a:solidFill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1CEBF51-1D71-DE27-4FF0-9C718FCA1B2C}"/>
              </a:ext>
            </a:extLst>
          </p:cNvPr>
          <p:cNvCxnSpPr/>
          <p:nvPr/>
        </p:nvCxnSpPr>
        <p:spPr>
          <a:xfrm>
            <a:off x="3562535" y="1970440"/>
            <a:ext cx="212471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FF138E55-AD16-6E70-A570-7E1C5CD59395}"/>
              </a:ext>
            </a:extLst>
          </p:cNvPr>
          <p:cNvSpPr txBox="1"/>
          <p:nvPr/>
        </p:nvSpPr>
        <p:spPr>
          <a:xfrm>
            <a:off x="3590657" y="1648296"/>
            <a:ext cx="6388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Attention-LSTM </a:t>
            </a:r>
            <a:endParaRPr lang="zh-CN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6" name="Rectangle 28">
            <a:extLst>
              <a:ext uri="{FF2B5EF4-FFF2-40B4-BE49-F238E27FC236}">
                <a16:creationId xmlns:a16="http://schemas.microsoft.com/office/drawing/2014/main" id="{578832BA-676D-23F1-D006-07370FB63DFD}"/>
              </a:ext>
            </a:extLst>
          </p:cNvPr>
          <p:cNvSpPr/>
          <p:nvPr/>
        </p:nvSpPr>
        <p:spPr>
          <a:xfrm>
            <a:off x="3667233" y="2131603"/>
            <a:ext cx="366754" cy="505835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29">
            <a:extLst>
              <a:ext uri="{FF2B5EF4-FFF2-40B4-BE49-F238E27FC236}">
                <a16:creationId xmlns:a16="http://schemas.microsoft.com/office/drawing/2014/main" id="{B055A1AF-53BB-EA77-94CE-7BF63FBE4A7B}"/>
              </a:ext>
            </a:extLst>
          </p:cNvPr>
          <p:cNvSpPr txBox="1"/>
          <p:nvPr/>
        </p:nvSpPr>
        <p:spPr>
          <a:xfrm>
            <a:off x="3667233" y="2190993"/>
            <a:ext cx="366754" cy="3561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1</a:t>
            </a:r>
          </a:p>
        </p:txBody>
      </p:sp>
      <p:sp>
        <p:nvSpPr>
          <p:cNvPr id="48" name="Rectangle 32">
            <a:extLst>
              <a:ext uri="{FF2B5EF4-FFF2-40B4-BE49-F238E27FC236}">
                <a16:creationId xmlns:a16="http://schemas.microsoft.com/office/drawing/2014/main" id="{39536A45-E0D7-32D9-B18C-CCD038B343D8}"/>
              </a:ext>
            </a:extLst>
          </p:cNvPr>
          <p:cNvSpPr/>
          <p:nvPr/>
        </p:nvSpPr>
        <p:spPr>
          <a:xfrm>
            <a:off x="3667233" y="2803157"/>
            <a:ext cx="366754" cy="61051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33">
            <a:extLst>
              <a:ext uri="{FF2B5EF4-FFF2-40B4-BE49-F238E27FC236}">
                <a16:creationId xmlns:a16="http://schemas.microsoft.com/office/drawing/2014/main" id="{4C8CB969-7EAD-7167-80C7-A27B25FFD892}"/>
              </a:ext>
            </a:extLst>
          </p:cNvPr>
          <p:cNvSpPr txBox="1"/>
          <p:nvPr/>
        </p:nvSpPr>
        <p:spPr>
          <a:xfrm>
            <a:off x="3682473" y="2917364"/>
            <a:ext cx="366754" cy="3561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2</a:t>
            </a:r>
          </a:p>
        </p:txBody>
      </p:sp>
      <p:sp>
        <p:nvSpPr>
          <p:cNvPr id="50" name="Rectangle 36">
            <a:extLst>
              <a:ext uri="{FF2B5EF4-FFF2-40B4-BE49-F238E27FC236}">
                <a16:creationId xmlns:a16="http://schemas.microsoft.com/office/drawing/2014/main" id="{3A2DBB0C-7612-2339-96DA-71B53512D2D7}"/>
              </a:ext>
            </a:extLst>
          </p:cNvPr>
          <p:cNvSpPr/>
          <p:nvPr/>
        </p:nvSpPr>
        <p:spPr>
          <a:xfrm>
            <a:off x="3667233" y="3579393"/>
            <a:ext cx="366754" cy="528071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37">
            <a:extLst>
              <a:ext uri="{FF2B5EF4-FFF2-40B4-BE49-F238E27FC236}">
                <a16:creationId xmlns:a16="http://schemas.microsoft.com/office/drawing/2014/main" id="{9420BD08-7E09-EB50-0D94-8798987514F9}"/>
              </a:ext>
            </a:extLst>
          </p:cNvPr>
          <p:cNvSpPr txBox="1"/>
          <p:nvPr/>
        </p:nvSpPr>
        <p:spPr>
          <a:xfrm>
            <a:off x="3667233" y="3665987"/>
            <a:ext cx="366754" cy="3561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3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6F37E30-641A-6EF9-E7DE-6A05BB00ECD9}"/>
              </a:ext>
            </a:extLst>
          </p:cNvPr>
          <p:cNvSpPr txBox="1"/>
          <p:nvPr/>
        </p:nvSpPr>
        <p:spPr>
          <a:xfrm>
            <a:off x="4021913" y="2069162"/>
            <a:ext cx="947782" cy="35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600" b="1" dirty="0" err="1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Drou_A</a:t>
            </a:r>
            <a:endParaRPr lang="zh-CN" altLang="en-US" sz="1600" b="1" dirty="0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6BA088F-296B-9C98-D0CD-B3EDE1DC03D9}"/>
              </a:ext>
            </a:extLst>
          </p:cNvPr>
          <p:cNvSpPr txBox="1"/>
          <p:nvPr/>
        </p:nvSpPr>
        <p:spPr>
          <a:xfrm>
            <a:off x="4049227" y="2755331"/>
            <a:ext cx="858520" cy="35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6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SREI</a:t>
            </a:r>
            <a:endParaRPr lang="zh-CN" altLang="en-US" sz="1600" b="1" dirty="0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A2E7F04-A298-10F4-6975-D8B2BF5EDACA}"/>
              </a:ext>
            </a:extLst>
          </p:cNvPr>
          <p:cNvSpPr txBox="1"/>
          <p:nvPr/>
        </p:nvSpPr>
        <p:spPr>
          <a:xfrm>
            <a:off x="4020860" y="3510335"/>
            <a:ext cx="858520" cy="35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</a:rPr>
              <a:t>Temp</a:t>
            </a:r>
            <a:endParaRPr lang="zh-CN" altLang="en-US" sz="16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  <p:sp>
        <p:nvSpPr>
          <p:cNvPr id="61" name="TextBox 15">
            <a:extLst>
              <a:ext uri="{FF2B5EF4-FFF2-40B4-BE49-F238E27FC236}">
                <a16:creationId xmlns:a16="http://schemas.microsoft.com/office/drawing/2014/main" id="{21B950DA-5582-726A-9D94-DA37AF53926D}"/>
              </a:ext>
            </a:extLst>
          </p:cNvPr>
          <p:cNvSpPr txBox="1"/>
          <p:nvPr/>
        </p:nvSpPr>
        <p:spPr>
          <a:xfrm>
            <a:off x="4098475" y="3845766"/>
            <a:ext cx="1441447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平均气温</a:t>
            </a:r>
            <a:endParaRPr sz="14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extBox 15">
            <a:extLst>
              <a:ext uri="{FF2B5EF4-FFF2-40B4-BE49-F238E27FC236}">
                <a16:creationId xmlns:a16="http://schemas.microsoft.com/office/drawing/2014/main" id="{63678E88-D1E9-BBB3-5CFD-FDEF09AED6D4}"/>
              </a:ext>
            </a:extLst>
          </p:cNvPr>
          <p:cNvSpPr txBox="1"/>
          <p:nvPr/>
        </p:nvSpPr>
        <p:spPr>
          <a:xfrm>
            <a:off x="4123383" y="3110629"/>
            <a:ext cx="1441447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干旱指数</a:t>
            </a:r>
            <a:endParaRPr sz="14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15">
            <a:extLst>
              <a:ext uri="{FF2B5EF4-FFF2-40B4-BE49-F238E27FC236}">
                <a16:creationId xmlns:a16="http://schemas.microsoft.com/office/drawing/2014/main" id="{79B87639-F88B-D1DE-57FF-C87A3CEEC524}"/>
              </a:ext>
            </a:extLst>
          </p:cNvPr>
          <p:cNvSpPr txBox="1"/>
          <p:nvPr/>
        </p:nvSpPr>
        <p:spPr>
          <a:xfrm>
            <a:off x="4123383" y="2401895"/>
            <a:ext cx="1441447" cy="2285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旱灾面积</a:t>
            </a:r>
            <a:endParaRPr sz="1400"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904" name="任意多边形: 形状 1048903">
            <a:extLst>
              <a:ext uri="{FF2B5EF4-FFF2-40B4-BE49-F238E27FC236}">
                <a16:creationId xmlns:a16="http://schemas.microsoft.com/office/drawing/2014/main" id="{BA75C387-0FDC-454D-9A1B-8CACAA0DCCF0}"/>
              </a:ext>
            </a:extLst>
          </p:cNvPr>
          <p:cNvSpPr/>
          <p:nvPr/>
        </p:nvSpPr>
        <p:spPr>
          <a:xfrm>
            <a:off x="2757074" y="2082432"/>
            <a:ext cx="646575" cy="1650868"/>
          </a:xfrm>
          <a:custGeom>
            <a:avLst/>
            <a:gdLst>
              <a:gd name="csX0" fmla="*/ 44266 w 590415"/>
              <a:gd name="csY0" fmla="*/ 0 h 1447299"/>
              <a:gd name="csX1" fmla="*/ 590366 w 590415"/>
              <a:gd name="csY1" fmla="*/ 622300 h 1447299"/>
              <a:gd name="csX2" fmla="*/ 76016 w 590415"/>
              <a:gd name="csY2" fmla="*/ 1352550 h 1447299"/>
              <a:gd name="csX3" fmla="*/ 12516 w 590415"/>
              <a:gd name="csY3" fmla="*/ 1416050 h 14472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90415" h="1447299">
                <a:moveTo>
                  <a:pt x="44266" y="0"/>
                </a:moveTo>
                <a:cubicBezTo>
                  <a:pt x="314670" y="198437"/>
                  <a:pt x="585074" y="396875"/>
                  <a:pt x="590366" y="622300"/>
                </a:cubicBezTo>
                <a:cubicBezTo>
                  <a:pt x="595658" y="847725"/>
                  <a:pt x="172324" y="1220258"/>
                  <a:pt x="76016" y="1352550"/>
                </a:cubicBezTo>
                <a:cubicBezTo>
                  <a:pt x="-20292" y="1484842"/>
                  <a:pt x="-3888" y="1450446"/>
                  <a:pt x="12516" y="1416050"/>
                </a:cubicBezTo>
              </a:path>
            </a:pathLst>
          </a:cu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05" name="任意多边形: 形状 1048904">
            <a:extLst>
              <a:ext uri="{FF2B5EF4-FFF2-40B4-BE49-F238E27FC236}">
                <a16:creationId xmlns:a16="http://schemas.microsoft.com/office/drawing/2014/main" id="{C3453152-AAA2-501D-0719-04040842D9DC}"/>
              </a:ext>
            </a:extLst>
          </p:cNvPr>
          <p:cNvSpPr/>
          <p:nvPr/>
        </p:nvSpPr>
        <p:spPr>
          <a:xfrm>
            <a:off x="2711448" y="2095500"/>
            <a:ext cx="666559" cy="1699698"/>
          </a:xfrm>
          <a:custGeom>
            <a:avLst/>
            <a:gdLst>
              <a:gd name="csX0" fmla="*/ 615952 w 666559"/>
              <a:gd name="csY0" fmla="*/ 0 h 1699698"/>
              <a:gd name="csX1" fmla="*/ 2 w 666559"/>
              <a:gd name="csY1" fmla="*/ 698500 h 1699698"/>
              <a:gd name="csX2" fmla="*/ 622302 w 666559"/>
              <a:gd name="csY2" fmla="*/ 1625600 h 1699698"/>
              <a:gd name="csX3" fmla="*/ 615952 w 666559"/>
              <a:gd name="csY3" fmla="*/ 1638300 h 1699698"/>
              <a:gd name="csX4" fmla="*/ 615952 w 666559"/>
              <a:gd name="csY4" fmla="*/ 1600200 h 16996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66559" h="1699698">
                <a:moveTo>
                  <a:pt x="615952" y="0"/>
                </a:moveTo>
                <a:cubicBezTo>
                  <a:pt x="307448" y="213783"/>
                  <a:pt x="-1056" y="427567"/>
                  <a:pt x="2" y="698500"/>
                </a:cubicBezTo>
                <a:cubicBezTo>
                  <a:pt x="1060" y="969433"/>
                  <a:pt x="519644" y="1468967"/>
                  <a:pt x="622302" y="1625600"/>
                </a:cubicBezTo>
                <a:cubicBezTo>
                  <a:pt x="724960" y="1782233"/>
                  <a:pt x="617010" y="1642533"/>
                  <a:pt x="615952" y="1638300"/>
                </a:cubicBezTo>
                <a:cubicBezTo>
                  <a:pt x="614894" y="1634067"/>
                  <a:pt x="615423" y="1617133"/>
                  <a:pt x="615952" y="1600200"/>
                </a:cubicBezTo>
              </a:path>
            </a:pathLst>
          </a:cu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08" name="文本框 1048907">
            <a:extLst>
              <a:ext uri="{FF2B5EF4-FFF2-40B4-BE49-F238E27FC236}">
                <a16:creationId xmlns:a16="http://schemas.microsoft.com/office/drawing/2014/main" id="{D7545A51-DE3D-28CC-2FD0-1C7115075806}"/>
              </a:ext>
            </a:extLst>
          </p:cNvPr>
          <p:cNvSpPr txBox="1"/>
          <p:nvPr/>
        </p:nvSpPr>
        <p:spPr>
          <a:xfrm>
            <a:off x="2750554" y="2807286"/>
            <a:ext cx="5843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</a:t>
            </a:r>
            <a:endParaRPr lang="zh-CN" altLang="en-US" sz="12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909" name="文本框 1048908">
            <a:extLst>
              <a:ext uri="{FF2B5EF4-FFF2-40B4-BE49-F238E27FC236}">
                <a16:creationId xmlns:a16="http://schemas.microsoft.com/office/drawing/2014/main" id="{58C2F8B7-FF92-24C6-5499-6FAD62D6CC3B}"/>
              </a:ext>
            </a:extLst>
          </p:cNvPr>
          <p:cNvSpPr txBox="1"/>
          <p:nvPr/>
        </p:nvSpPr>
        <p:spPr>
          <a:xfrm>
            <a:off x="299517" y="4595017"/>
            <a:ext cx="4670178" cy="385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altLang="zh-CN" b="1" dirty="0">
                <a:solidFill>
                  <a:srgbClr val="FAFAF7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3.多模态融合带来显著增益（XGBoost R² · 随机 8:2）</a:t>
            </a:r>
            <a:r>
              <a:rPr lang="zh-CN" altLang="en-US" b="1" dirty="0">
                <a:solidFill>
                  <a:srgbClr val="FAFAF7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/>
            </a:r>
            <a:r>
              <a:rPr lang="en-US" altLang="zh-CN" b="1" dirty="0" err="1">
                <a:solidFill>
                  <a:srgbClr val="FAFAF7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/>
            </a:r>
            <a:r>
              <a:rPr lang="en-US" altLang="zh-CN" b="1" dirty="0">
                <a:solidFill>
                  <a:srgbClr val="FAFAF7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/>
            </a:r>
            <a:r>
              <a:rPr lang="zh-CN" altLang="en-US" b="1" dirty="0">
                <a:solidFill>
                  <a:srgbClr val="FAFAF7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/>
            </a:r>
            <a:endParaRPr lang="en-US" altLang="zh-CN" sz="1800" b="1" dirty="0">
              <a:solidFill>
                <a:srgbClr val="FAFAF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48910" name="流程图: 可选过程 1048909">
            <a:extLst>
              <a:ext uri="{FF2B5EF4-FFF2-40B4-BE49-F238E27FC236}">
                <a16:creationId xmlns:a16="http://schemas.microsoft.com/office/drawing/2014/main" id="{D9D77298-3B03-5F71-1B8A-372076F27616}"/>
              </a:ext>
            </a:extLst>
          </p:cNvPr>
          <p:cNvSpPr/>
          <p:nvPr/>
        </p:nvSpPr>
        <p:spPr>
          <a:xfrm>
            <a:off x="490220" y="5207000"/>
            <a:ext cx="1617980" cy="885153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200" dirty="0"/>
          </a:p>
        </p:txBody>
      </p:sp>
      <p:sp>
        <p:nvSpPr>
          <p:cNvPr id="1048911" name="流程图: 可选过程 1048910">
            <a:extLst>
              <a:ext uri="{FF2B5EF4-FFF2-40B4-BE49-F238E27FC236}">
                <a16:creationId xmlns:a16="http://schemas.microsoft.com/office/drawing/2014/main" id="{21CE75CB-91C7-6F3E-73F4-06C6CD70B781}"/>
              </a:ext>
            </a:extLst>
          </p:cNvPr>
          <p:cNvSpPr/>
          <p:nvPr/>
        </p:nvSpPr>
        <p:spPr>
          <a:xfrm>
            <a:off x="2781667" y="5183928"/>
            <a:ext cx="1617980" cy="885153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12" name="流程图: 可选过程 1048911">
            <a:extLst>
              <a:ext uri="{FF2B5EF4-FFF2-40B4-BE49-F238E27FC236}">
                <a16:creationId xmlns:a16="http://schemas.microsoft.com/office/drawing/2014/main" id="{1910EFB6-A334-889C-294F-A29FD919F0BA}"/>
              </a:ext>
            </a:extLst>
          </p:cNvPr>
          <p:cNvSpPr/>
          <p:nvPr/>
        </p:nvSpPr>
        <p:spPr>
          <a:xfrm>
            <a:off x="5114121" y="5169556"/>
            <a:ext cx="1617980" cy="885153"/>
          </a:xfrm>
          <a:prstGeom prst="flowChartAlternateProcess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13" name="流程图: 可选过程 1048912">
            <a:extLst>
              <a:ext uri="{FF2B5EF4-FFF2-40B4-BE49-F238E27FC236}">
                <a16:creationId xmlns:a16="http://schemas.microsoft.com/office/drawing/2014/main" id="{F595E122-C112-AF28-E7BF-1C468666983A}"/>
              </a:ext>
            </a:extLst>
          </p:cNvPr>
          <p:cNvSpPr/>
          <p:nvPr/>
        </p:nvSpPr>
        <p:spPr>
          <a:xfrm>
            <a:off x="7582680" y="5183927"/>
            <a:ext cx="1617980" cy="885153"/>
          </a:xfrm>
          <a:prstGeom prst="flowChartAlternateProcess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48914" name="箭头: 右 1048913">
            <a:extLst>
              <a:ext uri="{FF2B5EF4-FFF2-40B4-BE49-F238E27FC236}">
                <a16:creationId xmlns:a16="http://schemas.microsoft.com/office/drawing/2014/main" id="{FA73CD7D-A2D0-0D7F-9731-E1C17267D37B}"/>
              </a:ext>
            </a:extLst>
          </p:cNvPr>
          <p:cNvSpPr/>
          <p:nvPr/>
        </p:nvSpPr>
        <p:spPr>
          <a:xfrm>
            <a:off x="2178705" y="5452849"/>
            <a:ext cx="578369" cy="392863"/>
          </a:xfrm>
          <a:prstGeom prst="righ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15" name="箭头: 右 1048914">
            <a:extLst>
              <a:ext uri="{FF2B5EF4-FFF2-40B4-BE49-F238E27FC236}">
                <a16:creationId xmlns:a16="http://schemas.microsoft.com/office/drawing/2014/main" id="{506765DD-5E67-338E-0AFA-CAD465D3BED4}"/>
              </a:ext>
            </a:extLst>
          </p:cNvPr>
          <p:cNvSpPr/>
          <p:nvPr/>
        </p:nvSpPr>
        <p:spPr>
          <a:xfrm>
            <a:off x="4467699" y="5452849"/>
            <a:ext cx="578369" cy="392863"/>
          </a:xfrm>
          <a:prstGeom prst="righ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16" name="箭头: 右 1048915">
            <a:extLst>
              <a:ext uri="{FF2B5EF4-FFF2-40B4-BE49-F238E27FC236}">
                <a16:creationId xmlns:a16="http://schemas.microsoft.com/office/drawing/2014/main" id="{502CD667-3EB4-B0B5-8E14-10B876FC68C5}"/>
              </a:ext>
            </a:extLst>
          </p:cNvPr>
          <p:cNvSpPr/>
          <p:nvPr/>
        </p:nvSpPr>
        <p:spPr>
          <a:xfrm>
            <a:off x="6868206" y="5452849"/>
            <a:ext cx="578369" cy="392863"/>
          </a:xfrm>
          <a:prstGeom prst="righ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917" name="文本框 1048916">
            <a:extLst>
              <a:ext uri="{FF2B5EF4-FFF2-40B4-BE49-F238E27FC236}">
                <a16:creationId xmlns:a16="http://schemas.microsoft.com/office/drawing/2014/main" id="{FAD9E111-22E6-A19D-0E68-9CE2E74A53E8}"/>
              </a:ext>
            </a:extLst>
          </p:cNvPr>
          <p:cNvSpPr txBox="1"/>
          <p:nvPr/>
        </p:nvSpPr>
        <p:spPr>
          <a:xfrm>
            <a:off x="579436" y="5226114"/>
            <a:ext cx="13516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仅统计数据</a:t>
            </a:r>
            <a:endParaRPr lang="en-US" altLang="zh-CN" sz="1400" dirty="0">
              <a:solidFill>
                <a:schemeClr val="bg1"/>
              </a:solidFill>
            </a:endParaRPr>
          </a:p>
          <a:p>
            <a:r>
              <a:rPr lang="zh-CN" altLang="en-US" sz="1400" dirty="0">
                <a:solidFill>
                  <a:schemeClr val="bg1"/>
                </a:solidFill>
              </a:rPr>
              <a:t>（年鉴</a:t>
            </a:r>
            <a:r>
              <a:rPr lang="en-US" altLang="zh-CN" sz="1400" dirty="0">
                <a:solidFill>
                  <a:schemeClr val="bg1"/>
                </a:solidFill>
              </a:rPr>
              <a:t>+</a:t>
            </a:r>
            <a:r>
              <a:rPr lang="zh-CN" altLang="en-US" sz="1400" dirty="0">
                <a:solidFill>
                  <a:schemeClr val="bg1"/>
                </a:solidFill>
              </a:rPr>
              <a:t>公报）</a:t>
            </a:r>
          </a:p>
        </p:txBody>
      </p:sp>
      <p:sp>
        <p:nvSpPr>
          <p:cNvPr id="1048918" name="文本框 1048917">
            <a:extLst>
              <a:ext uri="{FF2B5EF4-FFF2-40B4-BE49-F238E27FC236}">
                <a16:creationId xmlns:a16="http://schemas.microsoft.com/office/drawing/2014/main" id="{A7B05CF7-AB3D-AD76-3752-D7FEFB423B92}"/>
              </a:ext>
            </a:extLst>
          </p:cNvPr>
          <p:cNvSpPr txBox="1"/>
          <p:nvPr/>
        </p:nvSpPr>
        <p:spPr>
          <a:xfrm>
            <a:off x="835313" y="568756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0.767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919" name="文本框 1048918">
            <a:extLst>
              <a:ext uri="{FF2B5EF4-FFF2-40B4-BE49-F238E27FC236}">
                <a16:creationId xmlns:a16="http://schemas.microsoft.com/office/drawing/2014/main" id="{DD987D5F-34FA-0266-86D6-CA2D8EB7ABF5}"/>
              </a:ext>
            </a:extLst>
          </p:cNvPr>
          <p:cNvSpPr txBox="1"/>
          <p:nvPr/>
        </p:nvSpPr>
        <p:spPr>
          <a:xfrm>
            <a:off x="2676067" y="5207000"/>
            <a:ext cx="17858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遥感数据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</a:rPr>
              <a:t>MODIS NOVI/LST</a:t>
            </a:r>
            <a:r>
              <a:rPr lang="zh-CN" altLang="en-US" sz="1400" dirty="0">
                <a:solidFill>
                  <a:schemeClr val="bg1"/>
                </a:solidFill>
              </a:rPr>
              <a:t>）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1048920" name="文本框 1048919">
            <a:extLst>
              <a:ext uri="{FF2B5EF4-FFF2-40B4-BE49-F238E27FC236}">
                <a16:creationId xmlns:a16="http://schemas.microsoft.com/office/drawing/2014/main" id="{26FF3CD0-D5F9-84B1-F9D7-17E9898D86E6}"/>
              </a:ext>
            </a:extLst>
          </p:cNvPr>
          <p:cNvSpPr txBox="1"/>
          <p:nvPr/>
        </p:nvSpPr>
        <p:spPr>
          <a:xfrm>
            <a:off x="3179519" y="569484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0.875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922" name="文本框 1048921">
            <a:extLst>
              <a:ext uri="{FF2B5EF4-FFF2-40B4-BE49-F238E27FC236}">
                <a16:creationId xmlns:a16="http://schemas.microsoft.com/office/drawing/2014/main" id="{FB1C8B11-7625-380E-A7D0-8FF244B610F2}"/>
              </a:ext>
            </a:extLst>
          </p:cNvPr>
          <p:cNvSpPr txBox="1"/>
          <p:nvPr/>
        </p:nvSpPr>
        <p:spPr>
          <a:xfrm>
            <a:off x="5197576" y="5197734"/>
            <a:ext cx="1398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气象数据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</a:rPr>
              <a:t>CMDC+SPEI</a:t>
            </a:r>
            <a:r>
              <a:rPr lang="zh-CN" altLang="en-US" sz="1400" dirty="0">
                <a:solidFill>
                  <a:schemeClr val="bg1"/>
                </a:solidFill>
              </a:rPr>
              <a:t>）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sp>
        <p:nvSpPr>
          <p:cNvPr id="1048923" name="文本框 1048922">
            <a:extLst>
              <a:ext uri="{FF2B5EF4-FFF2-40B4-BE49-F238E27FC236}">
                <a16:creationId xmlns:a16="http://schemas.microsoft.com/office/drawing/2014/main" id="{5B682E0E-20B7-4017-C0B1-9D807FB98F86}"/>
              </a:ext>
            </a:extLst>
          </p:cNvPr>
          <p:cNvSpPr txBox="1"/>
          <p:nvPr/>
        </p:nvSpPr>
        <p:spPr>
          <a:xfrm>
            <a:off x="7491423" y="5226114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accent6">
                    <a:lumMod val="50000"/>
                  </a:schemeClr>
                </a:solidFill>
              </a:rPr>
              <a:t>全模态融合</a:t>
            </a:r>
            <a:endParaRPr lang="en-US" altLang="zh-CN" sz="1400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zh-CN" altLang="en-US" sz="1400" dirty="0">
                <a:solidFill>
                  <a:schemeClr val="accent6">
                    <a:lumMod val="50000"/>
                  </a:schemeClr>
                </a:solidFill>
              </a:rPr>
              <a:t>（统计</a:t>
            </a:r>
            <a:r>
              <a:rPr lang="en-US" altLang="zh-CN" sz="1400" dirty="0">
                <a:solidFill>
                  <a:schemeClr val="accent6">
                    <a:lumMod val="50000"/>
                  </a:schemeClr>
                </a:solidFill>
              </a:rPr>
              <a:t>+</a:t>
            </a:r>
            <a:r>
              <a:rPr lang="zh-CN" altLang="en-US" sz="1400" dirty="0">
                <a:solidFill>
                  <a:schemeClr val="accent6">
                    <a:lumMod val="50000"/>
                  </a:schemeClr>
                </a:solidFill>
              </a:rPr>
              <a:t>遥感</a:t>
            </a:r>
            <a:r>
              <a:rPr lang="en-US" altLang="zh-CN" sz="1400" dirty="0">
                <a:solidFill>
                  <a:schemeClr val="accent6">
                    <a:lumMod val="50000"/>
                  </a:schemeClr>
                </a:solidFill>
              </a:rPr>
              <a:t>+</a:t>
            </a:r>
            <a:r>
              <a:rPr lang="zh-CN" altLang="en-US" sz="1400" dirty="0">
                <a:solidFill>
                  <a:schemeClr val="accent6">
                    <a:lumMod val="50000"/>
                  </a:schemeClr>
                </a:solidFill>
              </a:rPr>
              <a:t>气象）</a:t>
            </a:r>
            <a:endParaRPr lang="en-US" altLang="zh-CN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48924" name="文本框 1048923">
            <a:extLst>
              <a:ext uri="{FF2B5EF4-FFF2-40B4-BE49-F238E27FC236}">
                <a16:creationId xmlns:a16="http://schemas.microsoft.com/office/drawing/2014/main" id="{B32B9D6F-69B1-6ABB-4288-F7C6A735D268}"/>
              </a:ext>
            </a:extLst>
          </p:cNvPr>
          <p:cNvSpPr txBox="1"/>
          <p:nvPr/>
        </p:nvSpPr>
        <p:spPr>
          <a:xfrm>
            <a:off x="5497081" y="5685377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0.904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925" name="文本框 1048924">
            <a:extLst>
              <a:ext uri="{FF2B5EF4-FFF2-40B4-BE49-F238E27FC236}">
                <a16:creationId xmlns:a16="http://schemas.microsoft.com/office/drawing/2014/main" id="{CD225E41-A44F-7FA6-B3D9-97B3506CDC0C}"/>
              </a:ext>
            </a:extLst>
          </p:cNvPr>
          <p:cNvSpPr txBox="1"/>
          <p:nvPr/>
        </p:nvSpPr>
        <p:spPr>
          <a:xfrm>
            <a:off x="7997671" y="5694846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0.907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926" name="流程图: 可选过程 1048925">
            <a:extLst>
              <a:ext uri="{FF2B5EF4-FFF2-40B4-BE49-F238E27FC236}">
                <a16:creationId xmlns:a16="http://schemas.microsoft.com/office/drawing/2014/main" id="{14FAB321-8236-E33C-03CA-AB82D058C4F5}"/>
              </a:ext>
            </a:extLst>
          </p:cNvPr>
          <p:cNvSpPr/>
          <p:nvPr/>
        </p:nvSpPr>
        <p:spPr>
          <a:xfrm>
            <a:off x="9423400" y="4595017"/>
            <a:ext cx="2102782" cy="1682234"/>
          </a:xfrm>
          <a:prstGeom prst="flowChartAlternateProcess">
            <a:avLst/>
          </a:prstGeom>
          <a:solidFill>
            <a:srgbClr val="1F4D2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48927" name="文本框 1048926">
            <a:extLst>
              <a:ext uri="{FF2B5EF4-FFF2-40B4-BE49-F238E27FC236}">
                <a16:creationId xmlns:a16="http://schemas.microsoft.com/office/drawing/2014/main" id="{4661B2C7-94E9-02AF-724E-9B47F8324B07}"/>
              </a:ext>
            </a:extLst>
          </p:cNvPr>
          <p:cNvSpPr txBox="1"/>
          <p:nvPr/>
        </p:nvSpPr>
        <p:spPr>
          <a:xfrm>
            <a:off x="9513701" y="468192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C000"/>
                </a:solidFill>
              </a:rPr>
              <a:t>结论</a:t>
            </a:r>
          </a:p>
        </p:txBody>
      </p:sp>
      <p:sp>
        <p:nvSpPr>
          <p:cNvPr id="1048929" name="文本框 1048928">
            <a:extLst>
              <a:ext uri="{FF2B5EF4-FFF2-40B4-BE49-F238E27FC236}">
                <a16:creationId xmlns:a16="http://schemas.microsoft.com/office/drawing/2014/main" id="{DF2915D0-9C05-1B71-B2A4-9AA01E1F02D7}"/>
              </a:ext>
            </a:extLst>
          </p:cNvPr>
          <p:cNvSpPr txBox="1"/>
          <p:nvPr/>
        </p:nvSpPr>
        <p:spPr>
          <a:xfrm>
            <a:off x="3194050" y="3105835"/>
            <a:ext cx="6388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</a:rPr>
              <a:t>气象数据</a:t>
            </a:r>
            <a:endParaRPr lang="en-US" altLang="zh-CN" sz="1800" dirty="0">
              <a:solidFill>
                <a:schemeClr val="bg1"/>
              </a:solidFill>
            </a:endParaRPr>
          </a:p>
          <a:p>
            <a:pPr algn="ctr"/>
            <a:r>
              <a:rPr lang="zh-CN" altLang="en-US" sz="1800" dirty="0">
                <a:solidFill>
                  <a:schemeClr val="bg1"/>
                </a:solidFill>
              </a:rPr>
              <a:t>（</a:t>
            </a:r>
            <a:r>
              <a:rPr lang="en-US" altLang="zh-CN" sz="1800" dirty="0">
                <a:solidFill>
                  <a:schemeClr val="bg1"/>
                </a:solidFill>
              </a:rPr>
              <a:t>CMDC+SPEI</a:t>
            </a:r>
            <a:r>
              <a:rPr lang="zh-CN" altLang="en-US" sz="1800" dirty="0">
                <a:solidFill>
                  <a:schemeClr val="bg1"/>
                </a:solidFill>
              </a:rPr>
              <a:t>）</a:t>
            </a:r>
            <a:endParaRPr lang="en-US" altLang="zh-CN" sz="1800" dirty="0">
              <a:solidFill>
                <a:schemeClr val="bg1"/>
              </a:solidFill>
            </a:endParaRPr>
          </a:p>
        </p:txBody>
      </p:sp>
      <p:sp>
        <p:nvSpPr>
          <p:cNvPr id="1048930" name="文本框 1048929">
            <a:extLst>
              <a:ext uri="{FF2B5EF4-FFF2-40B4-BE49-F238E27FC236}">
                <a16:creationId xmlns:a16="http://schemas.microsoft.com/office/drawing/2014/main" id="{746C3098-48CA-3F73-7966-089BA9127369}"/>
              </a:ext>
            </a:extLst>
          </p:cNvPr>
          <p:cNvSpPr txBox="1"/>
          <p:nvPr/>
        </p:nvSpPr>
        <p:spPr>
          <a:xfrm>
            <a:off x="9410333" y="5027113"/>
            <a:ext cx="210278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   多模态数据融合显著提升模型解释能力与预测能力（约 +14 pp R²提升（0.767→0.907））验证了数据融合的实质性价值。</a:t>
            </a:r>
            <a:r>
              <a:rPr lang="en-US" altLang="zh-CN" sz="1400" dirty="0">
                <a:solidFill>
                  <a:schemeClr val="bg1"/>
                </a:solidFill>
              </a:rPr>
              <a:t/>
            </a:r>
            <a:r>
              <a:rPr lang="zh-CN" altLang="en-US" sz="1400" dirty="0">
                <a:solidFill>
                  <a:schemeClr val="bg1"/>
                </a:solidFill>
              </a:rPr>
              <a:t/>
            </a:r>
            <a:endParaRPr lang="en-US" altLang="zh-CN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193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8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989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990" name="TextBox 3"/>
          <p:cNvSpPr txBox="1"/>
          <p:nvPr/>
        </p:nvSpPr>
        <p:spPr>
          <a:xfrm>
            <a:off x="311150" y="6608400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</a:t>
            </a:r>
            <a:r>
              <a:rPr sz="1000" b="0" dirty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sz="1000" b="0" dirty="0" err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极端气候下粮食生产风险核心因子识别与韧性提升可视化系统</a:t>
            </a:r>
            <a:endParaRPr sz="1000" b="0" dirty="0">
              <a:solidFill>
                <a:srgbClr val="FAFAF7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993" name="TextBox 6"/>
          <p:cNvSpPr txBox="1"/>
          <p:nvPr/>
        </p:nvSpPr>
        <p:spPr>
          <a:xfrm>
            <a:off x="457200" y="640080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可视化决策系统 · 四大模块</a:t>
            </a:r>
          </a:p>
        </p:txBody>
      </p:sp>
      <p:sp>
        <p:nvSpPr>
          <p:cNvPr id="1048994" name="Rectangle 7"/>
          <p:cNvSpPr/>
          <p:nvPr/>
        </p:nvSpPr>
        <p:spPr>
          <a:xfrm>
            <a:off x="431800" y="1181101"/>
            <a:ext cx="5054600" cy="73152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995" name="TextBox 8"/>
          <p:cNvSpPr txBox="1"/>
          <p:nvPr/>
        </p:nvSpPr>
        <p:spPr>
          <a:xfrm>
            <a:off x="457200" y="1371092"/>
            <a:ext cx="11247120" cy="350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Vue 3 + Flask · 6 </a:t>
            </a:r>
            <a:r>
              <a:rPr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大模块在线运行</a:t>
            </a:r>
            <a:r>
              <a:rPr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单次推理</a:t>
            </a:r>
            <a:r>
              <a:rPr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≤ 2 秒 · </a:t>
            </a:r>
            <a:r>
              <a:rPr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已部署可访问</a:t>
            </a:r>
            <a:endParaRPr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97157" name="Picture 3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82" y="1728400"/>
            <a:ext cx="5100000" cy="2350000"/>
          </a:xfrm>
          <a:prstGeom prst="rect">
            <a:avLst/>
          </a:prstGeom>
        </p:spPr>
      </p:pic>
      <p:sp>
        <p:nvSpPr>
          <p:cNvPr id="1048996" name="Rounded Rectangle 32"/>
          <p:cNvSpPr/>
          <p:nvPr/>
        </p:nvSpPr>
        <p:spPr>
          <a:xfrm>
            <a:off x="1025682" y="3578400"/>
            <a:ext cx="2400000" cy="380000"/>
          </a:xfrm>
          <a:prstGeom prst="roundRect">
            <a:avLst/>
          </a:prstGeom>
          <a:solidFill>
            <a:srgbClr val="D97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997" name="TextBox 33"/>
          <p:cNvSpPr txBox="1"/>
          <p:nvPr/>
        </p:nvSpPr>
        <p:spPr>
          <a:xfrm>
            <a:off x="1025682" y="3654099"/>
            <a:ext cx="1621140" cy="228602"/>
          </a:xfrm>
          <a:prstGeom prst="rect">
            <a:avLst/>
          </a:prstGeom>
          <a:noFill/>
        </p:spPr>
        <p:txBody>
          <a:bodyPr wrap="none" lIns="12000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M01  </a:t>
            </a: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风险时空地图</a:t>
            </a:r>
          </a:p>
        </p:txBody>
      </p:sp>
      <p:pic>
        <p:nvPicPr>
          <p:cNvPr id="2097158" name="Picture 3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682" y="1728400"/>
            <a:ext cx="5100000" cy="2350000"/>
          </a:xfrm>
          <a:prstGeom prst="rect">
            <a:avLst/>
          </a:prstGeom>
        </p:spPr>
      </p:pic>
      <p:sp>
        <p:nvSpPr>
          <p:cNvPr id="1048998" name="Rounded Rectangle 35"/>
          <p:cNvSpPr/>
          <p:nvPr/>
        </p:nvSpPr>
        <p:spPr>
          <a:xfrm>
            <a:off x="6305682" y="3578400"/>
            <a:ext cx="2400000" cy="380000"/>
          </a:xfrm>
          <a:prstGeom prst="roundRect">
            <a:avLst/>
          </a:prstGeom>
          <a:solidFill>
            <a:srgbClr val="D97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999" name="TextBox 36"/>
          <p:cNvSpPr txBox="1"/>
          <p:nvPr/>
        </p:nvSpPr>
        <p:spPr>
          <a:xfrm>
            <a:off x="6305682" y="3654099"/>
            <a:ext cx="1773541" cy="228602"/>
          </a:xfrm>
          <a:prstGeom prst="rect">
            <a:avLst/>
          </a:prstGeom>
          <a:noFill/>
        </p:spPr>
        <p:txBody>
          <a:bodyPr wrap="none" lIns="12000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M02  </a:t>
            </a: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SHAP 归因看板</a:t>
            </a:r>
          </a:p>
        </p:txBody>
      </p:sp>
      <p:pic>
        <p:nvPicPr>
          <p:cNvPr id="2097159" name="Picture 3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682" y="4258400"/>
            <a:ext cx="5100000" cy="2350000"/>
          </a:xfrm>
          <a:prstGeom prst="rect">
            <a:avLst/>
          </a:prstGeom>
        </p:spPr>
      </p:pic>
      <p:sp>
        <p:nvSpPr>
          <p:cNvPr id="1049000" name="Rounded Rectangle 38"/>
          <p:cNvSpPr/>
          <p:nvPr/>
        </p:nvSpPr>
        <p:spPr>
          <a:xfrm>
            <a:off x="1025682" y="6018400"/>
            <a:ext cx="2400000" cy="380000"/>
          </a:xfrm>
          <a:prstGeom prst="roundRect">
            <a:avLst/>
          </a:prstGeom>
          <a:solidFill>
            <a:srgbClr val="D97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01" name="TextBox 39"/>
          <p:cNvSpPr txBox="1"/>
          <p:nvPr/>
        </p:nvSpPr>
        <p:spPr>
          <a:xfrm>
            <a:off x="1025682" y="6094100"/>
            <a:ext cx="1621140" cy="228600"/>
          </a:xfrm>
          <a:prstGeom prst="rect">
            <a:avLst/>
          </a:prstGeom>
          <a:noFill/>
        </p:spPr>
        <p:txBody>
          <a:bodyPr wrap="none" lIns="12000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M03  </a:t>
            </a: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参数情景模拟</a:t>
            </a:r>
          </a:p>
        </p:txBody>
      </p:sp>
      <p:pic>
        <p:nvPicPr>
          <p:cNvPr id="2097160" name="Picture 4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682" y="4258400"/>
            <a:ext cx="5100000" cy="2350000"/>
          </a:xfrm>
          <a:prstGeom prst="rect">
            <a:avLst/>
          </a:prstGeom>
        </p:spPr>
      </p:pic>
      <p:sp>
        <p:nvSpPr>
          <p:cNvPr id="1049002" name="Rounded Rectangle 41"/>
          <p:cNvSpPr/>
          <p:nvPr/>
        </p:nvSpPr>
        <p:spPr>
          <a:xfrm>
            <a:off x="6305682" y="6018400"/>
            <a:ext cx="2400000" cy="380000"/>
          </a:xfrm>
          <a:prstGeom prst="roundRect">
            <a:avLst/>
          </a:prstGeom>
          <a:solidFill>
            <a:srgbClr val="D97A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03" name="TextBox 42"/>
          <p:cNvSpPr txBox="1"/>
          <p:nvPr/>
        </p:nvSpPr>
        <p:spPr>
          <a:xfrm>
            <a:off x="6305682" y="6094100"/>
            <a:ext cx="1621141" cy="228600"/>
          </a:xfrm>
          <a:prstGeom prst="rect">
            <a:avLst/>
          </a:prstGeom>
          <a:noFill/>
        </p:spPr>
        <p:txBody>
          <a:bodyPr wrap="none" lIns="12000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M04  </a:t>
            </a: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韧性路径推荐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4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05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06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9009" name="TextBox 6"/>
          <p:cNvSpPr txBox="1"/>
          <p:nvPr/>
        </p:nvSpPr>
        <p:spPr>
          <a:xfrm>
            <a:off x="457200" y="640080"/>
            <a:ext cx="11247120" cy="522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3200" b="1" dirty="0">
                <a:solidFill>
                  <a:srgbClr val="1F4D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sz="3200"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大创新点</a:t>
            </a:r>
            <a:endParaRPr sz="3200" b="1" dirty="0">
              <a:solidFill>
                <a:srgbClr val="1F4D2E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9010" name="Rectangle 7"/>
          <p:cNvSpPr/>
          <p:nvPr/>
        </p:nvSpPr>
        <p:spPr>
          <a:xfrm>
            <a:off x="457200" y="1194053"/>
            <a:ext cx="2038350" cy="74041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11" name="TextBox 8"/>
          <p:cNvSpPr txBox="1"/>
          <p:nvPr/>
        </p:nvSpPr>
        <p:spPr>
          <a:xfrm>
            <a:off x="457200" y="1453642"/>
            <a:ext cx="11247120" cy="293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数据层</a:t>
            </a:r>
            <a:r>
              <a:rPr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方法层</a:t>
            </a:r>
            <a:r>
              <a:rPr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 · </a:t>
            </a:r>
            <a:r>
              <a:rPr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应用层</a:t>
            </a:r>
            <a:r>
              <a:rPr b="0" dirty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· </a:t>
            </a:r>
            <a:r>
              <a:rPr b="0" dirty="0" err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贡献层</a:t>
            </a:r>
            <a:endParaRPr b="0" dirty="0">
              <a:solidFill>
                <a:srgbClr val="4A5552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9012" name="Rectangle 9"/>
          <p:cNvSpPr/>
          <p:nvPr>
            <p:custDataLst>
              <p:tags r:id="rId1"/>
            </p:custDataLst>
          </p:nvPr>
        </p:nvSpPr>
        <p:spPr>
          <a:xfrm>
            <a:off x="548640" y="2011680"/>
            <a:ext cx="868680" cy="77724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13" name="TextBox 10"/>
          <p:cNvSpPr txBox="1"/>
          <p:nvPr>
            <p:custDataLst>
              <p:tags r:id="rId2"/>
            </p:custDataLst>
          </p:nvPr>
        </p:nvSpPr>
        <p:spPr>
          <a:xfrm>
            <a:off x="548640" y="2210435"/>
            <a:ext cx="868680" cy="379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01</a:t>
            </a:r>
          </a:p>
        </p:txBody>
      </p:sp>
      <p:sp>
        <p:nvSpPr>
          <p:cNvPr id="1049014" name="Rectangle 11"/>
          <p:cNvSpPr/>
          <p:nvPr>
            <p:custDataLst>
              <p:tags r:id="rId3"/>
            </p:custDataLst>
          </p:nvPr>
        </p:nvSpPr>
        <p:spPr>
          <a:xfrm>
            <a:off x="1417320" y="2011680"/>
            <a:ext cx="1920240" cy="77724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15" name="TextBox 12"/>
          <p:cNvSpPr txBox="1"/>
          <p:nvPr>
            <p:custDataLst>
              <p:tags r:id="rId4"/>
            </p:custDataLst>
          </p:nvPr>
        </p:nvSpPr>
        <p:spPr>
          <a:xfrm>
            <a:off x="1417320" y="2225040"/>
            <a:ext cx="192024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数据层</a:t>
            </a:r>
          </a:p>
        </p:txBody>
      </p:sp>
      <p:sp>
        <p:nvSpPr>
          <p:cNvPr id="1049016" name="TextBox 13"/>
          <p:cNvSpPr txBox="1"/>
          <p:nvPr>
            <p:custDataLst>
              <p:tags r:id="rId5"/>
            </p:custDataLst>
          </p:nvPr>
        </p:nvSpPr>
        <p:spPr>
          <a:xfrm>
            <a:off x="3520440" y="2084832"/>
            <a:ext cx="8138160" cy="350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多模态异构数据融合的全国尺度风险识别框架</a:t>
            </a:r>
          </a:p>
        </p:txBody>
      </p:sp>
      <p:sp>
        <p:nvSpPr>
          <p:cNvPr id="1049017" name="TextBox 14"/>
          <p:cNvSpPr txBox="1"/>
          <p:nvPr>
            <p:custDataLst>
              <p:tags r:id="rId6"/>
            </p:custDataLst>
          </p:nvPr>
        </p:nvSpPr>
        <p:spPr>
          <a:xfrm>
            <a:off x="3520440" y="2423160"/>
            <a:ext cx="8138160" cy="337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首次构建覆盖统计 + MODIS 遥感 + 气象 + GIS 四类异构数据源的融合体系</a:t>
            </a:r>
          </a:p>
        </p:txBody>
      </p:sp>
      <p:sp>
        <p:nvSpPr>
          <p:cNvPr id="1049018" name="Rectangle 15"/>
          <p:cNvSpPr/>
          <p:nvPr>
            <p:custDataLst>
              <p:tags r:id="rId7"/>
            </p:custDataLst>
          </p:nvPr>
        </p:nvSpPr>
        <p:spPr>
          <a:xfrm>
            <a:off x="548640" y="3027924"/>
            <a:ext cx="868680" cy="777240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19" name="TextBox 16"/>
          <p:cNvSpPr txBox="1"/>
          <p:nvPr>
            <p:custDataLst>
              <p:tags r:id="rId8"/>
            </p:custDataLst>
          </p:nvPr>
        </p:nvSpPr>
        <p:spPr>
          <a:xfrm>
            <a:off x="548640" y="3226678"/>
            <a:ext cx="868680" cy="3797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02</a:t>
            </a:r>
          </a:p>
        </p:txBody>
      </p:sp>
      <p:sp>
        <p:nvSpPr>
          <p:cNvPr id="1049020" name="Rectangle 17"/>
          <p:cNvSpPr/>
          <p:nvPr>
            <p:custDataLst>
              <p:tags r:id="rId9"/>
            </p:custDataLst>
          </p:nvPr>
        </p:nvSpPr>
        <p:spPr>
          <a:xfrm>
            <a:off x="1417320" y="3027924"/>
            <a:ext cx="1920240" cy="77724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21" name="TextBox 18"/>
          <p:cNvSpPr txBox="1"/>
          <p:nvPr>
            <p:custDataLst>
              <p:tags r:id="rId10"/>
            </p:custDataLst>
          </p:nvPr>
        </p:nvSpPr>
        <p:spPr>
          <a:xfrm>
            <a:off x="1417320" y="3269612"/>
            <a:ext cx="1920240" cy="2938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方法层</a:t>
            </a:r>
            <a:r>
              <a:rPr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 </a:t>
            </a:r>
          </a:p>
        </p:txBody>
      </p:sp>
      <p:sp>
        <p:nvSpPr>
          <p:cNvPr id="1049022" name="TextBox 19"/>
          <p:cNvSpPr txBox="1"/>
          <p:nvPr>
            <p:custDataLst>
              <p:tags r:id="rId11"/>
            </p:custDataLst>
          </p:nvPr>
        </p:nvSpPr>
        <p:spPr>
          <a:xfrm>
            <a:off x="3520440" y="3101076"/>
            <a:ext cx="8138160" cy="293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 XGBoost-SHAP × Attention-LSTM 双引擎协同验证</a:t>
            </a:r>
            <a:r>
              <a:rPr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/>
            </a:r>
            <a:r>
              <a:rPr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/>
            </a:r>
            <a:r>
              <a:rPr lang="en-US"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/>
            </a:r>
            <a:r>
              <a:rPr lang="en-US"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/>
            </a:r>
            <a:r>
              <a:rPr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/>
            </a:r>
            <a:r>
              <a:rPr b="1" dirty="0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/>
            </a:r>
            <a:r>
              <a:rPr b="1" dirty="0" err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/>
            </a:r>
            <a:endParaRPr b="1" dirty="0">
              <a:solidFill>
                <a:srgbClr val="1F4D2E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9023" name="TextBox 20"/>
          <p:cNvSpPr txBox="1"/>
          <p:nvPr>
            <p:custDataLst>
              <p:tags r:id="rId12"/>
            </p:custDataLst>
          </p:nvPr>
        </p:nvSpPr>
        <p:spPr>
          <a:xfrm>
            <a:off x="3520440" y="3439404"/>
            <a:ext cx="8138160" cy="337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首次将可解释机器学习与注意力深度学习时序模型相结合,破解黑箱困境</a:t>
            </a:r>
          </a:p>
        </p:txBody>
      </p:sp>
      <p:sp>
        <p:nvSpPr>
          <p:cNvPr id="1049030" name="Rectangle 27"/>
          <p:cNvSpPr/>
          <p:nvPr>
            <p:custDataLst>
              <p:tags r:id="rId13"/>
            </p:custDataLst>
          </p:nvPr>
        </p:nvSpPr>
        <p:spPr>
          <a:xfrm>
            <a:off x="548640" y="4049386"/>
            <a:ext cx="868680" cy="777240"/>
          </a:xfrm>
          <a:prstGeom prst="rect">
            <a:avLst/>
          </a:prstGeom>
          <a:solidFill>
            <a:srgbClr val="704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31" name="TextBox 28"/>
          <p:cNvSpPr txBox="1"/>
          <p:nvPr>
            <p:custDataLst>
              <p:tags r:id="rId14"/>
            </p:custDataLst>
          </p:nvPr>
        </p:nvSpPr>
        <p:spPr>
          <a:xfrm>
            <a:off x="548640" y="4259912"/>
            <a:ext cx="868680" cy="3561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lang="en-US"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3</a:t>
            </a:r>
            <a:endParaRPr sz="2200" b="1" dirty="0">
              <a:solidFill>
                <a:srgbClr val="FAFAF7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49032" name="Rectangle 29"/>
          <p:cNvSpPr/>
          <p:nvPr>
            <p:custDataLst>
              <p:tags r:id="rId15"/>
            </p:custDataLst>
          </p:nvPr>
        </p:nvSpPr>
        <p:spPr>
          <a:xfrm>
            <a:off x="1417320" y="4049386"/>
            <a:ext cx="1920240" cy="77724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33" name="TextBox 30"/>
          <p:cNvSpPr txBox="1"/>
          <p:nvPr>
            <p:custDataLst>
              <p:tags r:id="rId16"/>
            </p:custDataLst>
          </p:nvPr>
        </p:nvSpPr>
        <p:spPr>
          <a:xfrm>
            <a:off x="1417320" y="4262746"/>
            <a:ext cx="192024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应用层</a:t>
            </a:r>
          </a:p>
        </p:txBody>
      </p:sp>
      <p:sp>
        <p:nvSpPr>
          <p:cNvPr id="1049034" name="TextBox 31"/>
          <p:cNvSpPr txBox="1"/>
          <p:nvPr>
            <p:custDataLst>
              <p:tags r:id="rId17"/>
            </p:custDataLst>
          </p:nvPr>
        </p:nvSpPr>
        <p:spPr>
          <a:xfrm>
            <a:off x="3520440" y="4122538"/>
            <a:ext cx="8138160" cy="350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全流程可视化决策支持系统的工程化落地</a:t>
            </a:r>
          </a:p>
        </p:txBody>
      </p:sp>
      <p:sp>
        <p:nvSpPr>
          <p:cNvPr id="1049035" name="TextBox 32"/>
          <p:cNvSpPr txBox="1"/>
          <p:nvPr>
            <p:custDataLst>
              <p:tags r:id="rId18"/>
            </p:custDataLst>
          </p:nvPr>
        </p:nvSpPr>
        <p:spPr>
          <a:xfrm>
            <a:off x="3520440" y="4460866"/>
            <a:ext cx="8138160" cy="337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首次将「多模态识别 + 可解释 AI + 决策支持」三位一体集成到单一平台</a:t>
            </a:r>
          </a:p>
        </p:txBody>
      </p:sp>
      <p:sp>
        <p:nvSpPr>
          <p:cNvPr id="1049036" name="Rectangle 33"/>
          <p:cNvSpPr/>
          <p:nvPr>
            <p:custDataLst>
              <p:tags r:id="rId19"/>
            </p:custDataLst>
          </p:nvPr>
        </p:nvSpPr>
        <p:spPr>
          <a:xfrm>
            <a:off x="548640" y="5102802"/>
            <a:ext cx="868680" cy="7772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37" name="TextBox 34"/>
          <p:cNvSpPr txBox="1"/>
          <p:nvPr>
            <p:custDataLst>
              <p:tags r:id="rId20"/>
            </p:custDataLst>
          </p:nvPr>
        </p:nvSpPr>
        <p:spPr>
          <a:xfrm>
            <a:off x="548640" y="5313328"/>
            <a:ext cx="868680" cy="3561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lang="en-US" sz="2200" b="1" dirty="0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4</a:t>
            </a:r>
            <a:endParaRPr sz="2200" b="1" dirty="0">
              <a:solidFill>
                <a:srgbClr val="FAFAF7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49038" name="Rectangle 35"/>
          <p:cNvSpPr/>
          <p:nvPr>
            <p:custDataLst>
              <p:tags r:id="rId21"/>
            </p:custDataLst>
          </p:nvPr>
        </p:nvSpPr>
        <p:spPr>
          <a:xfrm>
            <a:off x="1417320" y="5102802"/>
            <a:ext cx="1920240" cy="777240"/>
          </a:xfrm>
          <a:prstGeom prst="rect">
            <a:avLst/>
          </a:prstGeom>
          <a:solidFill>
            <a:srgbClr val="E8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39" name="TextBox 36"/>
          <p:cNvSpPr txBox="1"/>
          <p:nvPr>
            <p:custDataLst>
              <p:tags r:id="rId22"/>
            </p:custDataLst>
          </p:nvPr>
        </p:nvSpPr>
        <p:spPr>
          <a:xfrm>
            <a:off x="1417320" y="5316162"/>
            <a:ext cx="192024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贡献层</a:t>
            </a:r>
          </a:p>
        </p:txBody>
      </p:sp>
      <p:sp>
        <p:nvSpPr>
          <p:cNvPr id="1049040" name="TextBox 37"/>
          <p:cNvSpPr txBox="1"/>
          <p:nvPr>
            <p:custDataLst>
              <p:tags r:id="rId23"/>
            </p:custDataLst>
          </p:nvPr>
        </p:nvSpPr>
        <p:spPr>
          <a:xfrm>
            <a:off x="3520440" y="5175954"/>
            <a:ext cx="8138160" cy="350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多模态数据集构建与处理流程的规范化输出</a:t>
            </a:r>
          </a:p>
        </p:txBody>
      </p:sp>
      <p:sp>
        <p:nvSpPr>
          <p:cNvPr id="1049041" name="TextBox 38"/>
          <p:cNvSpPr txBox="1"/>
          <p:nvPr>
            <p:custDataLst>
              <p:tags r:id="rId24"/>
            </p:custDataLst>
          </p:nvPr>
        </p:nvSpPr>
        <p:spPr>
          <a:xfrm>
            <a:off x="3520440" y="5514282"/>
            <a:ext cx="8138160" cy="33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制定可复用的数据基础与方法参考,服务后续相关研究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4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44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9047" name="TextBox 6"/>
          <p:cNvSpPr txBox="1"/>
          <p:nvPr/>
        </p:nvSpPr>
        <p:spPr>
          <a:xfrm>
            <a:off x="457200" y="640080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应用前景 与 社会价值</a:t>
            </a:r>
          </a:p>
        </p:txBody>
      </p:sp>
      <p:sp>
        <p:nvSpPr>
          <p:cNvPr id="1049048" name="Rectangle 7"/>
          <p:cNvSpPr/>
          <p:nvPr/>
        </p:nvSpPr>
        <p:spPr>
          <a:xfrm>
            <a:off x="474980" y="1198625"/>
            <a:ext cx="3912870" cy="64389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49" name="TextBox 8"/>
          <p:cNvSpPr txBox="1"/>
          <p:nvPr/>
        </p:nvSpPr>
        <p:spPr>
          <a:xfrm>
            <a:off x="457200" y="1466342"/>
            <a:ext cx="11247120" cy="350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服务国家粮食安全战略 · 推动可解释 AI 在农业领域落地</a:t>
            </a:r>
          </a:p>
        </p:txBody>
      </p:sp>
      <p:sp>
        <p:nvSpPr>
          <p:cNvPr id="1049050" name="Rectangle 9"/>
          <p:cNvSpPr/>
          <p:nvPr>
            <p:custDataLst>
              <p:tags r:id="rId1"/>
            </p:custDataLst>
          </p:nvPr>
        </p:nvSpPr>
        <p:spPr>
          <a:xfrm>
            <a:off x="548640" y="2011680"/>
            <a:ext cx="868680" cy="786384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51" name="TextBox 10"/>
          <p:cNvSpPr txBox="1"/>
          <p:nvPr/>
        </p:nvSpPr>
        <p:spPr>
          <a:xfrm>
            <a:off x="548640" y="2150745"/>
            <a:ext cx="868680" cy="5082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🎯</a:t>
            </a:r>
          </a:p>
        </p:txBody>
      </p:sp>
      <p:sp>
        <p:nvSpPr>
          <p:cNvPr id="1049052" name="Rectangle 11"/>
          <p:cNvSpPr/>
          <p:nvPr/>
        </p:nvSpPr>
        <p:spPr>
          <a:xfrm>
            <a:off x="1417320" y="2011680"/>
            <a:ext cx="10241280" cy="786384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53" name="TextBox 12"/>
          <p:cNvSpPr txBox="1"/>
          <p:nvPr>
            <p:custDataLst>
              <p:tags r:id="rId2"/>
            </p:custDataLst>
          </p:nvPr>
        </p:nvSpPr>
        <p:spPr>
          <a:xfrm>
            <a:off x="1691640" y="2103120"/>
            <a:ext cx="9784080" cy="292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服务国家粮食安全战略</a:t>
            </a:r>
          </a:p>
        </p:txBody>
      </p:sp>
      <p:sp>
        <p:nvSpPr>
          <p:cNvPr id="1049054" name="TextBox 13"/>
          <p:cNvSpPr txBox="1"/>
          <p:nvPr>
            <p:custDataLst>
              <p:tags r:id="rId3"/>
            </p:custDataLst>
          </p:nvPr>
        </p:nvSpPr>
        <p:spPr>
          <a:xfrm>
            <a:off x="1691640" y="2386330"/>
            <a:ext cx="9784080" cy="33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为政府农业管理部门提供风险预警与资源调配的科学依据</a:t>
            </a:r>
            <a:r>
              <a:rPr lang="en-US"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落实党的二十大「夯实粮食安全根基」部署</a:t>
            </a:r>
          </a:p>
        </p:txBody>
      </p:sp>
      <p:sp>
        <p:nvSpPr>
          <p:cNvPr id="1049055" name="Rectangle 14"/>
          <p:cNvSpPr/>
          <p:nvPr>
            <p:custDataLst>
              <p:tags r:id="rId4"/>
            </p:custDataLst>
          </p:nvPr>
        </p:nvSpPr>
        <p:spPr>
          <a:xfrm>
            <a:off x="548640" y="2852928"/>
            <a:ext cx="868680" cy="786384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56" name="TextBox 15"/>
          <p:cNvSpPr txBox="1"/>
          <p:nvPr/>
        </p:nvSpPr>
        <p:spPr>
          <a:xfrm>
            <a:off x="548640" y="2991992"/>
            <a:ext cx="868680" cy="508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💼</a:t>
            </a:r>
          </a:p>
        </p:txBody>
      </p:sp>
      <p:sp>
        <p:nvSpPr>
          <p:cNvPr id="1049057" name="Rectangle 16"/>
          <p:cNvSpPr/>
          <p:nvPr/>
        </p:nvSpPr>
        <p:spPr>
          <a:xfrm>
            <a:off x="1417320" y="2852928"/>
            <a:ext cx="10241280" cy="786384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58" name="TextBox 17"/>
          <p:cNvSpPr txBox="1"/>
          <p:nvPr>
            <p:custDataLst>
              <p:tags r:id="rId5"/>
            </p:custDataLst>
          </p:nvPr>
        </p:nvSpPr>
        <p:spPr>
          <a:xfrm>
            <a:off x="1691640" y="2944368"/>
            <a:ext cx="978408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赋能农业保险与产业</a:t>
            </a:r>
          </a:p>
        </p:txBody>
      </p:sp>
      <p:sp>
        <p:nvSpPr>
          <p:cNvPr id="1049059" name="TextBox 18"/>
          <p:cNvSpPr txBox="1"/>
          <p:nvPr>
            <p:custDataLst>
              <p:tags r:id="rId6"/>
            </p:custDataLst>
          </p:nvPr>
        </p:nvSpPr>
        <p:spPr>
          <a:xfrm>
            <a:off x="1645920" y="3245993"/>
            <a:ext cx="9784080" cy="33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支持保险产品差异化设计、农资精准营销、费率精算与赔付决策</a:t>
            </a:r>
          </a:p>
        </p:txBody>
      </p:sp>
      <p:sp>
        <p:nvSpPr>
          <p:cNvPr id="1049060" name="Rectangle 19"/>
          <p:cNvSpPr/>
          <p:nvPr>
            <p:custDataLst>
              <p:tags r:id="rId7"/>
            </p:custDataLst>
          </p:nvPr>
        </p:nvSpPr>
        <p:spPr>
          <a:xfrm>
            <a:off x="548640" y="3694176"/>
            <a:ext cx="868680" cy="78638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61" name="TextBox 20"/>
          <p:cNvSpPr txBox="1"/>
          <p:nvPr/>
        </p:nvSpPr>
        <p:spPr>
          <a:xfrm>
            <a:off x="548640" y="3833240"/>
            <a:ext cx="868680" cy="508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🤖</a:t>
            </a:r>
          </a:p>
        </p:txBody>
      </p:sp>
      <p:sp>
        <p:nvSpPr>
          <p:cNvPr id="1049062" name="Rectangle 21"/>
          <p:cNvSpPr/>
          <p:nvPr/>
        </p:nvSpPr>
        <p:spPr>
          <a:xfrm>
            <a:off x="1417320" y="3694176"/>
            <a:ext cx="10241280" cy="786384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63" name="TextBox 22"/>
          <p:cNvSpPr txBox="1"/>
          <p:nvPr>
            <p:custDataLst>
              <p:tags r:id="rId8"/>
            </p:custDataLst>
          </p:nvPr>
        </p:nvSpPr>
        <p:spPr>
          <a:xfrm>
            <a:off x="1691640" y="3785616"/>
            <a:ext cx="978408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推动可解释 AI 在农业落地</a:t>
            </a:r>
          </a:p>
        </p:txBody>
      </p:sp>
      <p:sp>
        <p:nvSpPr>
          <p:cNvPr id="1049064" name="TextBox 23"/>
          <p:cNvSpPr txBox="1"/>
          <p:nvPr>
            <p:custDataLst>
              <p:tags r:id="rId9"/>
            </p:custDataLst>
          </p:nvPr>
        </p:nvSpPr>
        <p:spPr>
          <a:xfrm>
            <a:off x="1691640" y="4105656"/>
            <a:ext cx="9784080" cy="33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全国尺度「多模态识别 + 可解释 AI + 决策支持」三位一体示范样板</a:t>
            </a:r>
          </a:p>
        </p:txBody>
      </p:sp>
      <p:sp>
        <p:nvSpPr>
          <p:cNvPr id="1049065" name="Rectangle 24"/>
          <p:cNvSpPr/>
          <p:nvPr>
            <p:custDataLst>
              <p:tags r:id="rId10"/>
            </p:custDataLst>
          </p:nvPr>
        </p:nvSpPr>
        <p:spPr>
          <a:xfrm>
            <a:off x="548640" y="4535424"/>
            <a:ext cx="868680" cy="786384"/>
          </a:xfrm>
          <a:prstGeom prst="rect">
            <a:avLst/>
          </a:prstGeom>
          <a:solidFill>
            <a:srgbClr val="704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66" name="TextBox 25"/>
          <p:cNvSpPr txBox="1"/>
          <p:nvPr/>
        </p:nvSpPr>
        <p:spPr>
          <a:xfrm>
            <a:off x="548640" y="4681284"/>
            <a:ext cx="868680" cy="494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🗺</a:t>
            </a:r>
          </a:p>
        </p:txBody>
      </p:sp>
      <p:sp>
        <p:nvSpPr>
          <p:cNvPr id="1049067" name="Rectangle 26"/>
          <p:cNvSpPr/>
          <p:nvPr/>
        </p:nvSpPr>
        <p:spPr>
          <a:xfrm>
            <a:off x="1417320" y="4535424"/>
            <a:ext cx="10241280" cy="786384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68" name="TextBox 27"/>
          <p:cNvSpPr txBox="1"/>
          <p:nvPr>
            <p:custDataLst>
              <p:tags r:id="rId11"/>
            </p:custDataLst>
          </p:nvPr>
        </p:nvSpPr>
        <p:spPr>
          <a:xfrm>
            <a:off x="1691640" y="4626864"/>
            <a:ext cx="9784080" cy="292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支撑区域差异化政策</a:t>
            </a:r>
          </a:p>
        </p:txBody>
      </p:sp>
      <p:sp>
        <p:nvSpPr>
          <p:cNvPr id="1049069" name="TextBox 28"/>
          <p:cNvSpPr txBox="1"/>
          <p:nvPr>
            <p:custDataLst>
              <p:tags r:id="rId12"/>
            </p:custDataLst>
          </p:nvPr>
        </p:nvSpPr>
        <p:spPr>
          <a:xfrm>
            <a:off x="1691640" y="4946904"/>
            <a:ext cx="9784080" cy="337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针对北方旱区、长江洪涝区、西南「旱涝急转」区提出差异化韧性路径</a:t>
            </a:r>
          </a:p>
        </p:txBody>
      </p:sp>
      <p:sp>
        <p:nvSpPr>
          <p:cNvPr id="1049070" name="Rectangle 29"/>
          <p:cNvSpPr/>
          <p:nvPr>
            <p:custDataLst>
              <p:tags r:id="rId13"/>
            </p:custDataLst>
          </p:nvPr>
        </p:nvSpPr>
        <p:spPr>
          <a:xfrm>
            <a:off x="548640" y="5376672"/>
            <a:ext cx="868680" cy="78638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71" name="TextBox 30"/>
          <p:cNvSpPr txBox="1"/>
          <p:nvPr/>
        </p:nvSpPr>
        <p:spPr>
          <a:xfrm>
            <a:off x="548640" y="5515737"/>
            <a:ext cx="868680" cy="5082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FAFAF7"/>
                </a:solidFill>
                <a:latin typeface="Arial" panose="020B0604020202020204"/>
                <a:cs typeface="Arial" panose="020B0604020202020204"/>
              </a:rPr>
              <a:t>🔓</a:t>
            </a:r>
          </a:p>
        </p:txBody>
      </p:sp>
      <p:sp>
        <p:nvSpPr>
          <p:cNvPr id="1049072" name="Rectangle 31"/>
          <p:cNvSpPr/>
          <p:nvPr/>
        </p:nvSpPr>
        <p:spPr>
          <a:xfrm>
            <a:off x="1417320" y="5376672"/>
            <a:ext cx="10241280" cy="786384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73" name="TextBox 32"/>
          <p:cNvSpPr txBox="1"/>
          <p:nvPr>
            <p:custDataLst>
              <p:tags r:id="rId14"/>
            </p:custDataLst>
          </p:nvPr>
        </p:nvSpPr>
        <p:spPr>
          <a:xfrm>
            <a:off x="1691640" y="5468112"/>
            <a:ext cx="9784080" cy="292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促进研究开放协作</a:t>
            </a:r>
          </a:p>
        </p:txBody>
      </p:sp>
      <p:sp>
        <p:nvSpPr>
          <p:cNvPr id="1049074" name="TextBox 33"/>
          <p:cNvSpPr txBox="1"/>
          <p:nvPr>
            <p:custDataLst>
              <p:tags r:id="rId15"/>
            </p:custDataLst>
          </p:nvPr>
        </p:nvSpPr>
        <p:spPr>
          <a:xfrm>
            <a:off x="1691640" y="5788152"/>
            <a:ext cx="9784080" cy="337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数据集与系统 API 开放,推动跨学科、跨区域对比研究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5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76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77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9080" name="TextBox 6"/>
          <p:cNvSpPr txBox="1"/>
          <p:nvPr/>
        </p:nvSpPr>
        <p:spPr>
          <a:xfrm>
            <a:off x="457200" y="640080"/>
            <a:ext cx="11247120" cy="6134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存在问题 与 今后改进方向</a:t>
            </a:r>
          </a:p>
        </p:txBody>
      </p:sp>
      <p:sp>
        <p:nvSpPr>
          <p:cNvPr id="1049081" name="Rectangle 7"/>
          <p:cNvSpPr/>
          <p:nvPr/>
        </p:nvSpPr>
        <p:spPr>
          <a:xfrm>
            <a:off x="450850" y="1200595"/>
            <a:ext cx="4711700" cy="48578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82" name="TextBox 8"/>
          <p:cNvSpPr txBox="1"/>
          <p:nvPr/>
        </p:nvSpPr>
        <p:spPr>
          <a:xfrm>
            <a:off x="457200" y="1434592"/>
            <a:ext cx="11247120" cy="350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模型 / 数据 / 系统 / 应用 四维度持续演进</a:t>
            </a:r>
          </a:p>
        </p:txBody>
      </p:sp>
      <p:sp>
        <p:nvSpPr>
          <p:cNvPr id="1049083" name="Rectangle 9"/>
          <p:cNvSpPr/>
          <p:nvPr/>
        </p:nvSpPr>
        <p:spPr>
          <a:xfrm>
            <a:off x="548640" y="1877060"/>
            <a:ext cx="5423535" cy="2195195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84" name="Rectangle 10"/>
          <p:cNvSpPr/>
          <p:nvPr/>
        </p:nvSpPr>
        <p:spPr>
          <a:xfrm>
            <a:off x="548640" y="1877060"/>
            <a:ext cx="5423535" cy="457200"/>
          </a:xfrm>
          <a:prstGeom prst="rect">
            <a:avLst/>
          </a:prstGeom>
          <a:solidFill>
            <a:srgbClr val="1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85" name="TextBox 11"/>
          <p:cNvSpPr txBox="1"/>
          <p:nvPr/>
        </p:nvSpPr>
        <p:spPr>
          <a:xfrm>
            <a:off x="777240" y="1930400"/>
            <a:ext cx="544068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模型层面</a:t>
            </a:r>
          </a:p>
        </p:txBody>
      </p:sp>
      <p:sp>
        <p:nvSpPr>
          <p:cNvPr id="1049086" name="TextBox 12"/>
          <p:cNvSpPr txBox="1"/>
          <p:nvPr/>
        </p:nvSpPr>
        <p:spPr>
          <a:xfrm>
            <a:off x="708660" y="2437765"/>
            <a:ext cx="4983480" cy="277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❗ 问题</a:t>
            </a:r>
          </a:p>
        </p:txBody>
      </p:sp>
      <p:sp>
        <p:nvSpPr>
          <p:cNvPr id="1049087" name="TextBox 13"/>
          <p:cNvSpPr txBox="1"/>
          <p:nvPr/>
        </p:nvSpPr>
        <p:spPr>
          <a:xfrm>
            <a:off x="777240" y="2745740"/>
            <a:ext cx="4983480" cy="321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罕见极端事件识别能力有限</a:t>
            </a:r>
          </a:p>
        </p:txBody>
      </p:sp>
      <p:sp>
        <p:nvSpPr>
          <p:cNvPr id="1049088" name="TextBox 14"/>
          <p:cNvSpPr txBox="1"/>
          <p:nvPr/>
        </p:nvSpPr>
        <p:spPr>
          <a:xfrm>
            <a:off x="708660" y="3134360"/>
            <a:ext cx="4983480" cy="277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✓ 改进方向</a:t>
            </a:r>
          </a:p>
        </p:txBody>
      </p:sp>
      <p:sp>
        <p:nvSpPr>
          <p:cNvPr id="1049089" name="TextBox 15"/>
          <p:cNvSpPr txBox="1"/>
          <p:nvPr/>
        </p:nvSpPr>
        <p:spPr>
          <a:xfrm>
            <a:off x="777240" y="3354070"/>
            <a:ext cx="4983480" cy="782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引入 Transformer + 多模型 Stacking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贝叶斯神经网络给出不确定性区间</a:t>
            </a:r>
          </a:p>
        </p:txBody>
      </p:sp>
      <p:sp>
        <p:nvSpPr>
          <p:cNvPr id="1049090" name="Rectangle 16"/>
          <p:cNvSpPr/>
          <p:nvPr/>
        </p:nvSpPr>
        <p:spPr>
          <a:xfrm>
            <a:off x="6172200" y="1877060"/>
            <a:ext cx="5455285" cy="2194560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91" name="Rectangle 17"/>
          <p:cNvSpPr/>
          <p:nvPr/>
        </p:nvSpPr>
        <p:spPr>
          <a:xfrm>
            <a:off x="6172200" y="1877060"/>
            <a:ext cx="5455284" cy="451484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92" name="TextBox 18"/>
          <p:cNvSpPr txBox="1"/>
          <p:nvPr/>
        </p:nvSpPr>
        <p:spPr>
          <a:xfrm>
            <a:off x="6400800" y="1930400"/>
            <a:ext cx="544068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数据层面</a:t>
            </a:r>
          </a:p>
        </p:txBody>
      </p:sp>
      <p:sp>
        <p:nvSpPr>
          <p:cNvPr id="1049093" name="TextBox 19"/>
          <p:cNvSpPr txBox="1"/>
          <p:nvPr/>
        </p:nvSpPr>
        <p:spPr>
          <a:xfrm>
            <a:off x="6400800" y="2471420"/>
            <a:ext cx="4983480" cy="277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❗ 问题</a:t>
            </a:r>
          </a:p>
        </p:txBody>
      </p:sp>
      <p:sp>
        <p:nvSpPr>
          <p:cNvPr id="1049094" name="TextBox 20"/>
          <p:cNvSpPr txBox="1"/>
          <p:nvPr/>
        </p:nvSpPr>
        <p:spPr>
          <a:xfrm>
            <a:off x="6400800" y="2745740"/>
            <a:ext cx="4983480" cy="321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省级粒度偏粗,西部站点稀疏</a:t>
            </a:r>
          </a:p>
        </p:txBody>
      </p:sp>
      <p:sp>
        <p:nvSpPr>
          <p:cNvPr id="1049095" name="TextBox 21"/>
          <p:cNvSpPr txBox="1"/>
          <p:nvPr/>
        </p:nvSpPr>
        <p:spPr>
          <a:xfrm>
            <a:off x="6400800" y="3114675"/>
            <a:ext cx="4983480" cy="2774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✓ 改进方向</a:t>
            </a:r>
          </a:p>
        </p:txBody>
      </p:sp>
      <p:sp>
        <p:nvSpPr>
          <p:cNvPr id="1049096" name="TextBox 22"/>
          <p:cNvSpPr txBox="1"/>
          <p:nvPr/>
        </p:nvSpPr>
        <p:spPr>
          <a:xfrm>
            <a:off x="6400800" y="3315970"/>
            <a:ext cx="4983480" cy="782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下沉至地市级 / 县域级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引入 Sentinel-2 + 高分系列高分辨率遥感</a:t>
            </a:r>
          </a:p>
        </p:txBody>
      </p:sp>
      <p:sp>
        <p:nvSpPr>
          <p:cNvPr id="1049097" name="Rectangle 23"/>
          <p:cNvSpPr/>
          <p:nvPr/>
        </p:nvSpPr>
        <p:spPr>
          <a:xfrm>
            <a:off x="548640" y="4117340"/>
            <a:ext cx="5451475" cy="2219325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98" name="Rectangle 24"/>
          <p:cNvSpPr/>
          <p:nvPr/>
        </p:nvSpPr>
        <p:spPr>
          <a:xfrm>
            <a:off x="548639" y="4117340"/>
            <a:ext cx="5451475" cy="45720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099" name="TextBox 25"/>
          <p:cNvSpPr txBox="1"/>
          <p:nvPr/>
        </p:nvSpPr>
        <p:spPr>
          <a:xfrm>
            <a:off x="777240" y="4170680"/>
            <a:ext cx="544068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系统层面</a:t>
            </a:r>
          </a:p>
        </p:txBody>
      </p:sp>
      <p:sp>
        <p:nvSpPr>
          <p:cNvPr id="1049100" name="TextBox 26"/>
          <p:cNvSpPr txBox="1"/>
          <p:nvPr/>
        </p:nvSpPr>
        <p:spPr>
          <a:xfrm>
            <a:off x="708660" y="4697095"/>
            <a:ext cx="4983480" cy="277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❗ 问题</a:t>
            </a:r>
          </a:p>
        </p:txBody>
      </p:sp>
      <p:sp>
        <p:nvSpPr>
          <p:cNvPr id="1049101" name="TextBox 27"/>
          <p:cNvSpPr txBox="1"/>
          <p:nvPr/>
        </p:nvSpPr>
        <p:spPr>
          <a:xfrm>
            <a:off x="777240" y="4986020"/>
            <a:ext cx="4983480" cy="321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移动端适配弱,反事实推理基于静态规则</a:t>
            </a:r>
          </a:p>
        </p:txBody>
      </p:sp>
      <p:sp>
        <p:nvSpPr>
          <p:cNvPr id="1049102" name="TextBox 28"/>
          <p:cNvSpPr txBox="1"/>
          <p:nvPr/>
        </p:nvSpPr>
        <p:spPr>
          <a:xfrm>
            <a:off x="777240" y="5383530"/>
            <a:ext cx="4983480" cy="2774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✓ 改进方向</a:t>
            </a:r>
          </a:p>
        </p:txBody>
      </p:sp>
      <p:sp>
        <p:nvSpPr>
          <p:cNvPr id="1049103" name="TextBox 29"/>
          <p:cNvSpPr txBox="1"/>
          <p:nvPr/>
        </p:nvSpPr>
        <p:spPr>
          <a:xfrm>
            <a:off x="777240" y="5598795"/>
            <a:ext cx="4983480" cy="782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响应式 + 微信小程序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Do-Calculus / 合成控制法因果推断增强</a:t>
            </a:r>
          </a:p>
        </p:txBody>
      </p:sp>
      <p:sp>
        <p:nvSpPr>
          <p:cNvPr id="1049104" name="Rectangle 30"/>
          <p:cNvSpPr/>
          <p:nvPr/>
        </p:nvSpPr>
        <p:spPr>
          <a:xfrm>
            <a:off x="6172200" y="4117340"/>
            <a:ext cx="5455285" cy="2214245"/>
          </a:xfrm>
          <a:prstGeom prst="rect">
            <a:avLst/>
          </a:prstGeom>
          <a:solidFill>
            <a:srgbClr val="FAFAF7"/>
          </a:solidFill>
          <a:ln>
            <a:solidFill>
              <a:srgbClr val="CFD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05" name="Rectangle 31"/>
          <p:cNvSpPr/>
          <p:nvPr/>
        </p:nvSpPr>
        <p:spPr>
          <a:xfrm>
            <a:off x="6172200" y="4117340"/>
            <a:ext cx="5455284" cy="457200"/>
          </a:xfrm>
          <a:prstGeom prst="rect">
            <a:avLst/>
          </a:prstGeom>
          <a:solidFill>
            <a:srgbClr val="704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06" name="TextBox 32"/>
          <p:cNvSpPr txBox="1"/>
          <p:nvPr/>
        </p:nvSpPr>
        <p:spPr>
          <a:xfrm>
            <a:off x="6400800" y="4170680"/>
            <a:ext cx="5440680" cy="350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应用层面</a:t>
            </a:r>
          </a:p>
        </p:txBody>
      </p:sp>
      <p:sp>
        <p:nvSpPr>
          <p:cNvPr id="1049107" name="TextBox 33"/>
          <p:cNvSpPr txBox="1"/>
          <p:nvPr/>
        </p:nvSpPr>
        <p:spPr>
          <a:xfrm>
            <a:off x="6400800" y="4633595"/>
            <a:ext cx="4983480" cy="277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❗ 问题</a:t>
            </a:r>
          </a:p>
        </p:txBody>
      </p:sp>
      <p:sp>
        <p:nvSpPr>
          <p:cNvPr id="1049108" name="TextBox 34"/>
          <p:cNvSpPr txBox="1"/>
          <p:nvPr/>
        </p:nvSpPr>
        <p:spPr>
          <a:xfrm>
            <a:off x="6400800" y="4939665"/>
            <a:ext cx="4983480" cy="321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A1A1A"/>
                </a:solidFill>
                <a:latin typeface="微软雅黑" panose="020B0503020204020204" charset="-122"/>
                <a:cs typeface="微软雅黑" panose="020B0503020204020204" charset="-122"/>
              </a:rPr>
              <a:t>韧性路径与政策工具对接不够精细</a:t>
            </a:r>
          </a:p>
        </p:txBody>
      </p:sp>
      <p:sp>
        <p:nvSpPr>
          <p:cNvPr id="1049109" name="TextBox 35"/>
          <p:cNvSpPr txBox="1"/>
          <p:nvPr/>
        </p:nvSpPr>
        <p:spPr>
          <a:xfrm>
            <a:off x="6338570" y="5267960"/>
            <a:ext cx="4983480" cy="2774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F4D2E"/>
                </a:solidFill>
                <a:latin typeface="微软雅黑" panose="020B0503020204020204" charset="-122"/>
                <a:cs typeface="微软雅黑" panose="020B0503020204020204" charset="-122"/>
              </a:rPr>
              <a:t>✓ 改进方向</a:t>
            </a:r>
          </a:p>
        </p:txBody>
      </p:sp>
      <p:sp>
        <p:nvSpPr>
          <p:cNvPr id="1049110" name="TextBox 36"/>
          <p:cNvSpPr txBox="1"/>
          <p:nvPr/>
        </p:nvSpPr>
        <p:spPr>
          <a:xfrm>
            <a:off x="6400800" y="5560695"/>
            <a:ext cx="4983480" cy="782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与地方农业局、保险机构试点合作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4A5552"/>
                </a:solidFill>
                <a:latin typeface="微软雅黑" panose="020B0503020204020204" charset="-122"/>
                <a:cs typeface="微软雅黑" panose="020B0503020204020204" charset="-122"/>
              </a:rPr>
              <a:t>开发面向农户的简化版客户端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1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12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13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9115" name="文本框 5"/>
          <p:cNvSpPr txBox="1"/>
          <p:nvPr/>
        </p:nvSpPr>
        <p:spPr>
          <a:xfrm>
            <a:off x="339090" y="340995"/>
            <a:ext cx="3621405" cy="497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【参考文献】</a:t>
            </a:r>
          </a:p>
        </p:txBody>
      </p:sp>
      <p:sp>
        <p:nvSpPr>
          <p:cNvPr id="1049116" name="文本框 6"/>
          <p:cNvSpPr txBox="1"/>
          <p:nvPr/>
        </p:nvSpPr>
        <p:spPr>
          <a:xfrm>
            <a:off x="457200" y="1069340"/>
            <a:ext cx="11293475" cy="5151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[1]IPCC. Climate Change 2022: Impacts, Adaptation and Vulnerability[R]. Cambridge University Press, 2022.</a:t>
            </a: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[2]CHEN T, GUESTRIN C. XGBoost: A Scalable Tree Boosting System[C]//Proceedings of the 22nd ACM SIGKDD International Conference on Knowledge Discovery and Data Mining. 2016: 785-794.</a:t>
            </a: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[3]LUNDBERG S M, LEE S I. A Unified Approach to Interpreting Model Predictions[J]. Advances in Neural Information Processing Systems, 2017, 30.</a:t>
            </a: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[4]HOCHREITER S, SCHMIDHUBER J. Long Short-term Memory[J]. Neural Computation, 1997, 9(8): 1735-1780.</a:t>
            </a: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[5]刘彦随, 刘玉, 郭丽英. 气候变化对中国农业生产的影响及应对策略[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J].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中国生态农业学报, 2010, 18(4): 905-910.</a:t>
            </a: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[6]范振楠, 覃朝晖, 余思明. 极端气温对粮食生产韧性的影响效应研究——基于绿色金融视角[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J].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中国生态农业学报(中英文), 2024, 32(5): 896-910.</a:t>
            </a: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[7]曹克苗. "三减三健"政策下基于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XGBoost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SHAP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分析的可解释性肥胖风险预测研究[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J].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运筹与模糊学, 2025, 15(3): 477-492.</a:t>
            </a: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[8]黄睿茜. 基于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LSTM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模型的黄淮海冬小麦春季低温灾害监测预测与风险评估[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D].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中国气象科学研究院, 2025.</a:t>
            </a: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[9]李嘉乐. 基于深度学习的大豆遥感估产及其归因分析[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D].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浙江大学, 2024.</a:t>
            </a:r>
          </a:p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[10]田蓬鹏. 气候变化、农田水利供给对粮食产出的影响研究——以黄河流域为例[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D].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西北农林科技大学, 2025.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7" name="Rectangle 1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18" name="TextBox 2"/>
          <p:cNvSpPr txBox="1"/>
          <p:nvPr/>
        </p:nvSpPr>
        <p:spPr>
          <a:xfrm>
            <a:off x="548640" y="365760"/>
            <a:ext cx="10972800" cy="277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Thanks · Q&amp;A</a:t>
            </a:r>
          </a:p>
        </p:txBody>
      </p:sp>
      <p:sp>
        <p:nvSpPr>
          <p:cNvPr id="1049119" name="TextBox 3"/>
          <p:cNvSpPr txBox="1"/>
          <p:nvPr/>
        </p:nvSpPr>
        <p:spPr>
          <a:xfrm>
            <a:off x="548640" y="1188720"/>
            <a:ext cx="10972800" cy="847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总结与致谢</a:t>
            </a:r>
          </a:p>
        </p:txBody>
      </p:sp>
      <p:sp>
        <p:nvSpPr>
          <p:cNvPr id="1049120" name="Rectangle 4"/>
          <p:cNvSpPr/>
          <p:nvPr>
            <p:custDataLst>
              <p:tags r:id="rId1"/>
            </p:custDataLst>
          </p:nvPr>
        </p:nvSpPr>
        <p:spPr>
          <a:xfrm>
            <a:off x="548640" y="2377440"/>
            <a:ext cx="1188720" cy="59436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21" name="TextBox 5"/>
          <p:cNvSpPr txBox="1"/>
          <p:nvPr>
            <p:custDataLst>
              <p:tags r:id="rId2"/>
            </p:custDataLst>
          </p:nvPr>
        </p:nvSpPr>
        <p:spPr>
          <a:xfrm>
            <a:off x="548640" y="2528570"/>
            <a:ext cx="1188720" cy="29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数据</a:t>
            </a:r>
          </a:p>
        </p:txBody>
      </p:sp>
      <p:sp>
        <p:nvSpPr>
          <p:cNvPr id="1049122" name="TextBox 6"/>
          <p:cNvSpPr txBox="1"/>
          <p:nvPr>
            <p:custDataLst>
              <p:tags r:id="rId3"/>
            </p:custDataLst>
          </p:nvPr>
        </p:nvSpPr>
        <p:spPr>
          <a:xfrm>
            <a:off x="1874519" y="2461261"/>
            <a:ext cx="10058400" cy="4267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构建覆盖全国 31 省 13 年的多模态融合数据集 paper_panel_v3</a:t>
            </a:r>
          </a:p>
        </p:txBody>
      </p:sp>
      <p:sp>
        <p:nvSpPr>
          <p:cNvPr id="1049123" name="Rectangle 7"/>
          <p:cNvSpPr/>
          <p:nvPr>
            <p:custDataLst>
              <p:tags r:id="rId4"/>
            </p:custDataLst>
          </p:nvPr>
        </p:nvSpPr>
        <p:spPr>
          <a:xfrm>
            <a:off x="548640" y="3154680"/>
            <a:ext cx="1188720" cy="59436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24" name="TextBox 8"/>
          <p:cNvSpPr txBox="1"/>
          <p:nvPr>
            <p:custDataLst>
              <p:tags r:id="rId5"/>
            </p:custDataLst>
          </p:nvPr>
        </p:nvSpPr>
        <p:spPr>
          <a:xfrm>
            <a:off x="548640" y="3305810"/>
            <a:ext cx="1188720" cy="29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方法</a:t>
            </a:r>
          </a:p>
        </p:txBody>
      </p:sp>
      <p:sp>
        <p:nvSpPr>
          <p:cNvPr id="1049125" name="TextBox 9"/>
          <p:cNvSpPr txBox="1"/>
          <p:nvPr>
            <p:custDataLst>
              <p:tags r:id="rId6"/>
            </p:custDataLst>
          </p:nvPr>
        </p:nvSpPr>
        <p:spPr>
          <a:xfrm>
            <a:off x="1874519" y="3238501"/>
            <a:ext cx="10058400" cy="4267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建立 XGBoost-SHAP × Attention-LSTM 双引擎协同验证 + SHAP 三维归因</a:t>
            </a:r>
          </a:p>
        </p:txBody>
      </p:sp>
      <p:sp>
        <p:nvSpPr>
          <p:cNvPr id="1049126" name="Rectangle 10"/>
          <p:cNvSpPr/>
          <p:nvPr>
            <p:custDataLst>
              <p:tags r:id="rId7"/>
            </p:custDataLst>
          </p:nvPr>
        </p:nvSpPr>
        <p:spPr>
          <a:xfrm>
            <a:off x="548640" y="3931920"/>
            <a:ext cx="1188720" cy="594360"/>
          </a:xfrm>
          <a:prstGeom prst="rect">
            <a:avLst/>
          </a:prstGeom>
          <a:solidFill>
            <a:srgbClr val="D97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27" name="TextBox 11"/>
          <p:cNvSpPr txBox="1"/>
          <p:nvPr>
            <p:custDataLst>
              <p:tags r:id="rId8"/>
            </p:custDataLst>
          </p:nvPr>
        </p:nvSpPr>
        <p:spPr>
          <a:xfrm>
            <a:off x="548640" y="4083049"/>
            <a:ext cx="1188720" cy="2921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落地</a:t>
            </a:r>
          </a:p>
        </p:txBody>
      </p:sp>
      <p:sp>
        <p:nvSpPr>
          <p:cNvPr id="1049128" name="TextBox 12"/>
          <p:cNvSpPr txBox="1"/>
          <p:nvPr>
            <p:custDataLst>
              <p:tags r:id="rId9"/>
            </p:custDataLst>
          </p:nvPr>
        </p:nvSpPr>
        <p:spPr>
          <a:xfrm>
            <a:off x="1874519" y="4015741"/>
            <a:ext cx="10058400" cy="4267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开发端到端可视化决策系统,四大模块、推理 ≤ 2s、推动可解释 AI 在农业落地</a:t>
            </a:r>
          </a:p>
        </p:txBody>
      </p:sp>
      <p:sp>
        <p:nvSpPr>
          <p:cNvPr id="1049129" name="Rectangle 13"/>
          <p:cNvSpPr/>
          <p:nvPr/>
        </p:nvSpPr>
        <p:spPr>
          <a:xfrm>
            <a:off x="548640" y="5074920"/>
            <a:ext cx="11064240" cy="1188720"/>
          </a:xfrm>
          <a:prstGeom prst="rect">
            <a:avLst/>
          </a:prstGeom>
          <a:solidFill>
            <a:srgbClr val="143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30" name="TextBox 14"/>
          <p:cNvSpPr txBox="1"/>
          <p:nvPr/>
        </p:nvSpPr>
        <p:spPr>
          <a:xfrm>
            <a:off x="731520" y="5166360"/>
            <a:ext cx="10698480" cy="321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97606"/>
                </a:solidFill>
                <a:latin typeface="微软雅黑" panose="020B0503020204020204" charset="-122"/>
                <a:cs typeface="微软雅黑" panose="020B0503020204020204" charset="-122"/>
              </a:rPr>
              <a:t>致谢</a:t>
            </a:r>
          </a:p>
        </p:txBody>
      </p:sp>
      <p:sp>
        <p:nvSpPr>
          <p:cNvPr id="1049131" name="TextBox 15"/>
          <p:cNvSpPr txBox="1"/>
          <p:nvPr/>
        </p:nvSpPr>
        <p:spPr>
          <a:xfrm>
            <a:off x="777240" y="5440680"/>
            <a:ext cx="10698480" cy="282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感谢</a:t>
            </a:r>
            <a:r>
              <a:rPr lang="zh-CN" sz="16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指导</a:t>
            </a:r>
            <a:r>
              <a:rPr sz="16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老师的悉心指导;感谢学院与团队各位成员的协作支持</a:t>
            </a:r>
          </a:p>
        </p:txBody>
      </p:sp>
      <p:sp>
        <p:nvSpPr>
          <p:cNvPr id="1049132" name="TextBox 16"/>
          <p:cNvSpPr txBox="1"/>
          <p:nvPr/>
        </p:nvSpPr>
        <p:spPr>
          <a:xfrm>
            <a:off x="777240" y="5852160"/>
            <a:ext cx="10698480" cy="321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8F0E6"/>
                </a:solidFill>
                <a:latin typeface="微软雅黑" panose="020B0503020204020204" charset="-122"/>
                <a:cs typeface="微软雅黑" panose="020B0503020204020204" charset="-122"/>
              </a:rPr>
              <a:t>团队 · 稷韧云图   |   潘妙齐 · 熊鑫 · 常宇璇   |   敬请评委批评指正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3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34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4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9135" name="TextBox 3"/>
          <p:cNvSpPr txBox="1"/>
          <p:nvPr/>
        </p:nvSpPr>
        <p:spPr>
          <a:xfrm>
            <a:off x="457200" y="6571043"/>
            <a:ext cx="7315200" cy="1898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AFAF7"/>
                </a:solidFill>
                <a:latin typeface="微软雅黑" panose="020B0503020204020204" charset="-122"/>
                <a:cs typeface="微软雅黑" panose="020B0503020204020204" charset="-122"/>
              </a:rPr>
              <a:t>稷韧云图 · 极端气候下粮食生产风险核心因子识别与韧性提升可视化系统</a:t>
            </a:r>
          </a:p>
        </p:txBody>
      </p:sp>
      <p:sp>
        <p:nvSpPr>
          <p:cNvPr id="1049137" name="TextBox 5"/>
          <p:cNvSpPr txBox="1"/>
          <p:nvPr/>
        </p:nvSpPr>
        <p:spPr>
          <a:xfrm>
            <a:off x="457200" y="228600"/>
            <a:ext cx="6000000" cy="3657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97A1B"/>
                </a:solidFill>
                <a:latin typeface="微软雅黑" panose="020B0503020204020204" charset="-122"/>
                <a:cs typeface="微软雅黑" panose="020B0503020204020204" charset="-122"/>
              </a:rPr>
              <a:t>技术路线 · 详图</a:t>
            </a:r>
            <a:endParaRPr sz="1100" b="1">
              <a:solidFill>
                <a:srgbClr val="D97606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97161" name="Image1"/>
          <p:cNvPicPr/>
          <p:nvPr/>
        </p:nvPicPr>
        <p:blipFill>
          <a:blip r:embed="rId2" cstate="print"/>
          <a:srcRect r="-1908" b="2465"/>
          <a:stretch>
            <a:fillRect/>
          </a:stretch>
        </p:blipFill>
        <p:spPr>
          <a:xfrm>
            <a:off x="1544955" y="160655"/>
            <a:ext cx="8825230" cy="6224270"/>
          </a:xfrm>
          <a:prstGeom prst="rect">
            <a:avLst/>
          </a:prstGeom>
        </p:spPr>
      </p:pic>
      <p:sp>
        <p:nvSpPr>
          <p:cNvPr id="1049138" name="文本框 28"/>
          <p:cNvSpPr txBox="1"/>
          <p:nvPr/>
        </p:nvSpPr>
        <p:spPr>
          <a:xfrm>
            <a:off x="4453255" y="6242050"/>
            <a:ext cx="3963670" cy="39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00" b="1">
                <a:solidFill>
                  <a:srgbClr val="666666"/>
                </a:solidFill>
                <a:latin typeface="微软雅黑" panose="020B0503020204020204" charset="-122"/>
              </a:rPr>
              <a:t>图 1  总体技术路线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4.75,&quot;left&quot;:42.4,&quot;top&quot;:127.65,&quot;width&quot;:900.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39.05,&quot;left&quot;:43.2,&quot;top&quot;:165.6,&quot;width&quot;:878.4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4,&quot;left&quot;:43.2,&quot;top&quot;:158.4,&quot;width&quot;:900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0.4,&quot;left&quot;:43.2,&quot;top&quot;:158.4,&quot;width&quot;:874.8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9.76000000000005,&quot;left&quot;:43.2,&quot;top&quot;:158.4,&quot;width&quot;:880.8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69.2,&quot;left&quot;:43.2,&quot;top&quot;:187.2,&quot;width&quot;:896.399921259842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1437</Words>
  <Application>Microsoft Office PowerPoint</Application>
  <PresentationFormat>宽屏</PresentationFormat>
  <Paragraphs>377</Paragraphs>
  <Slides>16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宋体</vt:lpstr>
      <vt:lpstr>微软雅黑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24091RPADC</dc:creator>
  <cp:lastModifiedBy>妙齐 潘</cp:lastModifiedBy>
  <cp:revision>9</cp:revision>
  <dcterms:created xsi:type="dcterms:W3CDTF">2026-05-28T10:52:10Z</dcterms:created>
  <dcterms:modified xsi:type="dcterms:W3CDTF">2026-05-30T02:01:56Z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83E8DA8C4751464F9D8E1821F9E3228A_13</vt:lpwstr>
  </property>
  <property fmtid="{D5CDD505-2E9C-101B-9397-08002B2CF9AE}" pid="3" name="KSOProductBuildVer">
    <vt:lpwstr>2052-12.1.0.26375</vt:lpwstr>
  </property>
</Properties>
</file>
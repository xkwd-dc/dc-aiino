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58" r:id="rId5"/>
    <p:sldId id="261" r:id="rId6"/>
    <p:sldId id="279" r:id="rId7"/>
    <p:sldId id="263" r:id="rId8"/>
    <p:sldId id="267" r:id="rId9"/>
    <p:sldId id="280" r:id="rId10"/>
    <p:sldId id="271" r:id="rId11"/>
    <p:sldId id="272" r:id="rId12"/>
    <p:sldId id="273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3" autoAdjust="0"/>
  </p:normalViewPr>
  <p:slideViewPr>
    <p:cSldViewPr snapToGrid="0" snapToObjects="1" showGuides="1">
      <p:cViewPr varScale="1">
        <p:scale>
          <a:sx n="77" d="100"/>
          <a:sy n="77" d="100"/>
        </p:scale>
        <p:origin x="883" y="67"/>
      </p:cViewPr>
      <p:guideLst>
        <p:guide orient="horz" pos="2266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9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1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7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7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8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8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8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8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8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8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8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8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1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6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3" Type="http://schemas.openxmlformats.org/officeDocument/2006/relationships/tags" Target="../tags/tag3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tags" Target="../tags/tag50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tags" Target="../tags/tag74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tags" Target="../tags/tag73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2" Type="http://schemas.openxmlformats.org/officeDocument/2006/relationships/tags" Target="../tags/tag76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5" name="Rectangle 2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6" name="TextBox 3"/>
          <p:cNvSpPr txBox="1"/>
          <p:nvPr/>
        </p:nvSpPr>
        <p:spPr>
          <a:xfrm>
            <a:off x="457200" y="457200"/>
            <a:ext cx="320040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CRAIC · 2026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457200" y="868680"/>
            <a:ext cx="3200400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第二十八届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中国机器人及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人工智能创新大赛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457200" y="3017520"/>
            <a:ext cx="3200400" cy="277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人工智能创新比赛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457200" y="4846320"/>
            <a:ext cx="3200400" cy="18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团队名称  TEAM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457200" y="5120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</a:p>
        </p:txBody>
      </p:sp>
      <p:sp>
        <p:nvSpPr>
          <p:cNvPr id="1048591" name="TextBox 8"/>
          <p:cNvSpPr txBox="1"/>
          <p:nvPr/>
        </p:nvSpPr>
        <p:spPr>
          <a:xfrm>
            <a:off x="457200" y="5719920"/>
            <a:ext cx="3200400" cy="23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潘妙齐 · 熊鑫 · 常宇璇</a:t>
            </a:r>
          </a:p>
        </p:txBody>
      </p:sp>
      <p:sp>
        <p:nvSpPr>
          <p:cNvPr id="1048593" name="TextBox 10"/>
          <p:cNvSpPr txBox="1"/>
          <p:nvPr/>
        </p:nvSpPr>
        <p:spPr>
          <a:xfrm>
            <a:off x="457200" y="6121001"/>
            <a:ext cx="3200400" cy="18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2026.05</a:t>
            </a:r>
          </a:p>
        </p:txBody>
      </p:sp>
      <p:sp>
        <p:nvSpPr>
          <p:cNvPr id="1048595" name="TextBox 12"/>
          <p:cNvSpPr txBox="1"/>
          <p:nvPr/>
        </p:nvSpPr>
        <p:spPr>
          <a:xfrm>
            <a:off x="4389120" y="1691640"/>
            <a:ext cx="7498079" cy="216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基于多模态的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极端气候下我国粮食生产风险的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核心因子识别与韧性提升可视化系统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669" name="TextBox 6"/>
          <p:cNvSpPr txBox="1"/>
          <p:nvPr/>
        </p:nvSpPr>
        <p:spPr>
          <a:xfrm>
            <a:off x="457200" y="557530"/>
            <a:ext cx="11247120" cy="56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32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1048670" name="Rectangle 7"/>
          <p:cNvSpPr/>
          <p:nvPr/>
        </p:nvSpPr>
        <p:spPr>
          <a:xfrm>
            <a:off x="457200" y="1088771"/>
            <a:ext cx="1657350" cy="7899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2" name="Rectangle 9"/>
          <p:cNvSpPr/>
          <p:nvPr>
            <p:custDataLst>
              <p:tags r:id="rId1"/>
            </p:custDataLst>
          </p:nvPr>
        </p:nvSpPr>
        <p:spPr>
          <a:xfrm>
            <a:off x="548640" y="1430654"/>
            <a:ext cx="3566160" cy="4787265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3" name="Rectangle 10"/>
          <p:cNvSpPr/>
          <p:nvPr>
            <p:custDataLst>
              <p:tags r:id="rId2"/>
            </p:custDataLst>
          </p:nvPr>
        </p:nvSpPr>
        <p:spPr>
          <a:xfrm>
            <a:off x="548640" y="1430655"/>
            <a:ext cx="3566160" cy="73152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4" name="TextBox 11"/>
          <p:cNvSpPr txBox="1"/>
          <p:nvPr>
            <p:custDataLst>
              <p:tags r:id="rId3"/>
            </p:custDataLst>
          </p:nvPr>
        </p:nvSpPr>
        <p:spPr>
          <a:xfrm>
            <a:off x="82296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政策牵引</a:t>
            </a:r>
          </a:p>
        </p:txBody>
      </p:sp>
      <p:sp>
        <p:nvSpPr>
          <p:cNvPr id="1048675" name="TextBox 12"/>
          <p:cNvSpPr txBox="1"/>
          <p:nvPr>
            <p:custDataLst>
              <p:tags r:id="rId4"/>
            </p:custDataLst>
          </p:nvPr>
        </p:nvSpPr>
        <p:spPr>
          <a:xfrm>
            <a:off x="669290" y="2436495"/>
            <a:ext cx="3262630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党的二十大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、「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十四五」规划纲要、历年中央一号文件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「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夯实粮食安全根基,强化产能基础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」</a:t>
            </a: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IPCC AR6: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气候变化加剧全球农业系统脆弱性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76" name="Rectangle 13"/>
          <p:cNvSpPr/>
          <p:nvPr>
            <p:custDataLst>
              <p:tags r:id="rId5"/>
            </p:custDataLst>
          </p:nvPr>
        </p:nvSpPr>
        <p:spPr>
          <a:xfrm>
            <a:off x="4343399" y="1430655"/>
            <a:ext cx="3611245" cy="4787264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7" name="Rectangle 14"/>
          <p:cNvSpPr/>
          <p:nvPr>
            <p:custDataLst>
              <p:tags r:id="rId6"/>
            </p:custDataLst>
          </p:nvPr>
        </p:nvSpPr>
        <p:spPr>
          <a:xfrm>
            <a:off x="4343400" y="1430655"/>
            <a:ext cx="3611244" cy="73152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8" name="TextBox 15"/>
          <p:cNvSpPr txBox="1"/>
          <p:nvPr>
            <p:custDataLst>
              <p:tags r:id="rId7"/>
            </p:custDataLst>
          </p:nvPr>
        </p:nvSpPr>
        <p:spPr>
          <a:xfrm>
            <a:off x="461772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现实痛点</a:t>
            </a:r>
            <a:endParaRPr sz="2000" b="1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79" name="TextBox 16"/>
          <p:cNvSpPr txBox="1"/>
          <p:nvPr>
            <p:custDataLst>
              <p:tags r:id="rId8"/>
            </p:custDataLst>
          </p:nvPr>
        </p:nvSpPr>
        <p:spPr>
          <a:xfrm>
            <a:off x="4513580" y="2436495"/>
            <a:ext cx="3317240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2023 京津冀「23·7」极端暴雨</a:t>
            </a: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河北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24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万公顷农田受灾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绝产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万公顷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,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玉米损失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22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万吨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海河流域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1963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年来首次流域性洪水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80" name="Rectangle 17"/>
          <p:cNvSpPr/>
          <p:nvPr>
            <p:custDataLst>
              <p:tags r:id="rId9"/>
            </p:custDataLst>
          </p:nvPr>
        </p:nvSpPr>
        <p:spPr>
          <a:xfrm>
            <a:off x="8183242" y="1430654"/>
            <a:ext cx="3521077" cy="4787263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48681" name="Rectangle 18"/>
          <p:cNvSpPr/>
          <p:nvPr>
            <p:custDataLst>
              <p:tags r:id="rId10"/>
            </p:custDataLst>
          </p:nvPr>
        </p:nvSpPr>
        <p:spPr>
          <a:xfrm>
            <a:off x="8183880" y="1430655"/>
            <a:ext cx="3520440" cy="73152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2" name="TextBox 19"/>
          <p:cNvSpPr txBox="1"/>
          <p:nvPr>
            <p:custDataLst>
              <p:tags r:id="rId11"/>
            </p:custDataLst>
          </p:nvPr>
        </p:nvSpPr>
        <p:spPr>
          <a:xfrm>
            <a:off x="841248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趋势加剧</a:t>
            </a:r>
          </a:p>
        </p:txBody>
      </p:sp>
      <p:sp>
        <p:nvSpPr>
          <p:cNvPr id="1048683" name="TextBox 20"/>
          <p:cNvSpPr txBox="1"/>
          <p:nvPr>
            <p:custDataLst>
              <p:tags r:id="rId12"/>
            </p:custDataLst>
          </p:nvPr>
        </p:nvSpPr>
        <p:spPr>
          <a:xfrm>
            <a:off x="8291830" y="2436495"/>
            <a:ext cx="3446145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2023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全国均温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10.7℃ 创 1961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来新高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13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省创历史最高温纪录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长江中下游高温干旱、西南「旱涝急转」频发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2" name="Picture 21" descr="chart_policy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8571" y="3963260"/>
            <a:ext cx="3358494" cy="2028826"/>
          </a:xfrm>
          <a:prstGeom prst="rect">
            <a:avLst/>
          </a:prstGeom>
        </p:spPr>
      </p:pic>
      <p:pic>
        <p:nvPicPr>
          <p:cNvPr id="2097153" name="Picture 22" descr="chart_disaster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474428" y="3968883"/>
            <a:ext cx="3349185" cy="2023203"/>
          </a:xfrm>
          <a:prstGeom prst="rect">
            <a:avLst/>
          </a:prstGeom>
        </p:spPr>
      </p:pic>
      <p:pic>
        <p:nvPicPr>
          <p:cNvPr id="2097154" name="Picture 23" descr="chart_te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242193" y="3968883"/>
            <a:ext cx="3358713" cy="2028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  <a:r>
              <a:rPr sz="1000" b="0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极端气候下粮食生产风险核心因子识别与韧性提升可视化系统</a:t>
            </a:r>
            <a:endParaRPr sz="1000" b="0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89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现有研究的三大瓶颈</a:t>
            </a:r>
          </a:p>
        </p:txBody>
      </p:sp>
      <p:sp>
        <p:nvSpPr>
          <p:cNvPr id="1048690" name="Rectangle 7"/>
          <p:cNvSpPr/>
          <p:nvPr/>
        </p:nvSpPr>
        <p:spPr>
          <a:xfrm>
            <a:off x="457200" y="1173480"/>
            <a:ext cx="3670300" cy="8001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2" name="Rectangle 9"/>
          <p:cNvSpPr/>
          <p:nvPr/>
        </p:nvSpPr>
        <p:spPr>
          <a:xfrm>
            <a:off x="548640" y="159893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3" name="TextBox 10"/>
          <p:cNvSpPr txBox="1"/>
          <p:nvPr/>
        </p:nvSpPr>
        <p:spPr>
          <a:xfrm>
            <a:off x="548640" y="199517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数据维度单一</a:t>
            </a:r>
          </a:p>
        </p:txBody>
      </p:sp>
      <p:sp>
        <p:nvSpPr>
          <p:cNvPr id="1048694" name="Rectangle 11"/>
          <p:cNvSpPr/>
          <p:nvPr/>
        </p:nvSpPr>
        <p:spPr>
          <a:xfrm>
            <a:off x="2926080" y="159893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5" name="TextBox 12"/>
          <p:cNvSpPr txBox="1"/>
          <p:nvPr/>
        </p:nvSpPr>
        <p:spPr>
          <a:xfrm>
            <a:off x="3063240" y="1763522"/>
            <a:ext cx="4846320" cy="78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依赖单一统计数据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缺乏遥感、气象、空间矢量等多模态融合</a:t>
            </a:r>
          </a:p>
        </p:txBody>
      </p:sp>
      <p:sp>
        <p:nvSpPr>
          <p:cNvPr id="1048696" name="Rectangle 13"/>
          <p:cNvSpPr/>
          <p:nvPr/>
        </p:nvSpPr>
        <p:spPr>
          <a:xfrm>
            <a:off x="8046720" y="159893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7" name="Rectangle 14"/>
          <p:cNvSpPr/>
          <p:nvPr/>
        </p:nvSpPr>
        <p:spPr>
          <a:xfrm>
            <a:off x="8046720" y="159893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8" name="TextBox 15"/>
          <p:cNvSpPr txBox="1"/>
          <p:nvPr/>
        </p:nvSpPr>
        <p:spPr>
          <a:xfrm>
            <a:off x="8229600" y="176352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699" name="TextBox 16"/>
          <p:cNvSpPr txBox="1"/>
          <p:nvPr/>
        </p:nvSpPr>
        <p:spPr>
          <a:xfrm>
            <a:off x="8229600" y="2056130"/>
            <a:ext cx="3291840" cy="391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宏观—中观—微观多粒度刻画不足</a:t>
            </a:r>
          </a:p>
        </p:txBody>
      </p:sp>
      <p:sp>
        <p:nvSpPr>
          <p:cNvPr id="1048700" name="Rectangle 17"/>
          <p:cNvSpPr/>
          <p:nvPr/>
        </p:nvSpPr>
        <p:spPr>
          <a:xfrm>
            <a:off x="548640" y="287909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1" name="TextBox 18"/>
          <p:cNvSpPr txBox="1"/>
          <p:nvPr/>
        </p:nvSpPr>
        <p:spPr>
          <a:xfrm>
            <a:off x="548640" y="327533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模型可解释性不足</a:t>
            </a:r>
          </a:p>
        </p:txBody>
      </p:sp>
      <p:sp>
        <p:nvSpPr>
          <p:cNvPr id="1048702" name="Rectangle 19"/>
          <p:cNvSpPr/>
          <p:nvPr/>
        </p:nvSpPr>
        <p:spPr>
          <a:xfrm>
            <a:off x="2926080" y="287909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3" name="TextBox 20"/>
          <p:cNvSpPr txBox="1"/>
          <p:nvPr/>
        </p:nvSpPr>
        <p:spPr>
          <a:xfrm>
            <a:off x="3063240" y="3043682"/>
            <a:ext cx="484632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传统机器学习「黑箱化」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多采用单一模型,缺乏多模型协同验证</a:t>
            </a:r>
          </a:p>
        </p:txBody>
      </p:sp>
      <p:sp>
        <p:nvSpPr>
          <p:cNvPr id="1048704" name="Rectangle 21"/>
          <p:cNvSpPr/>
          <p:nvPr/>
        </p:nvSpPr>
        <p:spPr>
          <a:xfrm>
            <a:off x="8046720" y="287909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5" name="Rectangle 22"/>
          <p:cNvSpPr/>
          <p:nvPr/>
        </p:nvSpPr>
        <p:spPr>
          <a:xfrm>
            <a:off x="8046720" y="287909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6" name="TextBox 23"/>
          <p:cNvSpPr txBox="1"/>
          <p:nvPr/>
        </p:nvSpPr>
        <p:spPr>
          <a:xfrm>
            <a:off x="8229600" y="304368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707" name="TextBox 24"/>
          <p:cNvSpPr txBox="1"/>
          <p:nvPr/>
        </p:nvSpPr>
        <p:spPr>
          <a:xfrm>
            <a:off x="8229600" y="3336290"/>
            <a:ext cx="3291840" cy="391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因子影响路径与贡献度难以量化</a:t>
            </a:r>
          </a:p>
        </p:txBody>
      </p:sp>
      <p:sp>
        <p:nvSpPr>
          <p:cNvPr id="1048708" name="Rectangle 25"/>
          <p:cNvSpPr/>
          <p:nvPr/>
        </p:nvSpPr>
        <p:spPr>
          <a:xfrm>
            <a:off x="548640" y="415925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9" name="TextBox 26"/>
          <p:cNvSpPr txBox="1"/>
          <p:nvPr/>
        </p:nvSpPr>
        <p:spPr>
          <a:xfrm>
            <a:off x="548640" y="455549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研究成果难以落地</a:t>
            </a:r>
          </a:p>
        </p:txBody>
      </p:sp>
      <p:sp>
        <p:nvSpPr>
          <p:cNvPr id="1048710" name="Rectangle 27"/>
          <p:cNvSpPr/>
          <p:nvPr/>
        </p:nvSpPr>
        <p:spPr>
          <a:xfrm>
            <a:off x="2926080" y="415925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1" name="TextBox 28"/>
          <p:cNvSpPr txBox="1"/>
          <p:nvPr/>
        </p:nvSpPr>
        <p:spPr>
          <a:xfrm>
            <a:off x="3063240" y="4323842"/>
            <a:ext cx="4846320" cy="78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多停留在算法与论文层面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缺乏面向决策者的工程化工具</a:t>
            </a:r>
          </a:p>
        </p:txBody>
      </p:sp>
      <p:sp>
        <p:nvSpPr>
          <p:cNvPr id="1048712" name="Rectangle 29"/>
          <p:cNvSpPr/>
          <p:nvPr/>
        </p:nvSpPr>
        <p:spPr>
          <a:xfrm>
            <a:off x="8046720" y="415925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3" name="Rectangle 30"/>
          <p:cNvSpPr/>
          <p:nvPr/>
        </p:nvSpPr>
        <p:spPr>
          <a:xfrm>
            <a:off x="8046720" y="415925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4" name="TextBox 31"/>
          <p:cNvSpPr txBox="1"/>
          <p:nvPr/>
        </p:nvSpPr>
        <p:spPr>
          <a:xfrm>
            <a:off x="8229600" y="432384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715" name="TextBox 32"/>
          <p:cNvSpPr txBox="1"/>
          <p:nvPr/>
        </p:nvSpPr>
        <p:spPr>
          <a:xfrm>
            <a:off x="8229600" y="4616450"/>
            <a:ext cx="3291840" cy="391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前沿 AI 难以服务政策实践</a:t>
            </a:r>
          </a:p>
        </p:txBody>
      </p:sp>
      <p:sp>
        <p:nvSpPr>
          <p:cNvPr id="1048716" name="TextBox 33"/>
          <p:cNvSpPr txBox="1"/>
          <p:nvPr/>
        </p:nvSpPr>
        <p:spPr>
          <a:xfrm>
            <a:off x="548640" y="5722620"/>
            <a:ext cx="1097280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本项目针对三大瓶颈,从数据层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三个维度系统性破题</a:t>
            </a:r>
            <a:endParaRPr b="1" dirty="0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0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1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644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一分钟看懂我们做了什么</a:t>
            </a:r>
          </a:p>
        </p:txBody>
      </p:sp>
      <p:sp>
        <p:nvSpPr>
          <p:cNvPr id="1048645" name="Rectangle 7"/>
          <p:cNvSpPr/>
          <p:nvPr/>
        </p:nvSpPr>
        <p:spPr>
          <a:xfrm>
            <a:off x="457200" y="1219327"/>
            <a:ext cx="447040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6" name="TextBox 8"/>
          <p:cNvSpPr txBox="1"/>
          <p:nvPr/>
        </p:nvSpPr>
        <p:spPr>
          <a:xfrm>
            <a:off x="487375" y="1502092"/>
            <a:ext cx="11247120" cy="261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Data × Method × Application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的端到端闭环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7" name="Rectangle 9"/>
          <p:cNvSpPr/>
          <p:nvPr>
            <p:custDataLst>
              <p:tags r:id="rId1"/>
            </p:custDataLst>
          </p:nvPr>
        </p:nvSpPr>
        <p:spPr>
          <a:xfrm>
            <a:off x="54864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8" name="Rectangle 10"/>
          <p:cNvSpPr/>
          <p:nvPr>
            <p:custDataLst>
              <p:tags r:id="rId2"/>
            </p:custDataLst>
          </p:nvPr>
        </p:nvSpPr>
        <p:spPr>
          <a:xfrm>
            <a:off x="54864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9" name="TextBox 11"/>
          <p:cNvSpPr txBox="1"/>
          <p:nvPr>
            <p:custDataLst>
              <p:tags r:id="rId3"/>
            </p:custDataLst>
          </p:nvPr>
        </p:nvSpPr>
        <p:spPr>
          <a:xfrm>
            <a:off x="82296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48650" name="TextBox 12"/>
          <p:cNvSpPr txBox="1"/>
          <p:nvPr>
            <p:custDataLst>
              <p:tags r:id="rId4"/>
            </p:custDataLst>
          </p:nvPr>
        </p:nvSpPr>
        <p:spPr>
          <a:xfrm>
            <a:off x="82296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 DATA</a:t>
            </a:r>
          </a:p>
        </p:txBody>
      </p:sp>
      <p:sp>
        <p:nvSpPr>
          <p:cNvPr id="1048651" name="TextBox 13"/>
          <p:cNvSpPr txBox="1"/>
          <p:nvPr>
            <p:custDataLst>
              <p:tags r:id="rId5"/>
            </p:custDataLst>
          </p:nvPr>
        </p:nvSpPr>
        <p:spPr>
          <a:xfrm>
            <a:off x="777240" y="3441065"/>
            <a:ext cx="3337560" cy="1215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融合 4 类异构数据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（统计 + 遥感 + 气象 + GIS）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全国 31 省 · 2011–2023 · 403 样本</a:t>
            </a:r>
          </a:p>
        </p:txBody>
      </p:sp>
      <p:sp>
        <p:nvSpPr>
          <p:cNvPr id="1048652" name="Rectangle 14"/>
          <p:cNvSpPr/>
          <p:nvPr>
            <p:custDataLst>
              <p:tags r:id="rId6"/>
            </p:custDataLst>
          </p:nvPr>
        </p:nvSpPr>
        <p:spPr>
          <a:xfrm>
            <a:off x="4343400" y="2103120"/>
            <a:ext cx="3566160" cy="301752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3" name="Rectangle 15"/>
          <p:cNvSpPr/>
          <p:nvPr>
            <p:custDataLst>
              <p:tags r:id="rId7"/>
            </p:custDataLst>
          </p:nvPr>
        </p:nvSpPr>
        <p:spPr>
          <a:xfrm>
            <a:off x="434340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4" name="TextBox 16"/>
          <p:cNvSpPr txBox="1"/>
          <p:nvPr>
            <p:custDataLst>
              <p:tags r:id="rId8"/>
            </p:custDataLst>
          </p:nvPr>
        </p:nvSpPr>
        <p:spPr>
          <a:xfrm>
            <a:off x="461772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48655" name="TextBox 17"/>
          <p:cNvSpPr txBox="1"/>
          <p:nvPr>
            <p:custDataLst>
              <p:tags r:id="rId9"/>
            </p:custDataLst>
          </p:nvPr>
        </p:nvSpPr>
        <p:spPr>
          <a:xfrm>
            <a:off x="461772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方法 METHOD</a:t>
            </a:r>
          </a:p>
        </p:txBody>
      </p:sp>
      <p:sp>
        <p:nvSpPr>
          <p:cNvPr id="1048656" name="TextBox 18"/>
          <p:cNvSpPr txBox="1"/>
          <p:nvPr>
            <p:custDataLst>
              <p:tags r:id="rId10"/>
            </p:custDataLst>
          </p:nvPr>
        </p:nvSpPr>
        <p:spPr>
          <a:xfrm>
            <a:off x="4572000" y="3421380"/>
            <a:ext cx="3325495" cy="1215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XGBoost-SHAP × Attention-LSTM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非线性归因 + 时序响应 双视角</a:t>
            </a:r>
          </a:p>
        </p:txBody>
      </p:sp>
      <p:sp>
        <p:nvSpPr>
          <p:cNvPr id="1048657" name="Rectangle 19"/>
          <p:cNvSpPr/>
          <p:nvPr>
            <p:custDataLst>
              <p:tags r:id="rId11"/>
            </p:custDataLst>
          </p:nvPr>
        </p:nvSpPr>
        <p:spPr>
          <a:xfrm>
            <a:off x="813816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8" name="Rectangle 20"/>
          <p:cNvSpPr/>
          <p:nvPr>
            <p:custDataLst>
              <p:tags r:id="rId12"/>
            </p:custDataLst>
          </p:nvPr>
        </p:nvSpPr>
        <p:spPr>
          <a:xfrm>
            <a:off x="813816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9" name="TextBox 21"/>
          <p:cNvSpPr txBox="1"/>
          <p:nvPr>
            <p:custDataLst>
              <p:tags r:id="rId13"/>
            </p:custDataLst>
          </p:nvPr>
        </p:nvSpPr>
        <p:spPr>
          <a:xfrm>
            <a:off x="841248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48660" name="TextBox 22"/>
          <p:cNvSpPr txBox="1"/>
          <p:nvPr>
            <p:custDataLst>
              <p:tags r:id="rId14"/>
            </p:custDataLst>
          </p:nvPr>
        </p:nvSpPr>
        <p:spPr>
          <a:xfrm>
            <a:off x="841248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 APPLICATION</a:t>
            </a:r>
          </a:p>
        </p:txBody>
      </p:sp>
      <p:sp>
        <p:nvSpPr>
          <p:cNvPr id="1048661" name="TextBox 23"/>
          <p:cNvSpPr txBox="1"/>
          <p:nvPr>
            <p:custDataLst>
              <p:tags r:id="rId15"/>
            </p:custDataLst>
          </p:nvPr>
        </p:nvSpPr>
        <p:spPr>
          <a:xfrm>
            <a:off x="8354695" y="3443605"/>
            <a:ext cx="3017520" cy="1215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Vue + Flask 可视化决策系统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四大模块 · 在线交互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单次推理 ≤ 2 秒</a:t>
            </a:r>
          </a:p>
        </p:txBody>
      </p:sp>
      <p:sp>
        <p:nvSpPr>
          <p:cNvPr id="1048662" name="Rectangle 24"/>
          <p:cNvSpPr/>
          <p:nvPr/>
        </p:nvSpPr>
        <p:spPr>
          <a:xfrm>
            <a:off x="548640" y="5486400"/>
            <a:ext cx="1115568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3" name="TextBox 25"/>
          <p:cNvSpPr txBox="1"/>
          <p:nvPr/>
        </p:nvSpPr>
        <p:spPr>
          <a:xfrm>
            <a:off x="777240" y="5667692"/>
            <a:ext cx="10698480" cy="277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破解传统研究「数据单一</a:t>
            </a:r>
            <a:r>
              <a:rPr sz="1400" b="1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黑箱模型</a:t>
            </a:r>
            <a:r>
              <a:rPr sz="1400" b="1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难以落地」三大瓶颈</a:t>
            </a:r>
            <a:endParaRPr sz="1400" b="1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8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9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722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研究目标 与 四大研究内容</a:t>
            </a:r>
          </a:p>
        </p:txBody>
      </p:sp>
      <p:sp>
        <p:nvSpPr>
          <p:cNvPr id="1048723" name="Rectangle 7"/>
          <p:cNvSpPr/>
          <p:nvPr/>
        </p:nvSpPr>
        <p:spPr>
          <a:xfrm>
            <a:off x="457200" y="1174496"/>
            <a:ext cx="4724400" cy="7899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4" name="TextBox 8"/>
          <p:cNvSpPr txBox="1"/>
          <p:nvPr/>
        </p:nvSpPr>
        <p:spPr>
          <a:xfrm>
            <a:off x="457200" y="15361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覆盖「风险识别→因子归因→韧性评估→可视化决策」全链条</a:t>
            </a:r>
          </a:p>
        </p:txBody>
      </p:sp>
      <p:sp>
        <p:nvSpPr>
          <p:cNvPr id="1048725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6" name="Rectangle 10"/>
          <p:cNvSpPr/>
          <p:nvPr>
            <p:custDataLst>
              <p:tags r:id="rId2"/>
            </p:custDataLst>
          </p:nvPr>
        </p:nvSpPr>
        <p:spPr>
          <a:xfrm>
            <a:off x="54864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7" name="TextBox 11"/>
          <p:cNvSpPr txBox="1"/>
          <p:nvPr>
            <p:custDataLst>
              <p:tags r:id="rId3"/>
            </p:custDataLst>
          </p:nvPr>
        </p:nvSpPr>
        <p:spPr>
          <a:xfrm>
            <a:off x="77724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48728" name="TextBox 12"/>
          <p:cNvSpPr txBox="1"/>
          <p:nvPr>
            <p:custDataLst>
              <p:tags r:id="rId4"/>
            </p:custDataLst>
          </p:nvPr>
        </p:nvSpPr>
        <p:spPr>
          <a:xfrm>
            <a:off x="77724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多模态融合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数据集构建</a:t>
            </a:r>
          </a:p>
        </p:txBody>
      </p:sp>
      <p:sp>
        <p:nvSpPr>
          <p:cNvPr id="1048729" name="TextBox 13"/>
          <p:cNvSpPr txBox="1"/>
          <p:nvPr>
            <p:custDataLst>
              <p:tags r:id="rId5"/>
            </p:custDataLst>
          </p:nvPr>
        </p:nvSpPr>
        <p:spPr>
          <a:xfrm>
            <a:off x="777240" y="4114800"/>
            <a:ext cx="2423160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统计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MODIS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遥感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气象站点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GIS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矢量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线性插值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Butterworth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滤波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时空对齐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Z-score</a:t>
            </a:r>
          </a:p>
        </p:txBody>
      </p:sp>
      <p:sp>
        <p:nvSpPr>
          <p:cNvPr id="1048730" name="Rectangle 14"/>
          <p:cNvSpPr/>
          <p:nvPr>
            <p:custDataLst>
              <p:tags r:id="rId6"/>
            </p:custDataLst>
          </p:nvPr>
        </p:nvSpPr>
        <p:spPr>
          <a:xfrm>
            <a:off x="338328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48731" name="Rectangle 15"/>
          <p:cNvSpPr/>
          <p:nvPr>
            <p:custDataLst>
              <p:tags r:id="rId7"/>
            </p:custDataLst>
          </p:nvPr>
        </p:nvSpPr>
        <p:spPr>
          <a:xfrm>
            <a:off x="338328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2" name="TextBox 16"/>
          <p:cNvSpPr txBox="1"/>
          <p:nvPr>
            <p:custDataLst>
              <p:tags r:id="rId8"/>
            </p:custDataLst>
          </p:nvPr>
        </p:nvSpPr>
        <p:spPr>
          <a:xfrm>
            <a:off x="361188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48733" name="TextBox 17"/>
          <p:cNvSpPr txBox="1"/>
          <p:nvPr>
            <p:custDataLst>
              <p:tags r:id="rId9"/>
            </p:custDataLst>
          </p:nvPr>
        </p:nvSpPr>
        <p:spPr>
          <a:xfrm>
            <a:off x="361188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XGBoost-SHAP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非线性归因</a:t>
            </a:r>
          </a:p>
        </p:txBody>
      </p:sp>
      <p:sp>
        <p:nvSpPr>
          <p:cNvPr id="1048734" name="TextBox 18"/>
          <p:cNvSpPr txBox="1"/>
          <p:nvPr>
            <p:custDataLst>
              <p:tags r:id="rId10"/>
            </p:custDataLst>
          </p:nvPr>
        </p:nvSpPr>
        <p:spPr>
          <a:xfrm>
            <a:off x="3611880" y="4114800"/>
            <a:ext cx="242316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梯度提升树构建风险拟合模型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SHAP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三维度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:</a:t>
            </a:r>
            <a:endParaRPr lang="en-US"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全局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个体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交互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735" name="Rectangle 19"/>
          <p:cNvSpPr/>
          <p:nvPr>
            <p:custDataLst>
              <p:tags r:id="rId11"/>
            </p:custDataLst>
          </p:nvPr>
        </p:nvSpPr>
        <p:spPr>
          <a:xfrm>
            <a:off x="621792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6" name="Rectangle 20"/>
          <p:cNvSpPr/>
          <p:nvPr>
            <p:custDataLst>
              <p:tags r:id="rId12"/>
            </p:custDataLst>
          </p:nvPr>
        </p:nvSpPr>
        <p:spPr>
          <a:xfrm>
            <a:off x="621792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7" name="TextBox 21"/>
          <p:cNvSpPr txBox="1"/>
          <p:nvPr>
            <p:custDataLst>
              <p:tags r:id="rId13"/>
            </p:custDataLst>
          </p:nvPr>
        </p:nvSpPr>
        <p:spPr>
          <a:xfrm>
            <a:off x="644652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48738" name="TextBox 22"/>
          <p:cNvSpPr txBox="1"/>
          <p:nvPr>
            <p:custDataLst>
              <p:tags r:id="rId14"/>
            </p:custDataLst>
          </p:nvPr>
        </p:nvSpPr>
        <p:spPr>
          <a:xfrm>
            <a:off x="644652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Attention-LSTM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时序验证</a:t>
            </a:r>
          </a:p>
        </p:txBody>
      </p:sp>
      <p:sp>
        <p:nvSpPr>
          <p:cNvPr id="1048739" name="TextBox 23"/>
          <p:cNvSpPr txBox="1"/>
          <p:nvPr>
            <p:custDataLst>
              <p:tags r:id="rId15"/>
            </p:custDataLst>
          </p:nvPr>
        </p:nvSpPr>
        <p:spPr>
          <a:xfrm>
            <a:off x="6446520" y="4114800"/>
            <a:ext cx="242316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注意力机制聚焦极端气候敏感时点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作为双重验证模型独立验证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XGB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结果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740" name="Rectangle 24"/>
          <p:cNvSpPr/>
          <p:nvPr>
            <p:custDataLst>
              <p:tags r:id="rId16"/>
            </p:custDataLst>
          </p:nvPr>
        </p:nvSpPr>
        <p:spPr>
          <a:xfrm>
            <a:off x="905256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41" name="Rectangle 25"/>
          <p:cNvSpPr/>
          <p:nvPr>
            <p:custDataLst>
              <p:tags r:id="rId17"/>
            </p:custDataLst>
          </p:nvPr>
        </p:nvSpPr>
        <p:spPr>
          <a:xfrm>
            <a:off x="905256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42" name="TextBox 26"/>
          <p:cNvSpPr txBox="1"/>
          <p:nvPr>
            <p:custDataLst>
              <p:tags r:id="rId18"/>
            </p:custDataLst>
          </p:nvPr>
        </p:nvSpPr>
        <p:spPr>
          <a:xfrm>
            <a:off x="928116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048743" name="TextBox 27"/>
          <p:cNvSpPr txBox="1"/>
          <p:nvPr>
            <p:custDataLst>
              <p:tags r:id="rId19"/>
            </p:custDataLst>
          </p:nvPr>
        </p:nvSpPr>
        <p:spPr>
          <a:xfrm>
            <a:off x="928116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可视化决策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支持系统</a:t>
            </a:r>
          </a:p>
        </p:txBody>
      </p:sp>
      <p:sp>
        <p:nvSpPr>
          <p:cNvPr id="1048744" name="TextBox 28"/>
          <p:cNvSpPr txBox="1"/>
          <p:nvPr>
            <p:custDataLst>
              <p:tags r:id="rId20"/>
            </p:custDataLst>
          </p:nvPr>
        </p:nvSpPr>
        <p:spPr>
          <a:xfrm>
            <a:off x="9281160" y="4083685"/>
            <a:ext cx="2423160" cy="1064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Vue + Flask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四大模块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: </a:t>
            </a:r>
            <a:endParaRPr lang="en-US"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地图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看板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模拟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路径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面向决策者的可操作工具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BD7758-BCC0-B3C8-668B-FABB0C6F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1">
            <a:extLst>
              <a:ext uri="{FF2B5EF4-FFF2-40B4-BE49-F238E27FC236}">
                <a16:creationId xmlns:a16="http://schemas.microsoft.com/office/drawing/2014/main" id="{5BBABB64-E19C-2EDB-441C-0BE517085A3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5" name="Rectangle 2">
            <a:extLst>
              <a:ext uri="{FF2B5EF4-FFF2-40B4-BE49-F238E27FC236}">
                <a16:creationId xmlns:a16="http://schemas.microsoft.com/office/drawing/2014/main" id="{C6392C77-3335-8974-4A3C-9C24D49D0618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6" name="TextBox 3">
            <a:extLst>
              <a:ext uri="{FF2B5EF4-FFF2-40B4-BE49-F238E27FC236}">
                <a16:creationId xmlns:a16="http://schemas.microsoft.com/office/drawing/2014/main" id="{FAB0E112-82C8-B14F-7D37-CD81F48421DC}"/>
              </a:ext>
            </a:extLst>
          </p:cNvPr>
          <p:cNvSpPr txBox="1"/>
          <p:nvPr/>
        </p:nvSpPr>
        <p:spPr>
          <a:xfrm>
            <a:off x="457200" y="6585648"/>
            <a:ext cx="7315200" cy="16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597" name="TextBox 5">
            <a:extLst>
              <a:ext uri="{FF2B5EF4-FFF2-40B4-BE49-F238E27FC236}">
                <a16:creationId xmlns:a16="http://schemas.microsoft.com/office/drawing/2014/main" id="{D304B937-F736-C9BE-D338-2D9EB33BF19D}"/>
              </a:ext>
            </a:extLst>
          </p:cNvPr>
          <p:cNvSpPr txBox="1"/>
          <p:nvPr/>
        </p:nvSpPr>
        <p:spPr>
          <a:xfrm>
            <a:off x="457200" y="228600"/>
            <a:ext cx="5486400" cy="204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技术路线</a:t>
            </a:r>
          </a:p>
        </p:txBody>
      </p:sp>
      <p:sp>
        <p:nvSpPr>
          <p:cNvPr id="1048598" name="TextBox 6">
            <a:extLst>
              <a:ext uri="{FF2B5EF4-FFF2-40B4-BE49-F238E27FC236}">
                <a16:creationId xmlns:a16="http://schemas.microsoft.com/office/drawing/2014/main" id="{744F6F55-B293-8CEB-345B-6FAFF720236D}"/>
              </a:ext>
            </a:extLst>
          </p:cNvPr>
          <p:cNvSpPr txBox="1"/>
          <p:nvPr/>
        </p:nvSpPr>
        <p:spPr>
          <a:xfrm>
            <a:off x="457200" y="640080"/>
            <a:ext cx="11247120" cy="55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总体技术路线</a:t>
            </a:r>
          </a:p>
        </p:txBody>
      </p:sp>
      <p:sp>
        <p:nvSpPr>
          <p:cNvPr id="1048599" name="Rectangle 7">
            <a:extLst>
              <a:ext uri="{FF2B5EF4-FFF2-40B4-BE49-F238E27FC236}">
                <a16:creationId xmlns:a16="http://schemas.microsoft.com/office/drawing/2014/main" id="{84B7AE2F-9B71-D920-DE04-EE4CD5451793}"/>
              </a:ext>
            </a:extLst>
          </p:cNvPr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0" name="TextBox 8">
            <a:extLst>
              <a:ext uri="{FF2B5EF4-FFF2-40B4-BE49-F238E27FC236}">
                <a16:creationId xmlns:a16="http://schemas.microsoft.com/office/drawing/2014/main" id="{03F0A995-0C5B-5CF3-651B-FEB3B279C447}"/>
              </a:ext>
            </a:extLst>
          </p:cNvPr>
          <p:cNvSpPr txBox="1"/>
          <p:nvPr/>
        </p:nvSpPr>
        <p:spPr>
          <a:xfrm>
            <a:off x="457200" y="1536192"/>
            <a:ext cx="11247120" cy="233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多模态数据驱动 + 双引擎协同验证 + 可视化系统集成</a:t>
            </a:r>
          </a:p>
        </p:txBody>
      </p:sp>
      <p:sp>
        <p:nvSpPr>
          <p:cNvPr id="1048601" name="Rectangle 9">
            <a:extLst>
              <a:ext uri="{FF2B5EF4-FFF2-40B4-BE49-F238E27FC236}">
                <a16:creationId xmlns:a16="http://schemas.microsoft.com/office/drawing/2014/main" id="{8587E9C5-6552-6853-EF15-FA265ECD63E4}"/>
              </a:ext>
            </a:extLst>
          </p:cNvPr>
          <p:cNvSpPr/>
          <p:nvPr/>
        </p:nvSpPr>
        <p:spPr>
          <a:xfrm>
            <a:off x="609447" y="2468880"/>
            <a:ext cx="2468880" cy="219456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2" name="TextBox 10">
            <a:extLst>
              <a:ext uri="{FF2B5EF4-FFF2-40B4-BE49-F238E27FC236}">
                <a16:creationId xmlns:a16="http://schemas.microsoft.com/office/drawing/2014/main" id="{563C90EF-57F5-F3D9-696F-0CA54A6D11A1}"/>
              </a:ext>
            </a:extLst>
          </p:cNvPr>
          <p:cNvSpPr txBox="1"/>
          <p:nvPr/>
        </p:nvSpPr>
        <p:spPr>
          <a:xfrm>
            <a:off x="609447" y="2697480"/>
            <a:ext cx="2468880" cy="3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数据采集</a:t>
            </a:r>
          </a:p>
        </p:txBody>
      </p:sp>
      <p:sp>
        <p:nvSpPr>
          <p:cNvPr id="1048603" name="TextBox 11">
            <a:extLst>
              <a:ext uri="{FF2B5EF4-FFF2-40B4-BE49-F238E27FC236}">
                <a16:creationId xmlns:a16="http://schemas.microsoft.com/office/drawing/2014/main" id="{53C631E6-63A7-FC94-6277-FD601505BB11}"/>
              </a:ext>
            </a:extLst>
          </p:cNvPr>
          <p:cNvSpPr txBox="1"/>
          <p:nvPr/>
        </p:nvSpPr>
        <p:spPr>
          <a:xfrm>
            <a:off x="838047" y="3246120"/>
            <a:ext cx="201168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国家统计局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CMDC 气象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MODIS 遥感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GIS 矢量</a:t>
            </a:r>
          </a:p>
        </p:txBody>
      </p:sp>
      <p:sp>
        <p:nvSpPr>
          <p:cNvPr id="1048604" name="Right Arrow 12">
            <a:extLst>
              <a:ext uri="{FF2B5EF4-FFF2-40B4-BE49-F238E27FC236}">
                <a16:creationId xmlns:a16="http://schemas.microsoft.com/office/drawing/2014/main" id="{F4C927B5-47E0-9C8A-7A4A-09D99FC2826D}"/>
              </a:ext>
            </a:extLst>
          </p:cNvPr>
          <p:cNvSpPr/>
          <p:nvPr/>
        </p:nvSpPr>
        <p:spPr>
          <a:xfrm>
            <a:off x="3124047" y="3291840"/>
            <a:ext cx="274320" cy="54864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5" name="Rectangle 13">
            <a:extLst>
              <a:ext uri="{FF2B5EF4-FFF2-40B4-BE49-F238E27FC236}">
                <a16:creationId xmlns:a16="http://schemas.microsoft.com/office/drawing/2014/main" id="{DD736275-AF56-B2B0-D3F0-ACCBD9BB522D}"/>
              </a:ext>
            </a:extLst>
          </p:cNvPr>
          <p:cNvSpPr/>
          <p:nvPr/>
        </p:nvSpPr>
        <p:spPr>
          <a:xfrm>
            <a:off x="3444087" y="2468880"/>
            <a:ext cx="2468880" cy="219456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6" name="TextBox 14">
            <a:extLst>
              <a:ext uri="{FF2B5EF4-FFF2-40B4-BE49-F238E27FC236}">
                <a16:creationId xmlns:a16="http://schemas.microsoft.com/office/drawing/2014/main" id="{CB575469-F130-3C27-7B6E-2B490675AD3E}"/>
              </a:ext>
            </a:extLst>
          </p:cNvPr>
          <p:cNvSpPr txBox="1"/>
          <p:nvPr/>
        </p:nvSpPr>
        <p:spPr>
          <a:xfrm>
            <a:off x="3444087" y="2697480"/>
            <a:ext cx="2468880" cy="3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数据预处理</a:t>
            </a:r>
          </a:p>
        </p:txBody>
      </p:sp>
      <p:sp>
        <p:nvSpPr>
          <p:cNvPr id="1048607" name="TextBox 15">
            <a:extLst>
              <a:ext uri="{FF2B5EF4-FFF2-40B4-BE49-F238E27FC236}">
                <a16:creationId xmlns:a16="http://schemas.microsoft.com/office/drawing/2014/main" id="{EC25FB2D-C02D-400D-3880-6827F6B678CF}"/>
              </a:ext>
            </a:extLst>
          </p:cNvPr>
          <p:cNvSpPr txBox="1"/>
          <p:nvPr/>
        </p:nvSpPr>
        <p:spPr>
          <a:xfrm>
            <a:off x="3672687" y="3246120"/>
            <a:ext cx="201168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缺失值补齐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Butterworth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时空对齐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Z-score 标准化</a:t>
            </a:r>
          </a:p>
        </p:txBody>
      </p:sp>
      <p:sp>
        <p:nvSpPr>
          <p:cNvPr id="1048608" name="Right Arrow 16">
            <a:extLst>
              <a:ext uri="{FF2B5EF4-FFF2-40B4-BE49-F238E27FC236}">
                <a16:creationId xmlns:a16="http://schemas.microsoft.com/office/drawing/2014/main" id="{F1ED2B3B-96B0-9965-EEFF-25B8E962E727}"/>
              </a:ext>
            </a:extLst>
          </p:cNvPr>
          <p:cNvSpPr/>
          <p:nvPr/>
        </p:nvSpPr>
        <p:spPr>
          <a:xfrm>
            <a:off x="5958687" y="3291840"/>
            <a:ext cx="274320" cy="54864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9" name="Rectangle 17">
            <a:extLst>
              <a:ext uri="{FF2B5EF4-FFF2-40B4-BE49-F238E27FC236}">
                <a16:creationId xmlns:a16="http://schemas.microsoft.com/office/drawing/2014/main" id="{FD284536-E829-740F-81B1-B43095EF743D}"/>
              </a:ext>
            </a:extLst>
          </p:cNvPr>
          <p:cNvSpPr/>
          <p:nvPr/>
        </p:nvSpPr>
        <p:spPr>
          <a:xfrm>
            <a:off x="6278727" y="2468880"/>
            <a:ext cx="2468880" cy="219456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10" name="TextBox 18">
            <a:extLst>
              <a:ext uri="{FF2B5EF4-FFF2-40B4-BE49-F238E27FC236}">
                <a16:creationId xmlns:a16="http://schemas.microsoft.com/office/drawing/2014/main" id="{079F9B0F-5EA2-2437-F7B0-801230983983}"/>
              </a:ext>
            </a:extLst>
          </p:cNvPr>
          <p:cNvSpPr txBox="1"/>
          <p:nvPr/>
        </p:nvSpPr>
        <p:spPr>
          <a:xfrm>
            <a:off x="6278727" y="2697480"/>
            <a:ext cx="2468880" cy="3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双引擎建模</a:t>
            </a:r>
          </a:p>
        </p:txBody>
      </p:sp>
      <p:sp>
        <p:nvSpPr>
          <p:cNvPr id="1048611" name="TextBox 19">
            <a:extLst>
              <a:ext uri="{FF2B5EF4-FFF2-40B4-BE49-F238E27FC236}">
                <a16:creationId xmlns:a16="http://schemas.microsoft.com/office/drawing/2014/main" id="{7C337867-25B0-704A-F5E8-6D863AA3E6B8}"/>
              </a:ext>
            </a:extLst>
          </p:cNvPr>
          <p:cNvSpPr txBox="1"/>
          <p:nvPr/>
        </p:nvSpPr>
        <p:spPr>
          <a:xfrm>
            <a:off x="6507327" y="3246120"/>
            <a:ext cx="201168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XGBoost + SHAP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非线性归因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+ Att-LSTM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时序验证</a:t>
            </a:r>
          </a:p>
        </p:txBody>
      </p:sp>
      <p:sp>
        <p:nvSpPr>
          <p:cNvPr id="1048612" name="Right Arrow 20">
            <a:extLst>
              <a:ext uri="{FF2B5EF4-FFF2-40B4-BE49-F238E27FC236}">
                <a16:creationId xmlns:a16="http://schemas.microsoft.com/office/drawing/2014/main" id="{8F028557-B9CD-A113-98D7-6C04D1516591}"/>
              </a:ext>
            </a:extLst>
          </p:cNvPr>
          <p:cNvSpPr/>
          <p:nvPr/>
        </p:nvSpPr>
        <p:spPr>
          <a:xfrm>
            <a:off x="8793327" y="3291840"/>
            <a:ext cx="274320" cy="54864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13" name="Rectangle 21">
            <a:extLst>
              <a:ext uri="{FF2B5EF4-FFF2-40B4-BE49-F238E27FC236}">
                <a16:creationId xmlns:a16="http://schemas.microsoft.com/office/drawing/2014/main" id="{1C56B539-11E6-F934-8251-72001A5E3D63}"/>
              </a:ext>
            </a:extLst>
          </p:cNvPr>
          <p:cNvSpPr/>
          <p:nvPr/>
        </p:nvSpPr>
        <p:spPr>
          <a:xfrm>
            <a:off x="9113367" y="2468880"/>
            <a:ext cx="2468880" cy="219456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14" name="TextBox 22">
            <a:extLst>
              <a:ext uri="{FF2B5EF4-FFF2-40B4-BE49-F238E27FC236}">
                <a16:creationId xmlns:a16="http://schemas.microsoft.com/office/drawing/2014/main" id="{66B69BDB-FEBD-C805-DA35-A7B5323F5FA3}"/>
              </a:ext>
            </a:extLst>
          </p:cNvPr>
          <p:cNvSpPr txBox="1"/>
          <p:nvPr/>
        </p:nvSpPr>
        <p:spPr>
          <a:xfrm>
            <a:off x="9113367" y="2697480"/>
            <a:ext cx="2468880" cy="3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系统集成</a:t>
            </a:r>
          </a:p>
        </p:txBody>
      </p:sp>
      <p:sp>
        <p:nvSpPr>
          <p:cNvPr id="1048615" name="TextBox 23">
            <a:extLst>
              <a:ext uri="{FF2B5EF4-FFF2-40B4-BE49-F238E27FC236}">
                <a16:creationId xmlns:a16="http://schemas.microsoft.com/office/drawing/2014/main" id="{A7F6E238-325C-E37A-A126-0E8765ED4CA6}"/>
              </a:ext>
            </a:extLst>
          </p:cNvPr>
          <p:cNvSpPr txBox="1"/>
          <p:nvPr/>
        </p:nvSpPr>
        <p:spPr>
          <a:xfrm>
            <a:off x="9341967" y="3246120"/>
            <a:ext cx="201168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Flask API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Vue 前端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四大功能模块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推理 ≤ 2s</a:t>
            </a:r>
          </a:p>
        </p:txBody>
      </p:sp>
      <p:sp>
        <p:nvSpPr>
          <p:cNvPr id="1048616" name="Rectangle 24">
            <a:extLst>
              <a:ext uri="{FF2B5EF4-FFF2-40B4-BE49-F238E27FC236}">
                <a16:creationId xmlns:a16="http://schemas.microsoft.com/office/drawing/2014/main" id="{12D0B14B-1A3C-8A64-194F-FAE8808EF402}"/>
              </a:ext>
            </a:extLst>
          </p:cNvPr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17" name="Rectangle 25">
            <a:extLst>
              <a:ext uri="{FF2B5EF4-FFF2-40B4-BE49-F238E27FC236}">
                <a16:creationId xmlns:a16="http://schemas.microsoft.com/office/drawing/2014/main" id="{544BCFC2-0DA8-BF13-CC70-31D112350B24}"/>
              </a:ext>
            </a:extLst>
          </p:cNvPr>
          <p:cNvSpPr/>
          <p:nvPr/>
        </p:nvSpPr>
        <p:spPr>
          <a:xfrm>
            <a:off x="548640" y="5212080"/>
            <a:ext cx="91440" cy="10058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18" name="TextBox 26">
            <a:extLst>
              <a:ext uri="{FF2B5EF4-FFF2-40B4-BE49-F238E27FC236}">
                <a16:creationId xmlns:a16="http://schemas.microsoft.com/office/drawing/2014/main" id="{4ADC40B0-1062-BDCD-398F-EC0CA3EC124C}"/>
              </a:ext>
            </a:extLst>
          </p:cNvPr>
          <p:cNvSpPr txBox="1"/>
          <p:nvPr/>
        </p:nvSpPr>
        <p:spPr>
          <a:xfrm>
            <a:off x="822960" y="5349240"/>
            <a:ext cx="10698480" cy="204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核心闭环</a:t>
            </a:r>
          </a:p>
        </p:txBody>
      </p:sp>
      <p:sp>
        <p:nvSpPr>
          <p:cNvPr id="1048619" name="TextBox 27">
            <a:extLst>
              <a:ext uri="{FF2B5EF4-FFF2-40B4-BE49-F238E27FC236}">
                <a16:creationId xmlns:a16="http://schemas.microsoft.com/office/drawing/2014/main" id="{FF5B72CC-D74C-CB27-06B5-5CFB9836459A}"/>
              </a:ext>
            </a:extLst>
          </p:cNvPr>
          <p:cNvSpPr txBox="1"/>
          <p:nvPr/>
        </p:nvSpPr>
        <p:spPr>
          <a:xfrm>
            <a:off x="822960" y="5623560"/>
            <a:ext cx="10698480" cy="26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两个原理完全不同的模型独立建模 → 交叉印证核心因子 → 系统化输出决策建议</a:t>
            </a:r>
          </a:p>
        </p:txBody>
      </p:sp>
    </p:spTree>
    <p:extLst>
      <p:ext uri="{BB962C8B-B14F-4D97-AF65-F5344CB8AC3E}">
        <p14:creationId xmlns:p14="http://schemas.microsoft.com/office/powerpoint/2010/main" val="2151533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7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74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777" name="TextBox 6"/>
          <p:cNvSpPr txBox="1"/>
          <p:nvPr/>
        </p:nvSpPr>
        <p:spPr>
          <a:xfrm>
            <a:off x="487680" y="47752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多模态数据集构建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D7C3980-A46F-D8F0-CC7C-B1042C18B2D4}"/>
              </a:ext>
            </a:extLst>
          </p:cNvPr>
          <p:cNvSpPr/>
          <p:nvPr/>
        </p:nvSpPr>
        <p:spPr>
          <a:xfrm>
            <a:off x="400050" y="973582"/>
            <a:ext cx="340360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8F7FE81-D47F-E9F1-FA11-B2D658980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82289"/>
              </p:ext>
            </p:extLst>
          </p:nvPr>
        </p:nvGraphicFramePr>
        <p:xfrm>
          <a:off x="4585156" y="1090931"/>
          <a:ext cx="7473493" cy="515112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182798">
                  <a:extLst>
                    <a:ext uri="{9D8B030D-6E8A-4147-A177-3AD203B41FA5}">
                      <a16:colId xmlns:a16="http://schemas.microsoft.com/office/drawing/2014/main" val="3633009745"/>
                    </a:ext>
                  </a:extLst>
                </a:gridCol>
                <a:gridCol w="1358230">
                  <a:extLst>
                    <a:ext uri="{9D8B030D-6E8A-4147-A177-3AD203B41FA5}">
                      <a16:colId xmlns:a16="http://schemas.microsoft.com/office/drawing/2014/main" val="818026736"/>
                    </a:ext>
                  </a:extLst>
                </a:gridCol>
                <a:gridCol w="878650">
                  <a:extLst>
                    <a:ext uri="{9D8B030D-6E8A-4147-A177-3AD203B41FA5}">
                      <a16:colId xmlns:a16="http://schemas.microsoft.com/office/drawing/2014/main" val="2302784847"/>
                    </a:ext>
                  </a:extLst>
                </a:gridCol>
                <a:gridCol w="878650">
                  <a:extLst>
                    <a:ext uri="{9D8B030D-6E8A-4147-A177-3AD203B41FA5}">
                      <a16:colId xmlns:a16="http://schemas.microsoft.com/office/drawing/2014/main" val="948476351"/>
                    </a:ext>
                  </a:extLst>
                </a:gridCol>
                <a:gridCol w="3175165">
                  <a:extLst>
                    <a:ext uri="{9D8B030D-6E8A-4147-A177-3AD203B41FA5}">
                      <a16:colId xmlns:a16="http://schemas.microsoft.com/office/drawing/2014/main" val="437890406"/>
                    </a:ext>
                  </a:extLst>
                </a:gridCol>
              </a:tblGrid>
              <a:tr h="3533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 dirty="0"/>
                        <a:t>变量类别</a:t>
                      </a:r>
                      <a:endParaRPr 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变量名称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符号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单位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 dirty="0"/>
                        <a:t>计算</a:t>
                      </a:r>
                      <a:r>
                        <a:rPr lang="en-US" altLang="zh-CN" sz="1400" b="1" dirty="0"/>
                        <a:t>/</a:t>
                      </a:r>
                      <a:r>
                        <a:rPr lang="zh-CN" sz="1400" b="1" dirty="0"/>
                        <a:t>定义说明</a:t>
                      </a:r>
                      <a:endParaRPr 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10932409"/>
                  </a:ext>
                </a:extLst>
              </a:tr>
              <a:tr h="63255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被解释变量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粮食单产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Y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kg/ha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各省域年度粮食实际单产（由原始统计数据重算）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744072136"/>
                  </a:ext>
                </a:extLst>
              </a:tr>
              <a:tr h="353995">
                <a:tc rowSpan="4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解释变量：气候因子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平均气温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Temp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°C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年度省域平均气温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724565668"/>
                  </a:ext>
                </a:extLst>
              </a:tr>
              <a:tr h="35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干旱指数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SPEI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—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标准化降水蒸散指数（月均值）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656357478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降水量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Prec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mm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年度累计降水量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25343608"/>
                  </a:ext>
                </a:extLst>
              </a:tr>
              <a:tr h="3533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日照时数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Sun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h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年度累计日照总时长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85286296"/>
                  </a:ext>
                </a:extLst>
              </a:tr>
              <a:tr h="352671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解释变量：致灾因子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洪涝占比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Flood_R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%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洪涝受灾面积占总受灾面积比重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327964190"/>
                  </a:ext>
                </a:extLst>
              </a:tr>
              <a:tr h="3533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旱灾受灾面积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Drou_A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khm²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年度旱灾实际受灾、成灾面积统计值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289108047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水灾受灾面积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Flood_A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khm²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年度水灾实际受灾、成灾面积统计值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74333893"/>
                  </a:ext>
                </a:extLst>
              </a:tr>
              <a:tr h="35201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解释变量：生产韧性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灌溉率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Irr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%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有效灌溉面积占耕地面积比重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764352792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农机总动力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Mech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kW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衡量农业机械化与现代化水平指标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545994896"/>
                  </a:ext>
                </a:extLst>
              </a:tr>
              <a:tr h="35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化肥施用量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Fert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t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衡量农业生产投入强度的指标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41196054"/>
                  </a:ext>
                </a:extLst>
              </a:tr>
              <a:tr h="63388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解释变量：遥感因子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植被指数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NDVI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—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MODIS</a:t>
                      </a:r>
                      <a:r>
                        <a:rPr lang="zh-CN" sz="1200" dirty="0"/>
                        <a:t>归一化植被指数，生长季均值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022645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BA1FFC75-A421-2A23-A6BC-826B7FEB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009"/>
          <a:stretch>
            <a:fillRect/>
          </a:stretch>
        </p:blipFill>
        <p:spPr>
          <a:xfrm>
            <a:off x="49201" y="1278634"/>
            <a:ext cx="4476750" cy="4861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1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2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855" name="TextBox 6"/>
          <p:cNvSpPr txBox="1"/>
          <p:nvPr/>
        </p:nvSpPr>
        <p:spPr>
          <a:xfrm>
            <a:off x="457200" y="327852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双引擎协同验证机制</a:t>
            </a:r>
            <a:endParaRPr sz="32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56" name="Rectangle 7"/>
          <p:cNvSpPr/>
          <p:nvPr/>
        </p:nvSpPr>
        <p:spPr>
          <a:xfrm>
            <a:off x="444500" y="867920"/>
            <a:ext cx="3696970" cy="100798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7" name="TextBox 8"/>
          <p:cNvSpPr txBox="1"/>
          <p:nvPr/>
        </p:nvSpPr>
        <p:spPr>
          <a:xfrm>
            <a:off x="457200" y="1119888"/>
            <a:ext cx="1124712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两个原理完全不同的模型 → 独立建模 → 交叉印证 → 结论稳健</a:t>
            </a:r>
          </a:p>
        </p:txBody>
      </p:sp>
      <p:sp>
        <p:nvSpPr>
          <p:cNvPr id="1048858" name="Rectangle 9"/>
          <p:cNvSpPr/>
          <p:nvPr/>
        </p:nvSpPr>
        <p:spPr>
          <a:xfrm>
            <a:off x="548640" y="1659312"/>
            <a:ext cx="3840480" cy="23774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0" name="TextBox 11"/>
          <p:cNvSpPr txBox="1"/>
          <p:nvPr/>
        </p:nvSpPr>
        <p:spPr>
          <a:xfrm>
            <a:off x="548640" y="1901564"/>
            <a:ext cx="384048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XGBoost + SHAP</a:t>
            </a:r>
          </a:p>
        </p:txBody>
      </p:sp>
      <p:sp>
        <p:nvSpPr>
          <p:cNvPr id="1048861" name="TextBox 12"/>
          <p:cNvSpPr txBox="1"/>
          <p:nvPr/>
        </p:nvSpPr>
        <p:spPr>
          <a:xfrm>
            <a:off x="777240" y="2347652"/>
            <a:ext cx="338328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数据驱动归因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非线性树模型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全局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个体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交互三维归因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横截面归因视角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62" name="Rectangle 13"/>
          <p:cNvSpPr/>
          <p:nvPr/>
        </p:nvSpPr>
        <p:spPr>
          <a:xfrm>
            <a:off x="7772400" y="1659312"/>
            <a:ext cx="3840480" cy="23774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4" name="TextBox 15"/>
          <p:cNvSpPr txBox="1"/>
          <p:nvPr/>
        </p:nvSpPr>
        <p:spPr>
          <a:xfrm>
            <a:off x="7772400" y="1950777"/>
            <a:ext cx="384048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Attention-LSTM</a:t>
            </a:r>
          </a:p>
        </p:txBody>
      </p:sp>
      <p:sp>
        <p:nvSpPr>
          <p:cNvPr id="1048865" name="TextBox 16"/>
          <p:cNvSpPr txBox="1"/>
          <p:nvPr/>
        </p:nvSpPr>
        <p:spPr>
          <a:xfrm>
            <a:off x="8001000" y="2347652"/>
            <a:ext cx="338328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时序响应归因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深度时序模型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注意力加权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时序归因视角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66" name="Right Arrow 17"/>
          <p:cNvSpPr/>
          <p:nvPr/>
        </p:nvSpPr>
        <p:spPr>
          <a:xfrm>
            <a:off x="4434840" y="2665152"/>
            <a:ext cx="640080" cy="36576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7" name="Left Arrow 18"/>
          <p:cNvSpPr/>
          <p:nvPr/>
        </p:nvSpPr>
        <p:spPr>
          <a:xfrm>
            <a:off x="7086600" y="2665152"/>
            <a:ext cx="640080" cy="365760"/>
          </a:xfrm>
          <a:prstGeom prst="lef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8" name="Rectangle 19"/>
          <p:cNvSpPr/>
          <p:nvPr/>
        </p:nvSpPr>
        <p:spPr>
          <a:xfrm>
            <a:off x="5074920" y="1842192"/>
            <a:ext cx="2057400" cy="20116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9" name="TextBox 20"/>
          <p:cNvSpPr txBox="1"/>
          <p:nvPr/>
        </p:nvSpPr>
        <p:spPr>
          <a:xfrm>
            <a:off x="5074920" y="2007112"/>
            <a:ext cx="205740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交叉印证</a:t>
            </a:r>
          </a:p>
        </p:txBody>
      </p:sp>
      <p:sp>
        <p:nvSpPr>
          <p:cNvPr id="1048870" name="TextBox 21"/>
          <p:cNvSpPr txBox="1"/>
          <p:nvPr/>
        </p:nvSpPr>
        <p:spPr>
          <a:xfrm>
            <a:off x="5052060" y="2320709"/>
            <a:ext cx="2057400" cy="394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稳健归因</a:t>
            </a:r>
          </a:p>
        </p:txBody>
      </p:sp>
      <p:sp>
        <p:nvSpPr>
          <p:cNvPr id="1048871" name="TextBox 22"/>
          <p:cNvSpPr txBox="1"/>
          <p:nvPr/>
        </p:nvSpPr>
        <p:spPr>
          <a:xfrm>
            <a:off x="5074920" y="2869349"/>
            <a:ext cx="2057400" cy="74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Top-K 因子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Robust to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model choice</a:t>
            </a:r>
          </a:p>
        </p:txBody>
      </p:sp>
      <p:sp>
        <p:nvSpPr>
          <p:cNvPr id="1048872" name="Rectangle 23"/>
          <p:cNvSpPr/>
          <p:nvPr/>
        </p:nvSpPr>
        <p:spPr>
          <a:xfrm>
            <a:off x="501650" y="4138441"/>
            <a:ext cx="5340350" cy="225119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ectangle 23">
            <a:extLst>
              <a:ext uri="{FF2B5EF4-FFF2-40B4-BE49-F238E27FC236}">
                <a16:creationId xmlns:a16="http://schemas.microsoft.com/office/drawing/2014/main" id="{A36967ED-23D6-945E-61C5-AA6357CD82B9}"/>
              </a:ext>
            </a:extLst>
          </p:cNvPr>
          <p:cNvSpPr/>
          <p:nvPr/>
        </p:nvSpPr>
        <p:spPr>
          <a:xfrm>
            <a:off x="6457950" y="4158393"/>
            <a:ext cx="5306060" cy="2218468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B69531B9-98B0-6834-0A34-39DD404CABAE}"/>
              </a:ext>
            </a:extLst>
          </p:cNvPr>
          <p:cNvSpPr txBox="1"/>
          <p:nvPr/>
        </p:nvSpPr>
        <p:spPr>
          <a:xfrm>
            <a:off x="623570" y="4244621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D97606"/>
                </a:solidFill>
                <a:latin typeface="微软雅黑" panose="020B0503020204020204" charset="-122"/>
              </a:rPr>
              <a:t>加法模型</a:t>
            </a:r>
            <a:endParaRPr sz="1100" b="1" i="0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697EEF44-E3B5-69C1-E448-03CFA3C5D753}"/>
              </a:ext>
            </a:extLst>
          </p:cNvPr>
          <p:cNvSpPr txBox="1"/>
          <p:nvPr/>
        </p:nvSpPr>
        <p:spPr>
          <a:xfrm>
            <a:off x="1417320" y="41845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ŷ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= </a:t>
            </a:r>
            <a:r>
              <a:rPr sz="1500" b="1" i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f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ₖ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(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x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), 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k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= 1, …,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K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BD87484D-9BDC-CA58-8C98-3498E6C9529E}"/>
              </a:ext>
            </a:extLst>
          </p:cNvPr>
          <p:cNvSpPr txBox="1"/>
          <p:nvPr/>
        </p:nvSpPr>
        <p:spPr>
          <a:xfrm>
            <a:off x="623570" y="4562299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D97606"/>
                </a:solidFill>
                <a:latin typeface="微软雅黑" panose="020B0503020204020204" charset="-122"/>
              </a:rPr>
              <a:t>目标函数</a:t>
            </a:r>
            <a:endParaRPr sz="1100" b="1" i="0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2F9A277B-E951-3AAA-F5E0-4AC93828865A}"/>
              </a:ext>
            </a:extLst>
          </p:cNvPr>
          <p:cNvSpPr txBox="1"/>
          <p:nvPr/>
        </p:nvSpPr>
        <p:spPr>
          <a:xfrm>
            <a:off x="1364615" y="4528547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Obj = </a:t>
            </a:r>
            <a:r>
              <a:rPr sz="1500" b="1" i="0" dirty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 L(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y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, 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ŷ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) + </a:t>
            </a:r>
            <a:r>
              <a:rPr sz="1500" b="1" i="0" dirty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 Ω(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f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ₖ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)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10872DB2-D452-170D-49CC-75F0E6484D49}"/>
              </a:ext>
            </a:extLst>
          </p:cNvPr>
          <p:cNvSpPr txBox="1"/>
          <p:nvPr/>
        </p:nvSpPr>
        <p:spPr>
          <a:xfrm>
            <a:off x="623570" y="4840741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非线性建模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E4EA5C38-133D-32B2-1074-683B0910F7AE}"/>
              </a:ext>
            </a:extLst>
          </p:cNvPr>
          <p:cNvSpPr txBox="1"/>
          <p:nvPr/>
        </p:nvSpPr>
        <p:spPr>
          <a:xfrm>
            <a:off x="1794510" y="4853475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捕捉气温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×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灌溉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×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降水的多因子耦合</a:t>
            </a:r>
            <a:endParaRPr sz="14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D3EE84AA-B194-0644-32BE-98273462D132}"/>
              </a:ext>
            </a:extLst>
          </p:cNvPr>
          <p:cNvSpPr txBox="1"/>
          <p:nvPr/>
        </p:nvSpPr>
        <p:spPr>
          <a:xfrm>
            <a:off x="623570" y="5141114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抗过拟合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EC926987-C455-9CF1-D105-979F3E072907}"/>
              </a:ext>
            </a:extLst>
          </p:cNvPr>
          <p:cNvSpPr txBox="1"/>
          <p:nvPr/>
        </p:nvSpPr>
        <p:spPr>
          <a:xfrm>
            <a:off x="1794510" y="5141102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正则惩罚下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403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样本仍保持稳健</a:t>
            </a:r>
            <a:endParaRPr sz="14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65388C28-9524-8915-0FA6-9C8257641253}"/>
              </a:ext>
            </a:extLst>
          </p:cNvPr>
          <p:cNvSpPr txBox="1"/>
          <p:nvPr/>
        </p:nvSpPr>
        <p:spPr>
          <a:xfrm>
            <a:off x="623570" y="5461161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测试集实测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921BD2D4-CF8B-9B9F-4B0B-A0F8660BA984}"/>
              </a:ext>
            </a:extLst>
          </p:cNvPr>
          <p:cNvSpPr txBox="1"/>
          <p:nvPr/>
        </p:nvSpPr>
        <p:spPr>
          <a:xfrm>
            <a:off x="1794510" y="5453637"/>
            <a:ext cx="4846320" cy="320040"/>
          </a:xfrm>
          <a:prstGeom prst="rect">
            <a:avLst/>
          </a:prstGeom>
          <a:noFill/>
        </p:spPr>
        <p:txBody>
          <a:bodyPr wrap="square" lIns="0" tIns="0" bIns="0"/>
          <a:lstStyle/>
          <a:p>
            <a:pPr algn="l"/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R² = </a:t>
            </a:r>
            <a:r>
              <a:rPr sz="1400" b="1" dirty="0">
                <a:solidFill>
                  <a:srgbClr val="1F4D2E"/>
                </a:solidFill>
                <a:latin typeface="Arial" panose="020B0604020202020204"/>
              </a:rPr>
              <a:t>0.6293</a:t>
            </a:r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    </a:t>
            </a:r>
            <a:r>
              <a:rPr sz="1400" dirty="0" err="1">
                <a:solidFill>
                  <a:srgbClr val="4A5552"/>
                </a:solidFill>
                <a:latin typeface="微软雅黑" panose="020B0503020204020204" charset="-122"/>
              </a:rPr>
              <a:t>解释</a:t>
            </a:r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 62.93% </a:t>
            </a:r>
            <a:r>
              <a:rPr sz="1400" dirty="0" err="1">
                <a:solidFill>
                  <a:srgbClr val="4A5552"/>
                </a:solidFill>
                <a:latin typeface="微软雅黑" panose="020B0503020204020204" charset="-122"/>
              </a:rPr>
              <a:t>的风险波动</a:t>
            </a:r>
            <a:endParaRPr sz="140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26">
            <a:extLst>
              <a:ext uri="{FF2B5EF4-FFF2-40B4-BE49-F238E27FC236}">
                <a16:creationId xmlns:a16="http://schemas.microsoft.com/office/drawing/2014/main" id="{44F6F9C1-258B-C23B-618A-E5C118BAE048}"/>
              </a:ext>
            </a:extLst>
          </p:cNvPr>
          <p:cNvSpPr txBox="1"/>
          <p:nvPr/>
        </p:nvSpPr>
        <p:spPr>
          <a:xfrm>
            <a:off x="599765" y="5840344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400" b="1" i="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</a:t>
            </a:r>
            <a:r>
              <a:rPr lang="zh-CN" altLang="en-US" sz="1400" b="1" i="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归因维度</a:t>
            </a:r>
            <a:endParaRPr sz="1400" b="1" i="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430F3D57-7502-6A4D-9248-937FEE8DE3AA}"/>
              </a:ext>
            </a:extLst>
          </p:cNvPr>
          <p:cNvSpPr txBox="1"/>
          <p:nvPr/>
        </p:nvSpPr>
        <p:spPr>
          <a:xfrm>
            <a:off x="1899783" y="5822122"/>
            <a:ext cx="48463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400" dirty="0" err="1">
                <a:solidFill>
                  <a:srgbClr val="4A5552"/>
                </a:solidFill>
                <a:latin typeface="微软雅黑" panose="020B0503020204020204" charset="-122"/>
              </a:rPr>
              <a:t>Mean|SHAP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 value|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对特征排序、瀑布图分解</a:t>
            </a:r>
            <a:endParaRPr lang="en-US" altLang="zh-CN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单样本预测、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SHAP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交互依赖图揭示非线性耦合</a:t>
            </a:r>
          </a:p>
          <a:p>
            <a:endParaRPr lang="zh-CN" altLang="en-US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endParaRPr lang="zh-CN" altLang="en-US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pPr algn="l"/>
            <a:endParaRPr sz="1400" b="0" i="0" dirty="0">
              <a:solidFill>
                <a:srgbClr val="4A55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6BA81F-C343-EFA9-1E36-0E873EAA2178}"/>
              </a:ext>
            </a:extLst>
          </p:cNvPr>
          <p:cNvSpPr txBox="1"/>
          <p:nvPr/>
        </p:nvSpPr>
        <p:spPr>
          <a:xfrm>
            <a:off x="6457950" y="4179117"/>
            <a:ext cx="6096000" cy="3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架构与机制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94570F-6099-9DFA-6C53-1B01F0921B90}"/>
              </a:ext>
            </a:extLst>
          </p:cNvPr>
          <p:cNvSpPr txBox="1"/>
          <p:nvPr/>
        </p:nvSpPr>
        <p:spPr>
          <a:xfrm>
            <a:off x="6712570" y="4634144"/>
            <a:ext cx="627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1A1A1A"/>
                </a:solidFill>
                <a:latin typeface="微软雅黑" panose="020B0503020204020204" charset="-122"/>
              </a:rPr>
              <a:t>LSTM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门控记忆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82CE33-1471-7F8B-7F24-7C3D10099768}"/>
              </a:ext>
            </a:extLst>
          </p:cNvPr>
          <p:cNvSpPr txBox="1"/>
          <p:nvPr/>
        </p:nvSpPr>
        <p:spPr>
          <a:xfrm>
            <a:off x="6692544" y="5037936"/>
            <a:ext cx="6460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1A1A1A"/>
                </a:solidFill>
                <a:latin typeface="微软雅黑" panose="020B0503020204020204" charset="-122"/>
              </a:rPr>
              <a:t>Attention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加权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1BE775-9BB4-9AA2-5E8B-05D007022F9E}"/>
              </a:ext>
            </a:extLst>
          </p:cNvPr>
          <p:cNvSpPr txBox="1"/>
          <p:nvPr/>
        </p:nvSpPr>
        <p:spPr>
          <a:xfrm>
            <a:off x="6603334" y="5402305"/>
            <a:ext cx="6549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时序敏感性</a:t>
            </a:r>
            <a:r>
              <a:rPr lang="zh-CN" altLang="en-US" sz="1800" dirty="0">
                <a:solidFill>
                  <a:srgbClr val="1A1A1A"/>
                </a:solidFill>
                <a:latin typeface="微软雅黑" panose="020B0503020204020204" charset="-122"/>
              </a:rPr>
              <a:t> 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41893F-25D2-013A-8EAA-0190ED63337B}"/>
              </a:ext>
            </a:extLst>
          </p:cNvPr>
          <p:cNvSpPr txBox="1"/>
          <p:nvPr/>
        </p:nvSpPr>
        <p:spPr>
          <a:xfrm>
            <a:off x="6692544" y="5855143"/>
            <a:ext cx="6549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双重验证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D05E007B-3938-12FC-99D8-73AC08AF4D01}"/>
              </a:ext>
            </a:extLst>
          </p:cNvPr>
          <p:cNvSpPr txBox="1"/>
          <p:nvPr/>
        </p:nvSpPr>
        <p:spPr>
          <a:xfrm>
            <a:off x="8130910" y="4163369"/>
            <a:ext cx="3931920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 err="1">
                <a:solidFill>
                  <a:srgbClr val="D97606"/>
                </a:solidFill>
                <a:latin typeface="微软雅黑" panose="020B0503020204020204" charset="-122"/>
              </a:rPr>
              <a:t>单样本实测验证</a:t>
            </a:r>
            <a:endParaRPr sz="1400" b="1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53E65A-DCD3-2D5B-526F-158E63133BFC}"/>
              </a:ext>
            </a:extLst>
          </p:cNvPr>
          <p:cNvSpPr/>
          <p:nvPr/>
        </p:nvSpPr>
        <p:spPr>
          <a:xfrm>
            <a:off x="8408020" y="4463072"/>
            <a:ext cx="3282330" cy="1847875"/>
          </a:xfrm>
          <a:prstGeom prst="rect">
            <a:avLst/>
          </a:prstGeom>
          <a:solidFill>
            <a:schemeClr val="lt1">
              <a:alpha val="57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763383-5CC4-51A0-2E5D-6EAE8EF3DD73}"/>
              </a:ext>
            </a:extLst>
          </p:cNvPr>
          <p:cNvSpPr txBox="1"/>
          <p:nvPr/>
        </p:nvSpPr>
        <p:spPr>
          <a:xfrm>
            <a:off x="8408020" y="4522007"/>
            <a:ext cx="2438880" cy="3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Case ·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河南省 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2022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7019702B-C2F2-231C-7305-030A66A5F91A}"/>
              </a:ext>
            </a:extLst>
          </p:cNvPr>
          <p:cNvSpPr txBox="1"/>
          <p:nvPr/>
        </p:nvSpPr>
        <p:spPr>
          <a:xfrm>
            <a:off x="8568426" y="4895542"/>
            <a:ext cx="3566160" cy="19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dirty="0" err="1">
                <a:solidFill>
                  <a:srgbClr val="4A5552"/>
                </a:solidFill>
                <a:latin typeface="微软雅黑" panose="020B0503020204020204" charset="-122"/>
              </a:rPr>
              <a:t>真实单产</a:t>
            </a:r>
            <a:endParaRPr sz="120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3DD581A-BDDA-97F9-CC73-700C75F3A6FD}"/>
              </a:ext>
            </a:extLst>
          </p:cNvPr>
          <p:cNvSpPr txBox="1"/>
          <p:nvPr/>
        </p:nvSpPr>
        <p:spPr>
          <a:xfrm>
            <a:off x="8465186" y="5139024"/>
            <a:ext cx="664612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/>
                <a:cs typeface="Arial" panose="020B0604020202020204"/>
              </a:rPr>
              <a:t>4615 kg/ha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54719E-AD4E-372C-E970-1DC6B420B195}"/>
              </a:ext>
            </a:extLst>
          </p:cNvPr>
          <p:cNvSpPr txBox="1"/>
          <p:nvPr/>
        </p:nvSpPr>
        <p:spPr>
          <a:xfrm>
            <a:off x="10073835" y="4871023"/>
            <a:ext cx="184452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dirty="0" err="1">
                <a:solidFill>
                  <a:srgbClr val="4A5552"/>
                </a:solidFill>
                <a:latin typeface="微软雅黑" panose="020B0503020204020204" charset="-122"/>
              </a:rPr>
              <a:t>Att</a:t>
            </a:r>
            <a:r>
              <a:rPr lang="en-US" altLang="zh-CN" sz="1200" dirty="0">
                <a:solidFill>
                  <a:srgbClr val="4A5552"/>
                </a:solidFill>
                <a:latin typeface="微软雅黑" panose="020B0503020204020204" charset="-122"/>
              </a:rPr>
              <a:t>-LSTM </a:t>
            </a:r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预测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B4F03DE-1F7C-8633-439F-E930DD61C1A2}"/>
              </a:ext>
            </a:extLst>
          </p:cNvPr>
          <p:cNvSpPr txBox="1"/>
          <p:nvPr/>
        </p:nvSpPr>
        <p:spPr>
          <a:xfrm>
            <a:off x="10039954" y="5131763"/>
            <a:ext cx="1772533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solidFill>
                  <a:srgbClr val="D97606"/>
                </a:solidFill>
                <a:latin typeface="Arial" panose="020B0604020202020204"/>
                <a:cs typeface="Arial" panose="020B0604020202020204"/>
              </a:rPr>
              <a:t>4657.6 kg/ha</a:t>
            </a: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32D34051-E36A-C95B-E2E0-8F37FF3C0ABC}"/>
              </a:ext>
            </a:extLst>
          </p:cNvPr>
          <p:cNvSpPr/>
          <p:nvPr/>
        </p:nvSpPr>
        <p:spPr>
          <a:xfrm>
            <a:off x="8531015" y="5521736"/>
            <a:ext cx="3037415" cy="719629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2AC07451-7DA7-D5D7-E9B5-C9582599D5CA}"/>
              </a:ext>
            </a:extLst>
          </p:cNvPr>
          <p:cNvSpPr txBox="1"/>
          <p:nvPr/>
        </p:nvSpPr>
        <p:spPr>
          <a:xfrm>
            <a:off x="8892138" y="5567456"/>
            <a:ext cx="2248767" cy="16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预测误差</a:t>
            </a:r>
            <a:endParaRPr sz="1000" b="1" dirty="0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FDFCEF3B-61A0-251A-8D9F-C1E0EB524BE1}"/>
              </a:ext>
            </a:extLst>
          </p:cNvPr>
          <p:cNvSpPr txBox="1"/>
          <p:nvPr/>
        </p:nvSpPr>
        <p:spPr>
          <a:xfrm>
            <a:off x="8809462" y="5848762"/>
            <a:ext cx="2574817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dirty="0">
                <a:solidFill>
                  <a:srgbClr val="1F4D2E"/>
                </a:solidFill>
                <a:latin typeface="Arial" panose="020B0604020202020204"/>
                <a:cs typeface="Arial" panose="020B0604020202020204"/>
              </a:rPr>
              <a:t>+42.6 kg/ha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65D8162-8CD0-EA7E-452F-3787B7499D07}"/>
              </a:ext>
            </a:extLst>
          </p:cNvPr>
          <p:cNvSpPr txBox="1"/>
          <p:nvPr/>
        </p:nvSpPr>
        <p:spPr>
          <a:xfrm>
            <a:off x="6484565" y="4588337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AAF2973-E860-3321-ABEA-38DB915AD7A8}"/>
              </a:ext>
            </a:extLst>
          </p:cNvPr>
          <p:cNvSpPr txBox="1"/>
          <p:nvPr/>
        </p:nvSpPr>
        <p:spPr>
          <a:xfrm>
            <a:off x="6480253" y="4993486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0FF2EA-572C-68B5-2C18-8CF353C1B770}"/>
              </a:ext>
            </a:extLst>
          </p:cNvPr>
          <p:cNvSpPr txBox="1"/>
          <p:nvPr/>
        </p:nvSpPr>
        <p:spPr>
          <a:xfrm>
            <a:off x="6473177" y="5405708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C17567A-F5DD-AC67-0E2E-AF8A55E444A2}"/>
              </a:ext>
            </a:extLst>
          </p:cNvPr>
          <p:cNvSpPr txBox="1"/>
          <p:nvPr/>
        </p:nvSpPr>
        <p:spPr>
          <a:xfrm>
            <a:off x="6484565" y="5822122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716B7-6C3F-D133-7030-8D354272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Rectangle 1">
            <a:extLst>
              <a:ext uri="{FF2B5EF4-FFF2-40B4-BE49-F238E27FC236}">
                <a16:creationId xmlns:a16="http://schemas.microsoft.com/office/drawing/2014/main" id="{DAB8A30F-7666-04EB-5A2C-95C985311EE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59" name="Rectangle 2">
            <a:extLst>
              <a:ext uri="{FF2B5EF4-FFF2-40B4-BE49-F238E27FC236}">
                <a16:creationId xmlns:a16="http://schemas.microsoft.com/office/drawing/2014/main" id="{3CF7B99E-28A5-07C2-670A-E72CB8C029DC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60" name="TextBox 3">
            <a:extLst>
              <a:ext uri="{FF2B5EF4-FFF2-40B4-BE49-F238E27FC236}">
                <a16:creationId xmlns:a16="http://schemas.microsoft.com/office/drawing/2014/main" id="{9D346EC7-DB41-DE22-0491-17D201B5BCD4}"/>
              </a:ext>
            </a:extLst>
          </p:cNvPr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963" name="TextBox 6">
            <a:extLst>
              <a:ext uri="{FF2B5EF4-FFF2-40B4-BE49-F238E27FC236}">
                <a16:creationId xmlns:a16="http://schemas.microsoft.com/office/drawing/2014/main" id="{D2BF26A7-D4DE-E494-FE79-A5D821018EE6}"/>
              </a:ext>
            </a:extLst>
          </p:cNvPr>
          <p:cNvSpPr txBox="1"/>
          <p:nvPr/>
        </p:nvSpPr>
        <p:spPr>
          <a:xfrm>
            <a:off x="320040" y="258836"/>
            <a:ext cx="11247120" cy="5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32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双引擎归因互补验证与多模态融合增益</a:t>
            </a:r>
            <a:endParaRPr sz="32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048964" name="Rectangle 7">
            <a:extLst>
              <a:ext uri="{FF2B5EF4-FFF2-40B4-BE49-F238E27FC236}">
                <a16:creationId xmlns:a16="http://schemas.microsoft.com/office/drawing/2014/main" id="{B834448E-9F1A-6C24-F554-7D87509E7924}"/>
              </a:ext>
            </a:extLst>
          </p:cNvPr>
          <p:cNvSpPr/>
          <p:nvPr/>
        </p:nvSpPr>
        <p:spPr>
          <a:xfrm>
            <a:off x="320039" y="815561"/>
            <a:ext cx="6943121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5">
            <a:extLst>
              <a:ext uri="{FF2B5EF4-FFF2-40B4-BE49-F238E27FC236}">
                <a16:creationId xmlns:a16="http://schemas.microsoft.com/office/drawing/2014/main" id="{56E38653-C316-E581-9E97-FD86943770C1}"/>
              </a:ext>
            </a:extLst>
          </p:cNvPr>
          <p:cNvSpPr/>
          <p:nvPr/>
        </p:nvSpPr>
        <p:spPr>
          <a:xfrm>
            <a:off x="299516" y="1071740"/>
            <a:ext cx="5486400" cy="3395287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accent6">
                    <a:lumMod val="75000"/>
                  </a:schemeClr>
                </a:solidFill>
              </a:rPr>
              <a:t>仅重叠</a:t>
            </a:r>
            <a:endParaRPr lang="zh-CN" alt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B2ACC761-2297-1B37-87E8-F2BAE84A18AA}"/>
              </a:ext>
            </a:extLst>
          </p:cNvPr>
          <p:cNvSpPr/>
          <p:nvPr/>
        </p:nvSpPr>
        <p:spPr>
          <a:xfrm>
            <a:off x="299517" y="1057708"/>
            <a:ext cx="5486400" cy="45924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ACF3F084-BDAC-82E1-0300-5E38F50BE702}"/>
              </a:ext>
            </a:extLst>
          </p:cNvPr>
          <p:cNvSpPr/>
          <p:nvPr/>
        </p:nvSpPr>
        <p:spPr>
          <a:xfrm>
            <a:off x="6096000" y="1064387"/>
            <a:ext cx="5865356" cy="3395286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2A7DEAD8-1C18-44A6-1CB1-90D50C52B0F9}"/>
              </a:ext>
            </a:extLst>
          </p:cNvPr>
          <p:cNvSpPr/>
          <p:nvPr/>
        </p:nvSpPr>
        <p:spPr>
          <a:xfrm>
            <a:off x="6080760" y="1064387"/>
            <a:ext cx="5880596" cy="45924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24722D-0E39-2CA9-D192-BE8681ACA269}"/>
              </a:ext>
            </a:extLst>
          </p:cNvPr>
          <p:cNvSpPr txBox="1"/>
          <p:nvPr/>
        </p:nvSpPr>
        <p:spPr>
          <a:xfrm>
            <a:off x="255678" y="1089036"/>
            <a:ext cx="2973473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8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lang="zh-CN" altLang="en-US" b="1" dirty="0">
                <a:solidFill>
                  <a:srgbClr val="FAFA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双引擎归因的互补性验证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2CB6D5E-D61B-5F63-5008-9611D9371BDF}"/>
              </a:ext>
            </a:extLst>
          </p:cNvPr>
          <p:cNvSpPr/>
          <p:nvPr/>
        </p:nvSpPr>
        <p:spPr>
          <a:xfrm>
            <a:off x="320040" y="4564118"/>
            <a:ext cx="11329267" cy="1727555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501FFF63-9E01-FC61-7546-7FFCD758854E}"/>
              </a:ext>
            </a:extLst>
          </p:cNvPr>
          <p:cNvSpPr/>
          <p:nvPr/>
        </p:nvSpPr>
        <p:spPr>
          <a:xfrm>
            <a:off x="320039" y="4556765"/>
            <a:ext cx="5486401" cy="488016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F3420C-E9D9-1F97-7F85-8A3787F91AC5}"/>
              </a:ext>
            </a:extLst>
          </p:cNvPr>
          <p:cNvSpPr txBox="1"/>
          <p:nvPr/>
        </p:nvSpPr>
        <p:spPr>
          <a:xfrm>
            <a:off x="6043589" y="1080270"/>
            <a:ext cx="3650538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2.SHAP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交互效应揭示非线性机理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BE9766A6-9317-07AC-F832-F25E718CC42D}"/>
              </a:ext>
            </a:extLst>
          </p:cNvPr>
          <p:cNvSpPr txBox="1"/>
          <p:nvPr/>
        </p:nvSpPr>
        <p:spPr>
          <a:xfrm>
            <a:off x="6162907" y="1555339"/>
            <a:ext cx="548640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图 ·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灌溉率</a:t>
            </a: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×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气温</a:t>
            </a: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SHAP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交互依赖</a:t>
            </a:r>
            <a:endParaRPr sz="11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9" descr="fig6_shap_interaction.png">
            <a:extLst>
              <a:ext uri="{FF2B5EF4-FFF2-40B4-BE49-F238E27FC236}">
                <a16:creationId xmlns:a16="http://schemas.microsoft.com/office/drawing/2014/main" id="{4AAB7B19-57BA-5587-5FAC-BB3C212F2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907" y="1823973"/>
            <a:ext cx="3669529" cy="2446353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B122A6A-58AF-6960-8A90-D50644D87070}"/>
              </a:ext>
            </a:extLst>
          </p:cNvPr>
          <p:cNvSpPr/>
          <p:nvPr/>
        </p:nvSpPr>
        <p:spPr>
          <a:xfrm>
            <a:off x="10088137" y="1555339"/>
            <a:ext cx="1783823" cy="26598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9197CE-C4A1-BE93-217B-0CFBF3D0958B}"/>
              </a:ext>
            </a:extLst>
          </p:cNvPr>
          <p:cNvSpPr txBox="1"/>
          <p:nvPr/>
        </p:nvSpPr>
        <p:spPr>
          <a:xfrm>
            <a:off x="10140842" y="1616083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5798EF-190B-0B95-1CDC-10A8864386BA}"/>
              </a:ext>
            </a:extLst>
          </p:cNvPr>
          <p:cNvSpPr txBox="1"/>
          <p:nvPr/>
        </p:nvSpPr>
        <p:spPr>
          <a:xfrm>
            <a:off x="10153790" y="3266816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0FA18C-8EB3-6B6C-0D95-AF90DB41D10A}"/>
              </a:ext>
            </a:extLst>
          </p:cNvPr>
          <p:cNvSpPr txBox="1"/>
          <p:nvPr/>
        </p:nvSpPr>
        <p:spPr>
          <a:xfrm>
            <a:off x="10153790" y="2593145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90F21B08-1E2D-ACD0-7C89-0AB2CA72B376}"/>
              </a:ext>
            </a:extLst>
          </p:cNvPr>
          <p:cNvSpPr txBox="1"/>
          <p:nvPr/>
        </p:nvSpPr>
        <p:spPr>
          <a:xfrm>
            <a:off x="10532719" y="1659385"/>
            <a:ext cx="897281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核心发现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AC987249-4D34-4C3D-956A-FD936A16F995}"/>
              </a:ext>
            </a:extLst>
          </p:cNvPr>
          <p:cNvSpPr txBox="1"/>
          <p:nvPr/>
        </p:nvSpPr>
        <p:spPr>
          <a:xfrm>
            <a:off x="10528998" y="2624723"/>
            <a:ext cx="744885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低温环境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113BCDD2-24C2-DE21-1CAF-6C68AC0DA8F5}"/>
              </a:ext>
            </a:extLst>
          </p:cNvPr>
          <p:cNvSpPr txBox="1"/>
          <p:nvPr/>
        </p:nvSpPr>
        <p:spPr>
          <a:xfrm>
            <a:off x="10528998" y="3319444"/>
            <a:ext cx="901002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高温环境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E990D6E1-AD96-C206-D984-F68B29191A9F}"/>
              </a:ext>
            </a:extLst>
          </p:cNvPr>
          <p:cNvSpPr txBox="1"/>
          <p:nvPr/>
        </p:nvSpPr>
        <p:spPr>
          <a:xfrm>
            <a:off x="10262031" y="1949146"/>
            <a:ext cx="160992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灌溉对风险具有降低作用，但在高温环境下</a:t>
            </a:r>
            <a:endParaRPr lang="en-US" altLang="zh-CN" sz="12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其缓解效果被削弱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93B3A27E-C054-D901-96DE-F9486E7EF7D0}"/>
              </a:ext>
            </a:extLst>
          </p:cNvPr>
          <p:cNvSpPr txBox="1"/>
          <p:nvPr/>
        </p:nvSpPr>
        <p:spPr>
          <a:xfrm>
            <a:off x="10275861" y="2949942"/>
            <a:ext cx="150338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b="0" i="0" dirty="0">
                <a:solidFill>
                  <a:srgbClr val="4A5552"/>
                </a:solidFill>
                <a:latin typeface="微软雅黑" panose="020B0503020204020204" charset="-122"/>
              </a:rPr>
              <a:t>灌溉显著降低风险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F252DC7D-D728-9A48-FDAB-856F7A370190}"/>
              </a:ext>
            </a:extLst>
          </p:cNvPr>
          <p:cNvSpPr txBox="1"/>
          <p:nvPr/>
        </p:nvSpPr>
        <p:spPr>
          <a:xfrm>
            <a:off x="10225930" y="3616733"/>
            <a:ext cx="155331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灌溉作用减弱甚至效果不明显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3D34C212-F6EF-35C9-F9B5-95CCB23AFF5D}"/>
              </a:ext>
            </a:extLst>
          </p:cNvPr>
          <p:cNvSpPr/>
          <p:nvPr/>
        </p:nvSpPr>
        <p:spPr>
          <a:xfrm>
            <a:off x="490220" y="2131604"/>
            <a:ext cx="365760" cy="505835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ECAB0C59-E6AA-D387-1CE6-EAD7F188F3D0}"/>
              </a:ext>
            </a:extLst>
          </p:cNvPr>
          <p:cNvSpPr txBox="1"/>
          <p:nvPr/>
        </p:nvSpPr>
        <p:spPr>
          <a:xfrm>
            <a:off x="487680" y="2158631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AEC59DDF-DA22-9276-8111-F4663062D171}"/>
              </a:ext>
            </a:extLst>
          </p:cNvPr>
          <p:cNvSpPr/>
          <p:nvPr/>
        </p:nvSpPr>
        <p:spPr>
          <a:xfrm>
            <a:off x="487680" y="2803157"/>
            <a:ext cx="365760" cy="610518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8EB60FB8-E11A-1545-E3DE-E05ADFF67B4A}"/>
              </a:ext>
            </a:extLst>
          </p:cNvPr>
          <p:cNvSpPr txBox="1"/>
          <p:nvPr/>
        </p:nvSpPr>
        <p:spPr>
          <a:xfrm>
            <a:off x="487680" y="2911780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0436B45E-909D-C447-11C3-BE05659DA1CF}"/>
              </a:ext>
            </a:extLst>
          </p:cNvPr>
          <p:cNvSpPr/>
          <p:nvPr/>
        </p:nvSpPr>
        <p:spPr>
          <a:xfrm>
            <a:off x="490220" y="3579393"/>
            <a:ext cx="365760" cy="505835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C0CA47A5-F9A7-2A7E-1EDD-B2EB5E42FAB7}"/>
              </a:ext>
            </a:extLst>
          </p:cNvPr>
          <p:cNvSpPr txBox="1"/>
          <p:nvPr/>
        </p:nvSpPr>
        <p:spPr>
          <a:xfrm>
            <a:off x="490220" y="3642445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AD22DC0-54D6-F93D-3459-CBEEAF76C7D1}"/>
              </a:ext>
            </a:extLst>
          </p:cNvPr>
          <p:cNvSpPr/>
          <p:nvPr/>
        </p:nvSpPr>
        <p:spPr>
          <a:xfrm>
            <a:off x="424397" y="1620723"/>
            <a:ext cx="2124710" cy="271691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FC54602-D324-136F-7481-E039AB4F151C}"/>
              </a:ext>
            </a:extLst>
          </p:cNvPr>
          <p:cNvSpPr/>
          <p:nvPr/>
        </p:nvSpPr>
        <p:spPr>
          <a:xfrm>
            <a:off x="3562535" y="1616083"/>
            <a:ext cx="2124710" cy="2716912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3E766CE-C217-F1DF-AABC-F1972286057D}"/>
              </a:ext>
            </a:extLst>
          </p:cNvPr>
          <p:cNvSpPr txBox="1"/>
          <p:nvPr/>
        </p:nvSpPr>
        <p:spPr>
          <a:xfrm>
            <a:off x="868680" y="2050400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NDVI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17183D-1A91-66F4-96A2-05BAF6545536}"/>
              </a:ext>
            </a:extLst>
          </p:cNvPr>
          <p:cNvSpPr txBox="1"/>
          <p:nvPr/>
        </p:nvSpPr>
        <p:spPr>
          <a:xfrm>
            <a:off x="916723" y="2755331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Prec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5FD6F5-B933-8B06-6B93-46CB91DB01D2}"/>
              </a:ext>
            </a:extLst>
          </p:cNvPr>
          <p:cNvSpPr txBox="1"/>
          <p:nvPr/>
        </p:nvSpPr>
        <p:spPr>
          <a:xfrm>
            <a:off x="900786" y="3504396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F2D27940-D2AC-88B1-893F-C8697EBFC82B}"/>
              </a:ext>
            </a:extLst>
          </p:cNvPr>
          <p:cNvSpPr txBox="1"/>
          <p:nvPr/>
        </p:nvSpPr>
        <p:spPr>
          <a:xfrm>
            <a:off x="918117" y="2359815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植被指数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F50D13CB-0C58-0195-CEAC-45C5D31469FF}"/>
              </a:ext>
            </a:extLst>
          </p:cNvPr>
          <p:cNvSpPr txBox="1"/>
          <p:nvPr/>
        </p:nvSpPr>
        <p:spPr>
          <a:xfrm>
            <a:off x="964503" y="3120026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降水量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1BFDBA0A-645E-176A-E90E-BE33F2E45C29}"/>
              </a:ext>
            </a:extLst>
          </p:cNvPr>
          <p:cNvSpPr txBox="1"/>
          <p:nvPr/>
        </p:nvSpPr>
        <p:spPr>
          <a:xfrm>
            <a:off x="964503" y="3878940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平均气温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C5ED1A3-FF02-FF79-03D3-814C61ED4E85}"/>
              </a:ext>
            </a:extLst>
          </p:cNvPr>
          <p:cNvCxnSpPr/>
          <p:nvPr/>
        </p:nvCxnSpPr>
        <p:spPr>
          <a:xfrm>
            <a:off x="424397" y="1953384"/>
            <a:ext cx="21145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349C3B0B-C106-DAF3-1172-AF69F876D2BD}"/>
              </a:ext>
            </a:extLst>
          </p:cNvPr>
          <p:cNvSpPr txBox="1"/>
          <p:nvPr/>
        </p:nvSpPr>
        <p:spPr>
          <a:xfrm>
            <a:off x="594856" y="1631886"/>
            <a:ext cx="1741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</a:rPr>
              <a:t>XGBoost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</a:rPr>
              <a:t> SHAP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1CEBF51-1D71-DE27-4FF0-9C718FCA1B2C}"/>
              </a:ext>
            </a:extLst>
          </p:cNvPr>
          <p:cNvCxnSpPr/>
          <p:nvPr/>
        </p:nvCxnSpPr>
        <p:spPr>
          <a:xfrm>
            <a:off x="3562535" y="1970440"/>
            <a:ext cx="212471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F138E55-AD16-6E70-A570-7E1C5CD59395}"/>
              </a:ext>
            </a:extLst>
          </p:cNvPr>
          <p:cNvSpPr txBox="1"/>
          <p:nvPr/>
        </p:nvSpPr>
        <p:spPr>
          <a:xfrm>
            <a:off x="3590657" y="1648296"/>
            <a:ext cx="638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Attention-LSTM 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578832BA-676D-23F1-D006-07370FB63DFD}"/>
              </a:ext>
            </a:extLst>
          </p:cNvPr>
          <p:cNvSpPr/>
          <p:nvPr/>
        </p:nvSpPr>
        <p:spPr>
          <a:xfrm>
            <a:off x="3667233" y="2131603"/>
            <a:ext cx="366754" cy="50583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B055A1AF-53BB-EA77-94CE-7BF63FBE4A7B}"/>
              </a:ext>
            </a:extLst>
          </p:cNvPr>
          <p:cNvSpPr txBox="1"/>
          <p:nvPr/>
        </p:nvSpPr>
        <p:spPr>
          <a:xfrm>
            <a:off x="3667233" y="2190993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39536A45-E0D7-32D9-B18C-CCD038B343D8}"/>
              </a:ext>
            </a:extLst>
          </p:cNvPr>
          <p:cNvSpPr/>
          <p:nvPr/>
        </p:nvSpPr>
        <p:spPr>
          <a:xfrm>
            <a:off x="3667233" y="2803157"/>
            <a:ext cx="366754" cy="61051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4C8CB969-7EAD-7167-80C7-A27B25FFD892}"/>
              </a:ext>
            </a:extLst>
          </p:cNvPr>
          <p:cNvSpPr txBox="1"/>
          <p:nvPr/>
        </p:nvSpPr>
        <p:spPr>
          <a:xfrm>
            <a:off x="3682473" y="2917364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50" name="Rectangle 36">
            <a:extLst>
              <a:ext uri="{FF2B5EF4-FFF2-40B4-BE49-F238E27FC236}">
                <a16:creationId xmlns:a16="http://schemas.microsoft.com/office/drawing/2014/main" id="{3A2DBB0C-7612-2339-96DA-71B53512D2D7}"/>
              </a:ext>
            </a:extLst>
          </p:cNvPr>
          <p:cNvSpPr/>
          <p:nvPr/>
        </p:nvSpPr>
        <p:spPr>
          <a:xfrm>
            <a:off x="3667233" y="3579393"/>
            <a:ext cx="366754" cy="528071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9420BD08-7E09-EB50-0D94-8798987514F9}"/>
              </a:ext>
            </a:extLst>
          </p:cNvPr>
          <p:cNvSpPr txBox="1"/>
          <p:nvPr/>
        </p:nvSpPr>
        <p:spPr>
          <a:xfrm>
            <a:off x="3667233" y="3665987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F37E30-641A-6EF9-E7DE-6A05BB00ECD9}"/>
              </a:ext>
            </a:extLst>
          </p:cNvPr>
          <p:cNvSpPr txBox="1"/>
          <p:nvPr/>
        </p:nvSpPr>
        <p:spPr>
          <a:xfrm>
            <a:off x="4021913" y="2069162"/>
            <a:ext cx="947782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 err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Drou_A</a:t>
            </a:r>
            <a:endParaRPr lang="zh-CN" altLang="en-US" sz="16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6BA088F-296B-9C98-D0CD-B3EDE1DC03D9}"/>
              </a:ext>
            </a:extLst>
          </p:cNvPr>
          <p:cNvSpPr txBox="1"/>
          <p:nvPr/>
        </p:nvSpPr>
        <p:spPr>
          <a:xfrm>
            <a:off x="4049227" y="2755331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SREI</a:t>
            </a:r>
            <a:endParaRPr lang="zh-CN" altLang="en-US" sz="16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A2E7F04-A298-10F4-6975-D8B2BF5EDACA}"/>
              </a:ext>
            </a:extLst>
          </p:cNvPr>
          <p:cNvSpPr txBox="1"/>
          <p:nvPr/>
        </p:nvSpPr>
        <p:spPr>
          <a:xfrm>
            <a:off x="4020860" y="3510335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21B950DA-5582-726A-9D94-DA37AF53926D}"/>
              </a:ext>
            </a:extLst>
          </p:cNvPr>
          <p:cNvSpPr txBox="1"/>
          <p:nvPr/>
        </p:nvSpPr>
        <p:spPr>
          <a:xfrm>
            <a:off x="4098475" y="3845766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平均气温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15">
            <a:extLst>
              <a:ext uri="{FF2B5EF4-FFF2-40B4-BE49-F238E27FC236}">
                <a16:creationId xmlns:a16="http://schemas.microsoft.com/office/drawing/2014/main" id="{63678E88-D1E9-BBB3-5CFD-FDEF09AED6D4}"/>
              </a:ext>
            </a:extLst>
          </p:cNvPr>
          <p:cNvSpPr txBox="1"/>
          <p:nvPr/>
        </p:nvSpPr>
        <p:spPr>
          <a:xfrm>
            <a:off x="4123383" y="3110629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干旱指数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79B87639-F88B-D1DE-57FF-C87A3CEEC524}"/>
              </a:ext>
            </a:extLst>
          </p:cNvPr>
          <p:cNvSpPr txBox="1"/>
          <p:nvPr/>
        </p:nvSpPr>
        <p:spPr>
          <a:xfrm>
            <a:off x="4123383" y="2401895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旱灾面积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904" name="任意多边形: 形状 1048903">
            <a:extLst>
              <a:ext uri="{FF2B5EF4-FFF2-40B4-BE49-F238E27FC236}">
                <a16:creationId xmlns:a16="http://schemas.microsoft.com/office/drawing/2014/main" id="{BA75C387-0FDC-454D-9A1B-8CACAA0DCCF0}"/>
              </a:ext>
            </a:extLst>
          </p:cNvPr>
          <p:cNvSpPr/>
          <p:nvPr/>
        </p:nvSpPr>
        <p:spPr>
          <a:xfrm>
            <a:off x="2757074" y="2082432"/>
            <a:ext cx="646575" cy="1650868"/>
          </a:xfrm>
          <a:custGeom>
            <a:avLst/>
            <a:gdLst>
              <a:gd name="csX0" fmla="*/ 44266 w 590415"/>
              <a:gd name="csY0" fmla="*/ 0 h 1447299"/>
              <a:gd name="csX1" fmla="*/ 590366 w 590415"/>
              <a:gd name="csY1" fmla="*/ 622300 h 1447299"/>
              <a:gd name="csX2" fmla="*/ 76016 w 590415"/>
              <a:gd name="csY2" fmla="*/ 1352550 h 1447299"/>
              <a:gd name="csX3" fmla="*/ 12516 w 590415"/>
              <a:gd name="csY3" fmla="*/ 1416050 h 14472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0415" h="1447299">
                <a:moveTo>
                  <a:pt x="44266" y="0"/>
                </a:moveTo>
                <a:cubicBezTo>
                  <a:pt x="314670" y="198437"/>
                  <a:pt x="585074" y="396875"/>
                  <a:pt x="590366" y="622300"/>
                </a:cubicBezTo>
                <a:cubicBezTo>
                  <a:pt x="595658" y="847725"/>
                  <a:pt x="172324" y="1220258"/>
                  <a:pt x="76016" y="1352550"/>
                </a:cubicBezTo>
                <a:cubicBezTo>
                  <a:pt x="-20292" y="1484842"/>
                  <a:pt x="-3888" y="1450446"/>
                  <a:pt x="12516" y="141605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5" name="任意多边形: 形状 1048904">
            <a:extLst>
              <a:ext uri="{FF2B5EF4-FFF2-40B4-BE49-F238E27FC236}">
                <a16:creationId xmlns:a16="http://schemas.microsoft.com/office/drawing/2014/main" id="{C3453152-AAA2-501D-0719-04040842D9DC}"/>
              </a:ext>
            </a:extLst>
          </p:cNvPr>
          <p:cNvSpPr/>
          <p:nvPr/>
        </p:nvSpPr>
        <p:spPr>
          <a:xfrm>
            <a:off x="2711448" y="2095500"/>
            <a:ext cx="666559" cy="1699698"/>
          </a:xfrm>
          <a:custGeom>
            <a:avLst/>
            <a:gdLst>
              <a:gd name="csX0" fmla="*/ 615952 w 666559"/>
              <a:gd name="csY0" fmla="*/ 0 h 1699698"/>
              <a:gd name="csX1" fmla="*/ 2 w 666559"/>
              <a:gd name="csY1" fmla="*/ 698500 h 1699698"/>
              <a:gd name="csX2" fmla="*/ 622302 w 666559"/>
              <a:gd name="csY2" fmla="*/ 1625600 h 1699698"/>
              <a:gd name="csX3" fmla="*/ 615952 w 666559"/>
              <a:gd name="csY3" fmla="*/ 1638300 h 1699698"/>
              <a:gd name="csX4" fmla="*/ 615952 w 666559"/>
              <a:gd name="csY4" fmla="*/ 1600200 h 169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66559" h="1699698">
                <a:moveTo>
                  <a:pt x="615952" y="0"/>
                </a:moveTo>
                <a:cubicBezTo>
                  <a:pt x="307448" y="213783"/>
                  <a:pt x="-1056" y="427567"/>
                  <a:pt x="2" y="698500"/>
                </a:cubicBezTo>
                <a:cubicBezTo>
                  <a:pt x="1060" y="969433"/>
                  <a:pt x="519644" y="1468967"/>
                  <a:pt x="622302" y="1625600"/>
                </a:cubicBezTo>
                <a:cubicBezTo>
                  <a:pt x="724960" y="1782233"/>
                  <a:pt x="617010" y="1642533"/>
                  <a:pt x="615952" y="1638300"/>
                </a:cubicBezTo>
                <a:cubicBezTo>
                  <a:pt x="614894" y="1634067"/>
                  <a:pt x="615423" y="1617133"/>
                  <a:pt x="615952" y="1600200"/>
                </a:cubicBezTo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8" name="文本框 1048907">
            <a:extLst>
              <a:ext uri="{FF2B5EF4-FFF2-40B4-BE49-F238E27FC236}">
                <a16:creationId xmlns:a16="http://schemas.microsoft.com/office/drawing/2014/main" id="{D7545A51-DE3D-28CC-2FD0-1C7115075806}"/>
              </a:ext>
            </a:extLst>
          </p:cNvPr>
          <p:cNvSpPr txBox="1"/>
          <p:nvPr/>
        </p:nvSpPr>
        <p:spPr>
          <a:xfrm>
            <a:off x="2750554" y="2807286"/>
            <a:ext cx="584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09" name="文本框 1048908">
            <a:extLst>
              <a:ext uri="{FF2B5EF4-FFF2-40B4-BE49-F238E27FC236}">
                <a16:creationId xmlns:a16="http://schemas.microsoft.com/office/drawing/2014/main" id="{58C2F8B7-FF92-24C6-5499-6FAD62D6CC3B}"/>
              </a:ext>
            </a:extLst>
          </p:cNvPr>
          <p:cNvSpPr txBox="1"/>
          <p:nvPr/>
        </p:nvSpPr>
        <p:spPr>
          <a:xfrm>
            <a:off x="299517" y="4595017"/>
            <a:ext cx="4670178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3.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多模态融合带来显著增益（</a:t>
            </a:r>
            <a:r>
              <a:rPr lang="en-US" altLang="zh-CN" b="1" dirty="0" err="1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XGBoost</a:t>
            </a: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 R²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）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48910" name="流程图: 可选过程 1048909">
            <a:extLst>
              <a:ext uri="{FF2B5EF4-FFF2-40B4-BE49-F238E27FC236}">
                <a16:creationId xmlns:a16="http://schemas.microsoft.com/office/drawing/2014/main" id="{D9D77298-3B03-5F71-1B8A-372076F27616}"/>
              </a:ext>
            </a:extLst>
          </p:cNvPr>
          <p:cNvSpPr/>
          <p:nvPr/>
        </p:nvSpPr>
        <p:spPr>
          <a:xfrm>
            <a:off x="490220" y="5207000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1048911" name="流程图: 可选过程 1048910">
            <a:extLst>
              <a:ext uri="{FF2B5EF4-FFF2-40B4-BE49-F238E27FC236}">
                <a16:creationId xmlns:a16="http://schemas.microsoft.com/office/drawing/2014/main" id="{21CE75CB-91C7-6F3E-73F4-06C6CD70B781}"/>
              </a:ext>
            </a:extLst>
          </p:cNvPr>
          <p:cNvSpPr/>
          <p:nvPr/>
        </p:nvSpPr>
        <p:spPr>
          <a:xfrm>
            <a:off x="2781667" y="5183928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2" name="流程图: 可选过程 1048911">
            <a:extLst>
              <a:ext uri="{FF2B5EF4-FFF2-40B4-BE49-F238E27FC236}">
                <a16:creationId xmlns:a16="http://schemas.microsoft.com/office/drawing/2014/main" id="{1910EFB6-A334-889C-294F-A29FD919F0BA}"/>
              </a:ext>
            </a:extLst>
          </p:cNvPr>
          <p:cNvSpPr/>
          <p:nvPr/>
        </p:nvSpPr>
        <p:spPr>
          <a:xfrm>
            <a:off x="5114121" y="5169556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3" name="流程图: 可选过程 1048912">
            <a:extLst>
              <a:ext uri="{FF2B5EF4-FFF2-40B4-BE49-F238E27FC236}">
                <a16:creationId xmlns:a16="http://schemas.microsoft.com/office/drawing/2014/main" id="{F595E122-C112-AF28-E7BF-1C468666983A}"/>
              </a:ext>
            </a:extLst>
          </p:cNvPr>
          <p:cNvSpPr/>
          <p:nvPr/>
        </p:nvSpPr>
        <p:spPr>
          <a:xfrm>
            <a:off x="7582680" y="5183927"/>
            <a:ext cx="1617980" cy="885153"/>
          </a:xfrm>
          <a:prstGeom prst="flowChartAlternateProcess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8914" name="箭头: 右 1048913">
            <a:extLst>
              <a:ext uri="{FF2B5EF4-FFF2-40B4-BE49-F238E27FC236}">
                <a16:creationId xmlns:a16="http://schemas.microsoft.com/office/drawing/2014/main" id="{FA73CD7D-A2D0-0D7F-9731-E1C17267D37B}"/>
              </a:ext>
            </a:extLst>
          </p:cNvPr>
          <p:cNvSpPr/>
          <p:nvPr/>
        </p:nvSpPr>
        <p:spPr>
          <a:xfrm>
            <a:off x="2178705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5" name="箭头: 右 1048914">
            <a:extLst>
              <a:ext uri="{FF2B5EF4-FFF2-40B4-BE49-F238E27FC236}">
                <a16:creationId xmlns:a16="http://schemas.microsoft.com/office/drawing/2014/main" id="{506765DD-5E67-338E-0AFA-CAD465D3BED4}"/>
              </a:ext>
            </a:extLst>
          </p:cNvPr>
          <p:cNvSpPr/>
          <p:nvPr/>
        </p:nvSpPr>
        <p:spPr>
          <a:xfrm>
            <a:off x="4467699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6" name="箭头: 右 1048915">
            <a:extLst>
              <a:ext uri="{FF2B5EF4-FFF2-40B4-BE49-F238E27FC236}">
                <a16:creationId xmlns:a16="http://schemas.microsoft.com/office/drawing/2014/main" id="{502CD667-3EB4-B0B5-8E14-10B876FC68C5}"/>
              </a:ext>
            </a:extLst>
          </p:cNvPr>
          <p:cNvSpPr/>
          <p:nvPr/>
        </p:nvSpPr>
        <p:spPr>
          <a:xfrm>
            <a:off x="6868206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7" name="文本框 1048916">
            <a:extLst>
              <a:ext uri="{FF2B5EF4-FFF2-40B4-BE49-F238E27FC236}">
                <a16:creationId xmlns:a16="http://schemas.microsoft.com/office/drawing/2014/main" id="{FAD9E111-22E6-A19D-0E68-9CE2E74A53E8}"/>
              </a:ext>
            </a:extLst>
          </p:cNvPr>
          <p:cNvSpPr txBox="1"/>
          <p:nvPr/>
        </p:nvSpPr>
        <p:spPr>
          <a:xfrm>
            <a:off x="579436" y="5226114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仅统计数据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（年鉴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公报）</a:t>
            </a:r>
          </a:p>
        </p:txBody>
      </p:sp>
      <p:sp>
        <p:nvSpPr>
          <p:cNvPr id="1048918" name="文本框 1048917">
            <a:extLst>
              <a:ext uri="{FF2B5EF4-FFF2-40B4-BE49-F238E27FC236}">
                <a16:creationId xmlns:a16="http://schemas.microsoft.com/office/drawing/2014/main" id="{A7B05CF7-AB3D-AD76-3752-D7FEFB423B92}"/>
              </a:ext>
            </a:extLst>
          </p:cNvPr>
          <p:cNvSpPr txBox="1"/>
          <p:nvPr/>
        </p:nvSpPr>
        <p:spPr>
          <a:xfrm>
            <a:off x="835313" y="56875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0.498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19" name="文本框 1048918">
            <a:extLst>
              <a:ext uri="{FF2B5EF4-FFF2-40B4-BE49-F238E27FC236}">
                <a16:creationId xmlns:a16="http://schemas.microsoft.com/office/drawing/2014/main" id="{DD987D5F-34FA-0266-86D6-CA2D8EB7ABF5}"/>
              </a:ext>
            </a:extLst>
          </p:cNvPr>
          <p:cNvSpPr txBox="1"/>
          <p:nvPr/>
        </p:nvSpPr>
        <p:spPr>
          <a:xfrm>
            <a:off x="2676067" y="5207000"/>
            <a:ext cx="1785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遥感数据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MODIS NOVI/LST</a:t>
            </a:r>
            <a:r>
              <a:rPr lang="zh-CN" altLang="en-US" sz="1400" dirty="0">
                <a:solidFill>
                  <a:schemeClr val="bg1"/>
                </a:solidFill>
              </a:rPr>
              <a:t>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048920" name="文本框 1048919">
            <a:extLst>
              <a:ext uri="{FF2B5EF4-FFF2-40B4-BE49-F238E27FC236}">
                <a16:creationId xmlns:a16="http://schemas.microsoft.com/office/drawing/2014/main" id="{26FF3CD0-D5F9-84B1-F9D7-17E9898D86E6}"/>
              </a:ext>
            </a:extLst>
          </p:cNvPr>
          <p:cNvSpPr txBox="1"/>
          <p:nvPr/>
        </p:nvSpPr>
        <p:spPr>
          <a:xfrm>
            <a:off x="3179519" y="56948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0.522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2" name="文本框 1048921">
            <a:extLst>
              <a:ext uri="{FF2B5EF4-FFF2-40B4-BE49-F238E27FC236}">
                <a16:creationId xmlns:a16="http://schemas.microsoft.com/office/drawing/2014/main" id="{FB1C8B11-7625-380E-A7D0-8FF244B610F2}"/>
              </a:ext>
            </a:extLst>
          </p:cNvPr>
          <p:cNvSpPr txBox="1"/>
          <p:nvPr/>
        </p:nvSpPr>
        <p:spPr>
          <a:xfrm>
            <a:off x="5197576" y="5197734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气象数据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CMDC+SPEI</a:t>
            </a:r>
            <a:r>
              <a:rPr lang="zh-CN" altLang="en-US" sz="1400" dirty="0">
                <a:solidFill>
                  <a:schemeClr val="bg1"/>
                </a:solidFill>
              </a:rPr>
              <a:t>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048923" name="文本框 1048922">
            <a:extLst>
              <a:ext uri="{FF2B5EF4-FFF2-40B4-BE49-F238E27FC236}">
                <a16:creationId xmlns:a16="http://schemas.microsoft.com/office/drawing/2014/main" id="{5B682E0E-20B7-4017-C0B1-9D807FB98F86}"/>
              </a:ext>
            </a:extLst>
          </p:cNvPr>
          <p:cNvSpPr txBox="1"/>
          <p:nvPr/>
        </p:nvSpPr>
        <p:spPr>
          <a:xfrm>
            <a:off x="7491423" y="5226114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全模态融合</a:t>
            </a:r>
            <a:endParaRPr lang="en-US" altLang="zh-CN" sz="14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（统计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遥感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气象）</a:t>
            </a:r>
            <a:endParaRPr lang="en-US" altLang="zh-CN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48924" name="文本框 1048923">
            <a:extLst>
              <a:ext uri="{FF2B5EF4-FFF2-40B4-BE49-F238E27FC236}">
                <a16:creationId xmlns:a16="http://schemas.microsoft.com/office/drawing/2014/main" id="{B32B9D6F-69B1-6ABB-4288-F7C6A735D268}"/>
              </a:ext>
            </a:extLst>
          </p:cNvPr>
          <p:cNvSpPr txBox="1"/>
          <p:nvPr/>
        </p:nvSpPr>
        <p:spPr>
          <a:xfrm>
            <a:off x="5497081" y="568537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0.547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5" name="文本框 1048924">
            <a:extLst>
              <a:ext uri="{FF2B5EF4-FFF2-40B4-BE49-F238E27FC236}">
                <a16:creationId xmlns:a16="http://schemas.microsoft.com/office/drawing/2014/main" id="{CD225E41-A44F-7FA6-B3D9-97B3506CDC0C}"/>
              </a:ext>
            </a:extLst>
          </p:cNvPr>
          <p:cNvSpPr txBox="1"/>
          <p:nvPr/>
        </p:nvSpPr>
        <p:spPr>
          <a:xfrm>
            <a:off x="7997671" y="56948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0.565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6" name="流程图: 可选过程 1048925">
            <a:extLst>
              <a:ext uri="{FF2B5EF4-FFF2-40B4-BE49-F238E27FC236}">
                <a16:creationId xmlns:a16="http://schemas.microsoft.com/office/drawing/2014/main" id="{14FAB321-8236-E33C-03CA-AB82D058C4F5}"/>
              </a:ext>
            </a:extLst>
          </p:cNvPr>
          <p:cNvSpPr/>
          <p:nvPr/>
        </p:nvSpPr>
        <p:spPr>
          <a:xfrm>
            <a:off x="9423400" y="4595017"/>
            <a:ext cx="2102782" cy="1682234"/>
          </a:xfrm>
          <a:prstGeom prst="flowChartAlternateProcess">
            <a:avLst/>
          </a:prstGeom>
          <a:solidFill>
            <a:srgbClr val="1F4D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8927" name="文本框 1048926">
            <a:extLst>
              <a:ext uri="{FF2B5EF4-FFF2-40B4-BE49-F238E27FC236}">
                <a16:creationId xmlns:a16="http://schemas.microsoft.com/office/drawing/2014/main" id="{4661B2C7-94E9-02AF-724E-9B47F8324B07}"/>
              </a:ext>
            </a:extLst>
          </p:cNvPr>
          <p:cNvSpPr txBox="1"/>
          <p:nvPr/>
        </p:nvSpPr>
        <p:spPr>
          <a:xfrm>
            <a:off x="9513701" y="46819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结论</a:t>
            </a:r>
          </a:p>
        </p:txBody>
      </p:sp>
      <p:sp>
        <p:nvSpPr>
          <p:cNvPr id="1048929" name="文本框 1048928">
            <a:extLst>
              <a:ext uri="{FF2B5EF4-FFF2-40B4-BE49-F238E27FC236}">
                <a16:creationId xmlns:a16="http://schemas.microsoft.com/office/drawing/2014/main" id="{DF2915D0-9C05-1B71-B2A4-9AA01E1F02D7}"/>
              </a:ext>
            </a:extLst>
          </p:cNvPr>
          <p:cNvSpPr txBox="1"/>
          <p:nvPr/>
        </p:nvSpPr>
        <p:spPr>
          <a:xfrm>
            <a:off x="3194050" y="3105835"/>
            <a:ext cx="6388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气象数据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（</a:t>
            </a:r>
            <a:r>
              <a:rPr lang="en-US" altLang="zh-CN" sz="1800" dirty="0">
                <a:solidFill>
                  <a:schemeClr val="bg1"/>
                </a:solidFill>
              </a:rPr>
              <a:t>CMDC+SPEI</a:t>
            </a:r>
            <a:r>
              <a:rPr lang="zh-CN" altLang="en-US" sz="1800" dirty="0">
                <a:solidFill>
                  <a:schemeClr val="bg1"/>
                </a:solidFill>
              </a:rPr>
              <a:t>）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1048930" name="文本框 1048929">
            <a:extLst>
              <a:ext uri="{FF2B5EF4-FFF2-40B4-BE49-F238E27FC236}">
                <a16:creationId xmlns:a16="http://schemas.microsoft.com/office/drawing/2014/main" id="{746C3098-48CA-3F73-7966-089BA9127369}"/>
              </a:ext>
            </a:extLst>
          </p:cNvPr>
          <p:cNvSpPr txBox="1"/>
          <p:nvPr/>
        </p:nvSpPr>
        <p:spPr>
          <a:xfrm>
            <a:off x="9410333" y="5027113"/>
            <a:ext cx="21027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   多模态数据融合显著提升模型解释能力与预测能力（</a:t>
            </a:r>
            <a:r>
              <a:rPr lang="en-US" altLang="zh-CN" sz="1400" dirty="0">
                <a:solidFill>
                  <a:schemeClr val="bg1"/>
                </a:solidFill>
              </a:rPr>
              <a:t>4.9-6.7 pp R²</a:t>
            </a:r>
            <a:r>
              <a:rPr lang="zh-CN" altLang="en-US" sz="1400" dirty="0">
                <a:solidFill>
                  <a:schemeClr val="bg1"/>
                </a:solidFill>
              </a:rPr>
              <a:t>提升）验证了数据融合的实质性价值。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19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89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0" name="TextBox 3"/>
          <p:cNvSpPr txBox="1"/>
          <p:nvPr/>
        </p:nvSpPr>
        <p:spPr>
          <a:xfrm>
            <a:off x="311150" y="6608400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  <a:r>
              <a:rPr sz="1000" b="0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极端气候下粮食生产风险核心因子识别与韧性提升可视化系统</a:t>
            </a:r>
            <a:endParaRPr sz="1000" b="0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993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可视化决策系统 · 四大模块</a:t>
            </a:r>
          </a:p>
        </p:txBody>
      </p:sp>
      <p:sp>
        <p:nvSpPr>
          <p:cNvPr id="1048994" name="Rectangle 7"/>
          <p:cNvSpPr/>
          <p:nvPr/>
        </p:nvSpPr>
        <p:spPr>
          <a:xfrm>
            <a:off x="431800" y="1181101"/>
            <a:ext cx="505460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5" name="TextBox 8"/>
          <p:cNvSpPr txBox="1"/>
          <p:nvPr/>
        </p:nvSpPr>
        <p:spPr>
          <a:xfrm>
            <a:off x="457200" y="13710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Vue 3 + Flask · 6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大模块在线运行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单次推理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≤ 2 秒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已部署可访问</a:t>
            </a:r>
            <a:endParaRPr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7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82" y="1728400"/>
            <a:ext cx="5100000" cy="2350000"/>
          </a:xfrm>
          <a:prstGeom prst="rect">
            <a:avLst/>
          </a:prstGeom>
        </p:spPr>
      </p:pic>
      <p:sp>
        <p:nvSpPr>
          <p:cNvPr id="1048996" name="Rounded Rectangle 32"/>
          <p:cNvSpPr/>
          <p:nvPr/>
        </p:nvSpPr>
        <p:spPr>
          <a:xfrm>
            <a:off x="1025682" y="357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7" name="TextBox 33"/>
          <p:cNvSpPr txBox="1"/>
          <p:nvPr/>
        </p:nvSpPr>
        <p:spPr>
          <a:xfrm>
            <a:off x="1025682" y="3654099"/>
            <a:ext cx="1621140" cy="228602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M01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风险时空地图</a:t>
            </a:r>
          </a:p>
        </p:txBody>
      </p:sp>
      <p:pic>
        <p:nvPicPr>
          <p:cNvPr id="2097158" name="Picture 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82" y="1728400"/>
            <a:ext cx="5100000" cy="2350000"/>
          </a:xfrm>
          <a:prstGeom prst="rect">
            <a:avLst/>
          </a:prstGeom>
        </p:spPr>
      </p:pic>
      <p:sp>
        <p:nvSpPr>
          <p:cNvPr id="1048998" name="Rounded Rectangle 35"/>
          <p:cNvSpPr/>
          <p:nvPr/>
        </p:nvSpPr>
        <p:spPr>
          <a:xfrm>
            <a:off x="6305682" y="357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9" name="TextBox 36"/>
          <p:cNvSpPr txBox="1"/>
          <p:nvPr/>
        </p:nvSpPr>
        <p:spPr>
          <a:xfrm>
            <a:off x="6305682" y="3654099"/>
            <a:ext cx="1773541" cy="228602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M02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SHAP 归因看板</a:t>
            </a:r>
          </a:p>
        </p:txBody>
      </p:sp>
      <p:pic>
        <p:nvPicPr>
          <p:cNvPr id="2097159" name="Picture 3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82" y="4258400"/>
            <a:ext cx="5100000" cy="2350000"/>
          </a:xfrm>
          <a:prstGeom prst="rect">
            <a:avLst/>
          </a:prstGeom>
        </p:spPr>
      </p:pic>
      <p:sp>
        <p:nvSpPr>
          <p:cNvPr id="1049000" name="Rounded Rectangle 38"/>
          <p:cNvSpPr/>
          <p:nvPr/>
        </p:nvSpPr>
        <p:spPr>
          <a:xfrm>
            <a:off x="1025682" y="601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1" name="TextBox 39"/>
          <p:cNvSpPr txBox="1"/>
          <p:nvPr/>
        </p:nvSpPr>
        <p:spPr>
          <a:xfrm>
            <a:off x="1025682" y="6094100"/>
            <a:ext cx="1621140" cy="228600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M03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参数情景模拟</a:t>
            </a:r>
          </a:p>
        </p:txBody>
      </p:sp>
      <p:pic>
        <p:nvPicPr>
          <p:cNvPr id="2097160" name="Picture 4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682" y="4258400"/>
            <a:ext cx="5100000" cy="2350000"/>
          </a:xfrm>
          <a:prstGeom prst="rect">
            <a:avLst/>
          </a:prstGeom>
        </p:spPr>
      </p:pic>
      <p:sp>
        <p:nvSpPr>
          <p:cNvPr id="1049002" name="Rounded Rectangle 41"/>
          <p:cNvSpPr/>
          <p:nvPr/>
        </p:nvSpPr>
        <p:spPr>
          <a:xfrm>
            <a:off x="6305682" y="601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3" name="TextBox 42"/>
          <p:cNvSpPr txBox="1"/>
          <p:nvPr/>
        </p:nvSpPr>
        <p:spPr>
          <a:xfrm>
            <a:off x="6305682" y="6094100"/>
            <a:ext cx="1621141" cy="228600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M04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韧性路径推荐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09" name="TextBox 6"/>
          <p:cNvSpPr txBox="1"/>
          <p:nvPr/>
        </p:nvSpPr>
        <p:spPr>
          <a:xfrm>
            <a:off x="457200" y="640080"/>
            <a:ext cx="11247120" cy="5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32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sz="32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大创新点</a:t>
            </a:r>
            <a:endParaRPr sz="32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10" name="Rectangle 7"/>
          <p:cNvSpPr/>
          <p:nvPr/>
        </p:nvSpPr>
        <p:spPr>
          <a:xfrm>
            <a:off x="457200" y="1194053"/>
            <a:ext cx="2038350" cy="74041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1" name="TextBox 8"/>
          <p:cNvSpPr txBox="1"/>
          <p:nvPr/>
        </p:nvSpPr>
        <p:spPr>
          <a:xfrm>
            <a:off x="457200" y="1453642"/>
            <a:ext cx="1124712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数据层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贡献层</a:t>
            </a:r>
            <a:endParaRPr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12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868680" cy="7772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3" name="TextBox 10"/>
          <p:cNvSpPr txBox="1"/>
          <p:nvPr>
            <p:custDataLst>
              <p:tags r:id="rId2"/>
            </p:custDataLst>
          </p:nvPr>
        </p:nvSpPr>
        <p:spPr>
          <a:xfrm>
            <a:off x="548640" y="2210435"/>
            <a:ext cx="86868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1049014" name="Rectangle 11"/>
          <p:cNvSpPr/>
          <p:nvPr>
            <p:custDataLst>
              <p:tags r:id="rId3"/>
            </p:custDataLst>
          </p:nvPr>
        </p:nvSpPr>
        <p:spPr>
          <a:xfrm>
            <a:off x="1417320" y="201168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5" name="TextBox 12"/>
          <p:cNvSpPr txBox="1"/>
          <p:nvPr>
            <p:custDataLst>
              <p:tags r:id="rId4"/>
            </p:custDataLst>
          </p:nvPr>
        </p:nvSpPr>
        <p:spPr>
          <a:xfrm>
            <a:off x="1417320" y="2225040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数据层</a:t>
            </a:r>
          </a:p>
        </p:txBody>
      </p:sp>
      <p:sp>
        <p:nvSpPr>
          <p:cNvPr id="1049016" name="TextBox 13"/>
          <p:cNvSpPr txBox="1"/>
          <p:nvPr>
            <p:custDataLst>
              <p:tags r:id="rId5"/>
            </p:custDataLst>
          </p:nvPr>
        </p:nvSpPr>
        <p:spPr>
          <a:xfrm>
            <a:off x="3520440" y="2084832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多模态异构数据融合的全国尺度风险识别框架</a:t>
            </a:r>
          </a:p>
        </p:txBody>
      </p:sp>
      <p:sp>
        <p:nvSpPr>
          <p:cNvPr id="1049017" name="TextBox 14"/>
          <p:cNvSpPr txBox="1"/>
          <p:nvPr>
            <p:custDataLst>
              <p:tags r:id="rId6"/>
            </p:custDataLst>
          </p:nvPr>
        </p:nvSpPr>
        <p:spPr>
          <a:xfrm>
            <a:off x="3520440" y="2423160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首次构建覆盖统计 + MODIS 遥感 + 气象 + GIS 四类异构数据源的融合体系</a:t>
            </a:r>
          </a:p>
        </p:txBody>
      </p:sp>
      <p:sp>
        <p:nvSpPr>
          <p:cNvPr id="1049018" name="Rectangle 15"/>
          <p:cNvSpPr/>
          <p:nvPr>
            <p:custDataLst>
              <p:tags r:id="rId7"/>
            </p:custDataLst>
          </p:nvPr>
        </p:nvSpPr>
        <p:spPr>
          <a:xfrm>
            <a:off x="548640" y="3027924"/>
            <a:ext cx="868680" cy="7772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9" name="TextBox 16"/>
          <p:cNvSpPr txBox="1"/>
          <p:nvPr>
            <p:custDataLst>
              <p:tags r:id="rId8"/>
            </p:custDataLst>
          </p:nvPr>
        </p:nvSpPr>
        <p:spPr>
          <a:xfrm>
            <a:off x="548640" y="3226678"/>
            <a:ext cx="868680" cy="379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049020" name="Rectangle 17"/>
          <p:cNvSpPr/>
          <p:nvPr>
            <p:custDataLst>
              <p:tags r:id="rId9"/>
            </p:custDataLst>
          </p:nvPr>
        </p:nvSpPr>
        <p:spPr>
          <a:xfrm>
            <a:off x="1417320" y="3027924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21" name="TextBox 18"/>
          <p:cNvSpPr txBox="1"/>
          <p:nvPr>
            <p:custDataLst>
              <p:tags r:id="rId10"/>
            </p:custDataLst>
          </p:nvPr>
        </p:nvSpPr>
        <p:spPr>
          <a:xfrm>
            <a:off x="1417320" y="3269612"/>
            <a:ext cx="1920240" cy="2938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049022" name="TextBox 19"/>
          <p:cNvSpPr txBox="1"/>
          <p:nvPr>
            <p:custDataLst>
              <p:tags r:id="rId11"/>
            </p:custDataLst>
          </p:nvPr>
        </p:nvSpPr>
        <p:spPr>
          <a:xfrm>
            <a:off x="3520440" y="3101076"/>
            <a:ext cx="813816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XGBoost</a:t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-SHAP × </a:t>
            </a:r>
            <a:r>
              <a:rPr lang="en-US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Attention-</a:t>
            </a:r>
            <a:r>
              <a:rPr lang="en-US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LSTM</a:t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</a:t>
            </a:r>
            <a:endParaRPr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23" name="TextBox 20"/>
          <p:cNvSpPr txBox="1"/>
          <p:nvPr>
            <p:custDataLst>
              <p:tags r:id="rId12"/>
            </p:custDataLst>
          </p:nvPr>
        </p:nvSpPr>
        <p:spPr>
          <a:xfrm>
            <a:off x="3520440" y="3439404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首次将可解释机器学习与注意力深度学习时序模型相结合,破解黑箱困境</a:t>
            </a:r>
          </a:p>
        </p:txBody>
      </p:sp>
      <p:sp>
        <p:nvSpPr>
          <p:cNvPr id="1049030" name="Rectangle 27"/>
          <p:cNvSpPr/>
          <p:nvPr>
            <p:custDataLst>
              <p:tags r:id="rId13"/>
            </p:custDataLst>
          </p:nvPr>
        </p:nvSpPr>
        <p:spPr>
          <a:xfrm>
            <a:off x="548640" y="4049386"/>
            <a:ext cx="868680" cy="77724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1" name="TextBox 28"/>
          <p:cNvSpPr txBox="1"/>
          <p:nvPr>
            <p:custDataLst>
              <p:tags r:id="rId14"/>
            </p:custDataLst>
          </p:nvPr>
        </p:nvSpPr>
        <p:spPr>
          <a:xfrm>
            <a:off x="548640" y="4259912"/>
            <a:ext cx="868680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  <a:endParaRPr sz="2200" b="1" dirty="0">
              <a:solidFill>
                <a:srgbClr val="FAFAF7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9032" name="Rectangle 29"/>
          <p:cNvSpPr/>
          <p:nvPr>
            <p:custDataLst>
              <p:tags r:id="rId15"/>
            </p:custDataLst>
          </p:nvPr>
        </p:nvSpPr>
        <p:spPr>
          <a:xfrm>
            <a:off x="1417320" y="4049386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3" name="TextBox 30"/>
          <p:cNvSpPr txBox="1"/>
          <p:nvPr>
            <p:custDataLst>
              <p:tags r:id="rId16"/>
            </p:custDataLst>
          </p:nvPr>
        </p:nvSpPr>
        <p:spPr>
          <a:xfrm>
            <a:off x="1417320" y="4262746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</a:p>
        </p:txBody>
      </p:sp>
      <p:sp>
        <p:nvSpPr>
          <p:cNvPr id="1049034" name="TextBox 31"/>
          <p:cNvSpPr txBox="1"/>
          <p:nvPr>
            <p:custDataLst>
              <p:tags r:id="rId17"/>
            </p:custDataLst>
          </p:nvPr>
        </p:nvSpPr>
        <p:spPr>
          <a:xfrm>
            <a:off x="3520440" y="4122538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全流程可视化决策支持系统的工程化落地</a:t>
            </a:r>
          </a:p>
        </p:txBody>
      </p:sp>
      <p:sp>
        <p:nvSpPr>
          <p:cNvPr id="1049035" name="TextBox 32"/>
          <p:cNvSpPr txBox="1"/>
          <p:nvPr>
            <p:custDataLst>
              <p:tags r:id="rId18"/>
            </p:custDataLst>
          </p:nvPr>
        </p:nvSpPr>
        <p:spPr>
          <a:xfrm>
            <a:off x="3520440" y="4460866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首次将「多模态识别 + 可解释 AI + 决策支持」三位一体集成到单一平台</a:t>
            </a:r>
          </a:p>
        </p:txBody>
      </p:sp>
      <p:sp>
        <p:nvSpPr>
          <p:cNvPr id="1049036" name="Rectangle 33"/>
          <p:cNvSpPr/>
          <p:nvPr>
            <p:custDataLst>
              <p:tags r:id="rId19"/>
            </p:custDataLst>
          </p:nvPr>
        </p:nvSpPr>
        <p:spPr>
          <a:xfrm>
            <a:off x="548640" y="5102802"/>
            <a:ext cx="868680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7" name="TextBox 34"/>
          <p:cNvSpPr txBox="1"/>
          <p:nvPr>
            <p:custDataLst>
              <p:tags r:id="rId20"/>
            </p:custDataLst>
          </p:nvPr>
        </p:nvSpPr>
        <p:spPr>
          <a:xfrm>
            <a:off x="548640" y="5313328"/>
            <a:ext cx="868680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4</a:t>
            </a:r>
            <a:endParaRPr sz="2200" b="1" dirty="0">
              <a:solidFill>
                <a:srgbClr val="FAFAF7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9038" name="Rectangle 35"/>
          <p:cNvSpPr/>
          <p:nvPr>
            <p:custDataLst>
              <p:tags r:id="rId21"/>
            </p:custDataLst>
          </p:nvPr>
        </p:nvSpPr>
        <p:spPr>
          <a:xfrm>
            <a:off x="1417320" y="5102802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9" name="TextBox 36"/>
          <p:cNvSpPr txBox="1"/>
          <p:nvPr>
            <p:custDataLst>
              <p:tags r:id="rId22"/>
            </p:custDataLst>
          </p:nvPr>
        </p:nvSpPr>
        <p:spPr>
          <a:xfrm>
            <a:off x="1417320" y="5316162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贡献层</a:t>
            </a:r>
          </a:p>
        </p:txBody>
      </p:sp>
      <p:sp>
        <p:nvSpPr>
          <p:cNvPr id="1049040" name="TextBox 37"/>
          <p:cNvSpPr txBox="1"/>
          <p:nvPr>
            <p:custDataLst>
              <p:tags r:id="rId23"/>
            </p:custDataLst>
          </p:nvPr>
        </p:nvSpPr>
        <p:spPr>
          <a:xfrm>
            <a:off x="3520440" y="5175954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多模态数据集构建与处理流程的规范化输出</a:t>
            </a:r>
          </a:p>
        </p:txBody>
      </p:sp>
      <p:sp>
        <p:nvSpPr>
          <p:cNvPr id="1049041" name="TextBox 38"/>
          <p:cNvSpPr txBox="1"/>
          <p:nvPr>
            <p:custDataLst>
              <p:tags r:id="rId24"/>
            </p:custDataLst>
          </p:nvPr>
        </p:nvSpPr>
        <p:spPr>
          <a:xfrm>
            <a:off x="3520440" y="5514282"/>
            <a:ext cx="813816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制定可复用的数据基础与方法参考,服务后续相关研究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4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47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应用前景 与 社会价值</a:t>
            </a:r>
          </a:p>
        </p:txBody>
      </p:sp>
      <p:sp>
        <p:nvSpPr>
          <p:cNvPr id="1049048" name="Rectangle 7"/>
          <p:cNvSpPr/>
          <p:nvPr/>
        </p:nvSpPr>
        <p:spPr>
          <a:xfrm>
            <a:off x="474980" y="1198625"/>
            <a:ext cx="3912870" cy="64389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9" name="TextBox 8"/>
          <p:cNvSpPr txBox="1"/>
          <p:nvPr/>
        </p:nvSpPr>
        <p:spPr>
          <a:xfrm>
            <a:off x="457200" y="146634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服务国家粮食安全战略 · 推动可解释 AI 在农业领域落地</a:t>
            </a:r>
          </a:p>
        </p:txBody>
      </p:sp>
      <p:sp>
        <p:nvSpPr>
          <p:cNvPr id="1049050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868680" cy="7863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1" name="TextBox 10"/>
          <p:cNvSpPr txBox="1"/>
          <p:nvPr/>
        </p:nvSpPr>
        <p:spPr>
          <a:xfrm>
            <a:off x="548640" y="2150745"/>
            <a:ext cx="868680" cy="5082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🎯</a:t>
            </a:r>
          </a:p>
        </p:txBody>
      </p:sp>
      <p:sp>
        <p:nvSpPr>
          <p:cNvPr id="1049052" name="Rectangle 11"/>
          <p:cNvSpPr/>
          <p:nvPr/>
        </p:nvSpPr>
        <p:spPr>
          <a:xfrm>
            <a:off x="1417320" y="2011680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3" name="TextBox 12"/>
          <p:cNvSpPr txBox="1"/>
          <p:nvPr>
            <p:custDataLst>
              <p:tags r:id="rId2"/>
            </p:custDataLst>
          </p:nvPr>
        </p:nvSpPr>
        <p:spPr>
          <a:xfrm>
            <a:off x="1691640" y="2103120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服务国家粮食安全战略</a:t>
            </a:r>
          </a:p>
        </p:txBody>
      </p:sp>
      <p:sp>
        <p:nvSpPr>
          <p:cNvPr id="1049054" name="TextBox 13"/>
          <p:cNvSpPr txBox="1"/>
          <p:nvPr>
            <p:custDataLst>
              <p:tags r:id="rId3"/>
            </p:custDataLst>
          </p:nvPr>
        </p:nvSpPr>
        <p:spPr>
          <a:xfrm>
            <a:off x="1691640" y="2386330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为政府农业管理部门提供风险预警与资源调配的科学依据</a:t>
            </a:r>
            <a:r>
              <a:rPr lang="en-US"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落实党的二十大「夯实粮食安全根基」部署</a:t>
            </a:r>
          </a:p>
        </p:txBody>
      </p:sp>
      <p:sp>
        <p:nvSpPr>
          <p:cNvPr id="1049055" name="Rectangle 14"/>
          <p:cNvSpPr/>
          <p:nvPr>
            <p:custDataLst>
              <p:tags r:id="rId4"/>
            </p:custDataLst>
          </p:nvPr>
        </p:nvSpPr>
        <p:spPr>
          <a:xfrm>
            <a:off x="548640" y="2852928"/>
            <a:ext cx="868680" cy="786384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6" name="TextBox 15"/>
          <p:cNvSpPr txBox="1"/>
          <p:nvPr/>
        </p:nvSpPr>
        <p:spPr>
          <a:xfrm>
            <a:off x="548640" y="2991992"/>
            <a:ext cx="868680" cy="508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💼</a:t>
            </a:r>
          </a:p>
        </p:txBody>
      </p:sp>
      <p:sp>
        <p:nvSpPr>
          <p:cNvPr id="1049057" name="Rectangle 16"/>
          <p:cNvSpPr/>
          <p:nvPr/>
        </p:nvSpPr>
        <p:spPr>
          <a:xfrm>
            <a:off x="1417320" y="2852928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8" name="TextBox 17"/>
          <p:cNvSpPr txBox="1"/>
          <p:nvPr>
            <p:custDataLst>
              <p:tags r:id="rId5"/>
            </p:custDataLst>
          </p:nvPr>
        </p:nvSpPr>
        <p:spPr>
          <a:xfrm>
            <a:off x="1691640" y="2944368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赋能农业保险与产业</a:t>
            </a:r>
          </a:p>
        </p:txBody>
      </p:sp>
      <p:sp>
        <p:nvSpPr>
          <p:cNvPr id="1049059" name="TextBox 18"/>
          <p:cNvSpPr txBox="1"/>
          <p:nvPr>
            <p:custDataLst>
              <p:tags r:id="rId6"/>
            </p:custDataLst>
          </p:nvPr>
        </p:nvSpPr>
        <p:spPr>
          <a:xfrm>
            <a:off x="1645920" y="3245993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支持保险产品差异化设计、农资精准营销、费率精算与赔付决策</a:t>
            </a:r>
          </a:p>
        </p:txBody>
      </p:sp>
      <p:sp>
        <p:nvSpPr>
          <p:cNvPr id="1049060" name="Rectangle 19"/>
          <p:cNvSpPr/>
          <p:nvPr>
            <p:custDataLst>
              <p:tags r:id="rId7"/>
            </p:custDataLst>
          </p:nvPr>
        </p:nvSpPr>
        <p:spPr>
          <a:xfrm>
            <a:off x="548640" y="3694176"/>
            <a:ext cx="868680" cy="78638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1" name="TextBox 20"/>
          <p:cNvSpPr txBox="1"/>
          <p:nvPr/>
        </p:nvSpPr>
        <p:spPr>
          <a:xfrm>
            <a:off x="548640" y="3833240"/>
            <a:ext cx="868680" cy="508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🤖</a:t>
            </a:r>
          </a:p>
        </p:txBody>
      </p:sp>
      <p:sp>
        <p:nvSpPr>
          <p:cNvPr id="1049062" name="Rectangle 21"/>
          <p:cNvSpPr/>
          <p:nvPr/>
        </p:nvSpPr>
        <p:spPr>
          <a:xfrm>
            <a:off x="1417320" y="3694176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3" name="TextBox 22"/>
          <p:cNvSpPr txBox="1"/>
          <p:nvPr>
            <p:custDataLst>
              <p:tags r:id="rId8"/>
            </p:custDataLst>
          </p:nvPr>
        </p:nvSpPr>
        <p:spPr>
          <a:xfrm>
            <a:off x="1691640" y="3785616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推动可解释 AI 在农业落地</a:t>
            </a:r>
          </a:p>
        </p:txBody>
      </p:sp>
      <p:sp>
        <p:nvSpPr>
          <p:cNvPr id="1049064" name="TextBox 23"/>
          <p:cNvSpPr txBox="1"/>
          <p:nvPr>
            <p:custDataLst>
              <p:tags r:id="rId9"/>
            </p:custDataLst>
          </p:nvPr>
        </p:nvSpPr>
        <p:spPr>
          <a:xfrm>
            <a:off x="1691640" y="4105656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全国尺度「多模态识别 + 可解释 AI + 决策支持」三位一体示范样板</a:t>
            </a:r>
          </a:p>
        </p:txBody>
      </p:sp>
      <p:sp>
        <p:nvSpPr>
          <p:cNvPr id="1049065" name="Rectangle 24"/>
          <p:cNvSpPr/>
          <p:nvPr>
            <p:custDataLst>
              <p:tags r:id="rId10"/>
            </p:custDataLst>
          </p:nvPr>
        </p:nvSpPr>
        <p:spPr>
          <a:xfrm>
            <a:off x="548640" y="4535424"/>
            <a:ext cx="868680" cy="786384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6" name="TextBox 25"/>
          <p:cNvSpPr txBox="1"/>
          <p:nvPr/>
        </p:nvSpPr>
        <p:spPr>
          <a:xfrm>
            <a:off x="548640" y="4681284"/>
            <a:ext cx="86868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🗺</a:t>
            </a:r>
          </a:p>
        </p:txBody>
      </p:sp>
      <p:sp>
        <p:nvSpPr>
          <p:cNvPr id="1049067" name="Rectangle 26"/>
          <p:cNvSpPr/>
          <p:nvPr/>
        </p:nvSpPr>
        <p:spPr>
          <a:xfrm>
            <a:off x="1417320" y="4535424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8" name="TextBox 27"/>
          <p:cNvSpPr txBox="1"/>
          <p:nvPr>
            <p:custDataLst>
              <p:tags r:id="rId11"/>
            </p:custDataLst>
          </p:nvPr>
        </p:nvSpPr>
        <p:spPr>
          <a:xfrm>
            <a:off x="1691640" y="4626864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支撑区域差异化政策</a:t>
            </a:r>
          </a:p>
        </p:txBody>
      </p:sp>
      <p:sp>
        <p:nvSpPr>
          <p:cNvPr id="1049069" name="TextBox 28"/>
          <p:cNvSpPr txBox="1"/>
          <p:nvPr>
            <p:custDataLst>
              <p:tags r:id="rId12"/>
            </p:custDataLst>
          </p:nvPr>
        </p:nvSpPr>
        <p:spPr>
          <a:xfrm>
            <a:off x="1691640" y="4946904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针对北方旱区、长江洪涝区、西南「旱涝急转」区提出差异化韧性路径</a:t>
            </a:r>
          </a:p>
        </p:txBody>
      </p:sp>
      <p:sp>
        <p:nvSpPr>
          <p:cNvPr id="1049070" name="Rectangle 29"/>
          <p:cNvSpPr/>
          <p:nvPr>
            <p:custDataLst>
              <p:tags r:id="rId13"/>
            </p:custDataLst>
          </p:nvPr>
        </p:nvSpPr>
        <p:spPr>
          <a:xfrm>
            <a:off x="548640" y="5376672"/>
            <a:ext cx="86868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1" name="TextBox 30"/>
          <p:cNvSpPr txBox="1"/>
          <p:nvPr/>
        </p:nvSpPr>
        <p:spPr>
          <a:xfrm>
            <a:off x="548640" y="5515737"/>
            <a:ext cx="868680" cy="5082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🔓</a:t>
            </a:r>
          </a:p>
        </p:txBody>
      </p:sp>
      <p:sp>
        <p:nvSpPr>
          <p:cNvPr id="1049072" name="Rectangle 31"/>
          <p:cNvSpPr/>
          <p:nvPr/>
        </p:nvSpPr>
        <p:spPr>
          <a:xfrm>
            <a:off x="1417320" y="5376672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3" name="TextBox 32"/>
          <p:cNvSpPr txBox="1"/>
          <p:nvPr>
            <p:custDataLst>
              <p:tags r:id="rId14"/>
            </p:custDataLst>
          </p:nvPr>
        </p:nvSpPr>
        <p:spPr>
          <a:xfrm>
            <a:off x="1691640" y="5468112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促进研究开放协作</a:t>
            </a:r>
          </a:p>
        </p:txBody>
      </p:sp>
      <p:sp>
        <p:nvSpPr>
          <p:cNvPr id="1049074" name="TextBox 33"/>
          <p:cNvSpPr txBox="1"/>
          <p:nvPr>
            <p:custDataLst>
              <p:tags r:id="rId15"/>
            </p:custDataLst>
          </p:nvPr>
        </p:nvSpPr>
        <p:spPr>
          <a:xfrm>
            <a:off x="1691640" y="5788152"/>
            <a:ext cx="978408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数据集与系统 API 开放,推动跨学科、跨区域对比研究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5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6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7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80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存在问题 与 今后改进方向</a:t>
            </a:r>
          </a:p>
        </p:txBody>
      </p:sp>
      <p:sp>
        <p:nvSpPr>
          <p:cNvPr id="1049081" name="Rectangle 7"/>
          <p:cNvSpPr/>
          <p:nvPr/>
        </p:nvSpPr>
        <p:spPr>
          <a:xfrm>
            <a:off x="450850" y="1200595"/>
            <a:ext cx="4711700" cy="48578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2" name="TextBox 8"/>
          <p:cNvSpPr txBox="1"/>
          <p:nvPr/>
        </p:nvSpPr>
        <p:spPr>
          <a:xfrm>
            <a:off x="457200" y="14345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模型 / 数据 / 系统 / 应用 四维度持续演进</a:t>
            </a:r>
          </a:p>
        </p:txBody>
      </p:sp>
      <p:sp>
        <p:nvSpPr>
          <p:cNvPr id="1049083" name="Rectangle 9"/>
          <p:cNvSpPr/>
          <p:nvPr/>
        </p:nvSpPr>
        <p:spPr>
          <a:xfrm>
            <a:off x="548640" y="1877060"/>
            <a:ext cx="5423535" cy="219519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4" name="Rectangle 10"/>
          <p:cNvSpPr/>
          <p:nvPr/>
        </p:nvSpPr>
        <p:spPr>
          <a:xfrm>
            <a:off x="548640" y="1877060"/>
            <a:ext cx="5423535" cy="4572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5" name="TextBox 11"/>
          <p:cNvSpPr txBox="1"/>
          <p:nvPr/>
        </p:nvSpPr>
        <p:spPr>
          <a:xfrm>
            <a:off x="777240" y="193040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模型层面</a:t>
            </a:r>
          </a:p>
        </p:txBody>
      </p:sp>
      <p:sp>
        <p:nvSpPr>
          <p:cNvPr id="1049086" name="TextBox 12"/>
          <p:cNvSpPr txBox="1"/>
          <p:nvPr/>
        </p:nvSpPr>
        <p:spPr>
          <a:xfrm>
            <a:off x="708660" y="243776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087" name="TextBox 13"/>
          <p:cNvSpPr txBox="1"/>
          <p:nvPr/>
        </p:nvSpPr>
        <p:spPr>
          <a:xfrm>
            <a:off x="777240" y="274574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罕见极端事件识别能力有限</a:t>
            </a:r>
          </a:p>
        </p:txBody>
      </p:sp>
      <p:sp>
        <p:nvSpPr>
          <p:cNvPr id="1049088" name="TextBox 14"/>
          <p:cNvSpPr txBox="1"/>
          <p:nvPr/>
        </p:nvSpPr>
        <p:spPr>
          <a:xfrm>
            <a:off x="708660" y="3134360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089" name="TextBox 15"/>
          <p:cNvSpPr txBox="1"/>
          <p:nvPr/>
        </p:nvSpPr>
        <p:spPr>
          <a:xfrm>
            <a:off x="777240" y="3354070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引入 Transformer + 多模型 Stacking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贝叶斯神经网络给出不确定性区间</a:t>
            </a:r>
          </a:p>
        </p:txBody>
      </p:sp>
      <p:sp>
        <p:nvSpPr>
          <p:cNvPr id="1049090" name="Rectangle 16"/>
          <p:cNvSpPr/>
          <p:nvPr/>
        </p:nvSpPr>
        <p:spPr>
          <a:xfrm>
            <a:off x="6172200" y="1877060"/>
            <a:ext cx="5455285" cy="219456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1" name="Rectangle 17"/>
          <p:cNvSpPr/>
          <p:nvPr/>
        </p:nvSpPr>
        <p:spPr>
          <a:xfrm>
            <a:off x="6172200" y="1877060"/>
            <a:ext cx="5455284" cy="4514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2" name="TextBox 18"/>
          <p:cNvSpPr txBox="1"/>
          <p:nvPr/>
        </p:nvSpPr>
        <p:spPr>
          <a:xfrm>
            <a:off x="6400800" y="193040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数据层面</a:t>
            </a:r>
          </a:p>
        </p:txBody>
      </p:sp>
      <p:sp>
        <p:nvSpPr>
          <p:cNvPr id="1049093" name="TextBox 19"/>
          <p:cNvSpPr txBox="1"/>
          <p:nvPr/>
        </p:nvSpPr>
        <p:spPr>
          <a:xfrm>
            <a:off x="6400800" y="2471420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094" name="TextBox 20"/>
          <p:cNvSpPr txBox="1"/>
          <p:nvPr/>
        </p:nvSpPr>
        <p:spPr>
          <a:xfrm>
            <a:off x="6400800" y="274574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省级粒度偏粗,西部站点稀疏</a:t>
            </a:r>
          </a:p>
        </p:txBody>
      </p:sp>
      <p:sp>
        <p:nvSpPr>
          <p:cNvPr id="1049095" name="TextBox 21"/>
          <p:cNvSpPr txBox="1"/>
          <p:nvPr/>
        </p:nvSpPr>
        <p:spPr>
          <a:xfrm>
            <a:off x="6400800" y="3114675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096" name="TextBox 22"/>
          <p:cNvSpPr txBox="1"/>
          <p:nvPr/>
        </p:nvSpPr>
        <p:spPr>
          <a:xfrm>
            <a:off x="6400800" y="3315970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下沉至地市级 / 县域级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引入 Sentinel-2 + 高分系列高分辨率遥感</a:t>
            </a:r>
          </a:p>
        </p:txBody>
      </p:sp>
      <p:sp>
        <p:nvSpPr>
          <p:cNvPr id="1049097" name="Rectangle 23"/>
          <p:cNvSpPr/>
          <p:nvPr/>
        </p:nvSpPr>
        <p:spPr>
          <a:xfrm>
            <a:off x="548640" y="4117340"/>
            <a:ext cx="5451475" cy="221932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8" name="Rectangle 24"/>
          <p:cNvSpPr/>
          <p:nvPr/>
        </p:nvSpPr>
        <p:spPr>
          <a:xfrm>
            <a:off x="548639" y="4117340"/>
            <a:ext cx="5451475" cy="4572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9" name="TextBox 25"/>
          <p:cNvSpPr txBox="1"/>
          <p:nvPr/>
        </p:nvSpPr>
        <p:spPr>
          <a:xfrm>
            <a:off x="777240" y="417068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系统层面</a:t>
            </a:r>
          </a:p>
        </p:txBody>
      </p:sp>
      <p:sp>
        <p:nvSpPr>
          <p:cNvPr id="1049100" name="TextBox 26"/>
          <p:cNvSpPr txBox="1"/>
          <p:nvPr/>
        </p:nvSpPr>
        <p:spPr>
          <a:xfrm>
            <a:off x="708660" y="469709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101" name="TextBox 27"/>
          <p:cNvSpPr txBox="1"/>
          <p:nvPr/>
        </p:nvSpPr>
        <p:spPr>
          <a:xfrm>
            <a:off x="777240" y="498602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移动端适配弱,反事实推理基于静态规则</a:t>
            </a:r>
          </a:p>
        </p:txBody>
      </p:sp>
      <p:sp>
        <p:nvSpPr>
          <p:cNvPr id="1049102" name="TextBox 28"/>
          <p:cNvSpPr txBox="1"/>
          <p:nvPr/>
        </p:nvSpPr>
        <p:spPr>
          <a:xfrm>
            <a:off x="777240" y="5383530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103" name="TextBox 29"/>
          <p:cNvSpPr txBox="1"/>
          <p:nvPr/>
        </p:nvSpPr>
        <p:spPr>
          <a:xfrm>
            <a:off x="777240" y="5598795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响应式 + 微信小程序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Do-Calculus / 合成控制法因果推断增强</a:t>
            </a:r>
          </a:p>
        </p:txBody>
      </p:sp>
      <p:sp>
        <p:nvSpPr>
          <p:cNvPr id="1049104" name="Rectangle 30"/>
          <p:cNvSpPr/>
          <p:nvPr/>
        </p:nvSpPr>
        <p:spPr>
          <a:xfrm>
            <a:off x="6172200" y="4117340"/>
            <a:ext cx="5455285" cy="221424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05" name="Rectangle 31"/>
          <p:cNvSpPr/>
          <p:nvPr/>
        </p:nvSpPr>
        <p:spPr>
          <a:xfrm>
            <a:off x="6172200" y="4117340"/>
            <a:ext cx="5455284" cy="45720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06" name="TextBox 32"/>
          <p:cNvSpPr txBox="1"/>
          <p:nvPr/>
        </p:nvSpPr>
        <p:spPr>
          <a:xfrm>
            <a:off x="6400800" y="417068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应用层面</a:t>
            </a:r>
          </a:p>
        </p:txBody>
      </p:sp>
      <p:sp>
        <p:nvSpPr>
          <p:cNvPr id="1049107" name="TextBox 33"/>
          <p:cNvSpPr txBox="1"/>
          <p:nvPr/>
        </p:nvSpPr>
        <p:spPr>
          <a:xfrm>
            <a:off x="6400800" y="463359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108" name="TextBox 34"/>
          <p:cNvSpPr txBox="1"/>
          <p:nvPr/>
        </p:nvSpPr>
        <p:spPr>
          <a:xfrm>
            <a:off x="6400800" y="4939665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韧性路径与政策工具对接不够精细</a:t>
            </a:r>
          </a:p>
        </p:txBody>
      </p:sp>
      <p:sp>
        <p:nvSpPr>
          <p:cNvPr id="1049109" name="TextBox 35"/>
          <p:cNvSpPr txBox="1"/>
          <p:nvPr/>
        </p:nvSpPr>
        <p:spPr>
          <a:xfrm>
            <a:off x="6338570" y="5267960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110" name="TextBox 36"/>
          <p:cNvSpPr txBox="1"/>
          <p:nvPr/>
        </p:nvSpPr>
        <p:spPr>
          <a:xfrm>
            <a:off x="6400800" y="5560695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与地方农业局、保险机构试点合作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开发面向农户的简化版客户端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1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2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3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115" name="文本框 5"/>
          <p:cNvSpPr txBox="1"/>
          <p:nvPr/>
        </p:nvSpPr>
        <p:spPr>
          <a:xfrm>
            <a:off x="339090" y="340995"/>
            <a:ext cx="3621405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【参考文献】</a:t>
            </a:r>
          </a:p>
        </p:txBody>
      </p:sp>
      <p:sp>
        <p:nvSpPr>
          <p:cNvPr id="1049116" name="文本框 6"/>
          <p:cNvSpPr txBox="1"/>
          <p:nvPr/>
        </p:nvSpPr>
        <p:spPr>
          <a:xfrm>
            <a:off x="457200" y="1069340"/>
            <a:ext cx="11293475" cy="5151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[1]IPCC. Climate Change 2022: Impacts, Adaptation and Vulnerability[R]. Cambridge University Press, 2022.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[2]CHEN T, GUESTRIN C. XGBoost: A Scalable Tree Boosting System[C]//Proceedings of the 22nd ACM SIGKDD International Conference on Knowledge Discovery and Data Mining. 2016: 785-794.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[3]LUNDBERG S M, LEE S I. A Unified Approach to Interpreting Model Predictions[J]. Advances in Neural Information Processing Systems, 2017, 30.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[4]HOCHREITER S, SCHMIDHUBER J. Long Short-term Memory[J]. Neural Computation, 1997, 9(8): 1735-1780.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[5]刘彦随, 刘玉, 郭丽英. 气候变化对中国农业生产的影响及应对策略[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中国生态农业学报, 2010, 18(4): 905-910.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[6]范振楠, 覃朝晖, 余思明. 极端气温对粮食生产韧性的影响效应研究——基于绿色金融视角[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中国生态农业学报(中英文), 2024, 32(5): 896-910.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[7]曹克苗. "三减三健"政策下基于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SHAP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分析的可解释性肥胖风险预测研究[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运筹与模糊学, 2025, 15(3): 477-492.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[8]黄睿茜. 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LSTM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模型的黄淮海冬小麦春季低温灾害监测预测与风险评估[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中国气象科学研究院, 2025.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[9]李嘉乐. 基于深度学习的大豆遥感估产及其归因分析[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浙江大学, 2024.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[10]田蓬鹏. 气候变化、农田水利供给对粮食产出的影响研究——以黄河流域为例[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西北农林科技大学, 2025.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7" name="Rectangl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8" name="TextBox 2"/>
          <p:cNvSpPr txBox="1"/>
          <p:nvPr/>
        </p:nvSpPr>
        <p:spPr>
          <a:xfrm>
            <a:off x="548640" y="365760"/>
            <a:ext cx="1097280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Thanks · Q&amp;A</a:t>
            </a:r>
          </a:p>
        </p:txBody>
      </p:sp>
      <p:sp>
        <p:nvSpPr>
          <p:cNvPr id="1049119" name="TextBox 3"/>
          <p:cNvSpPr txBox="1"/>
          <p:nvPr/>
        </p:nvSpPr>
        <p:spPr>
          <a:xfrm>
            <a:off x="548640" y="1188720"/>
            <a:ext cx="10972800" cy="847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总结与致谢</a:t>
            </a:r>
          </a:p>
        </p:txBody>
      </p:sp>
      <p:sp>
        <p:nvSpPr>
          <p:cNvPr id="1049120" name="Rectangle 4"/>
          <p:cNvSpPr/>
          <p:nvPr>
            <p:custDataLst>
              <p:tags r:id="rId1"/>
            </p:custDataLst>
          </p:nvPr>
        </p:nvSpPr>
        <p:spPr>
          <a:xfrm>
            <a:off x="548640" y="237744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1" name="TextBox 5"/>
          <p:cNvSpPr txBox="1"/>
          <p:nvPr>
            <p:custDataLst>
              <p:tags r:id="rId2"/>
            </p:custDataLst>
          </p:nvPr>
        </p:nvSpPr>
        <p:spPr>
          <a:xfrm>
            <a:off x="548640" y="2528570"/>
            <a:ext cx="118872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</a:t>
            </a:r>
          </a:p>
        </p:txBody>
      </p:sp>
      <p:sp>
        <p:nvSpPr>
          <p:cNvPr id="1049122" name="TextBox 6"/>
          <p:cNvSpPr txBox="1"/>
          <p:nvPr>
            <p:custDataLst>
              <p:tags r:id="rId3"/>
            </p:custDataLst>
          </p:nvPr>
        </p:nvSpPr>
        <p:spPr>
          <a:xfrm>
            <a:off x="1874519" y="246126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构建覆盖全国 31 省 13 年的多模态融合数据集 paper_panel_v3</a:t>
            </a:r>
          </a:p>
        </p:txBody>
      </p:sp>
      <p:sp>
        <p:nvSpPr>
          <p:cNvPr id="1049123" name="Rectangle 7"/>
          <p:cNvSpPr/>
          <p:nvPr>
            <p:custDataLst>
              <p:tags r:id="rId4"/>
            </p:custDataLst>
          </p:nvPr>
        </p:nvSpPr>
        <p:spPr>
          <a:xfrm>
            <a:off x="548640" y="315468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4" name="TextBox 8"/>
          <p:cNvSpPr txBox="1"/>
          <p:nvPr>
            <p:custDataLst>
              <p:tags r:id="rId5"/>
            </p:custDataLst>
          </p:nvPr>
        </p:nvSpPr>
        <p:spPr>
          <a:xfrm>
            <a:off x="548640" y="3305810"/>
            <a:ext cx="118872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方法</a:t>
            </a:r>
          </a:p>
        </p:txBody>
      </p:sp>
      <p:sp>
        <p:nvSpPr>
          <p:cNvPr id="1049125" name="TextBox 9"/>
          <p:cNvSpPr txBox="1"/>
          <p:nvPr>
            <p:custDataLst>
              <p:tags r:id="rId6"/>
            </p:custDataLst>
          </p:nvPr>
        </p:nvSpPr>
        <p:spPr>
          <a:xfrm>
            <a:off x="1874519" y="323850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建立 XGBoost-SHAP × Attention-LSTM 双引擎协同验证 + SHAP 三维归因</a:t>
            </a:r>
          </a:p>
        </p:txBody>
      </p:sp>
      <p:sp>
        <p:nvSpPr>
          <p:cNvPr id="1049126" name="Rectangle 10"/>
          <p:cNvSpPr/>
          <p:nvPr>
            <p:custDataLst>
              <p:tags r:id="rId7"/>
            </p:custDataLst>
          </p:nvPr>
        </p:nvSpPr>
        <p:spPr>
          <a:xfrm>
            <a:off x="548640" y="393192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7" name="TextBox 11"/>
          <p:cNvSpPr txBox="1"/>
          <p:nvPr>
            <p:custDataLst>
              <p:tags r:id="rId8"/>
            </p:custDataLst>
          </p:nvPr>
        </p:nvSpPr>
        <p:spPr>
          <a:xfrm>
            <a:off x="548640" y="4083049"/>
            <a:ext cx="1188720" cy="29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落地</a:t>
            </a:r>
          </a:p>
        </p:txBody>
      </p:sp>
      <p:sp>
        <p:nvSpPr>
          <p:cNvPr id="1049128" name="TextBox 12"/>
          <p:cNvSpPr txBox="1"/>
          <p:nvPr>
            <p:custDataLst>
              <p:tags r:id="rId9"/>
            </p:custDataLst>
          </p:nvPr>
        </p:nvSpPr>
        <p:spPr>
          <a:xfrm>
            <a:off x="1874519" y="401574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开发端到端可视化决策系统,四大模块、推理 ≤ 2s、推动可解释 AI 在农业落地</a:t>
            </a:r>
          </a:p>
        </p:txBody>
      </p:sp>
      <p:sp>
        <p:nvSpPr>
          <p:cNvPr id="1049129" name="Rectangle 1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143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0" name="TextBox 14"/>
          <p:cNvSpPr txBox="1"/>
          <p:nvPr/>
        </p:nvSpPr>
        <p:spPr>
          <a:xfrm>
            <a:off x="731520" y="5166360"/>
            <a:ext cx="10698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致谢</a:t>
            </a:r>
          </a:p>
        </p:txBody>
      </p:sp>
      <p:sp>
        <p:nvSpPr>
          <p:cNvPr id="1049131" name="TextBox 15"/>
          <p:cNvSpPr txBox="1"/>
          <p:nvPr/>
        </p:nvSpPr>
        <p:spPr>
          <a:xfrm>
            <a:off x="777240" y="5440680"/>
            <a:ext cx="1069848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感谢</a:t>
            </a:r>
            <a:r>
              <a:rPr lang="zh-CN"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指导</a:t>
            </a:r>
            <a:r>
              <a:rPr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老师的悉心指导;感谢学院与团队各位成员的协作支持</a:t>
            </a:r>
          </a:p>
        </p:txBody>
      </p:sp>
      <p:sp>
        <p:nvSpPr>
          <p:cNvPr id="1049132" name="TextBox 16"/>
          <p:cNvSpPr txBox="1"/>
          <p:nvPr/>
        </p:nvSpPr>
        <p:spPr>
          <a:xfrm>
            <a:off x="777240" y="5852160"/>
            <a:ext cx="10698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团队 · 稷韧云图   |   潘妙齐 · 熊鑫 · 常宇璇   |   敬请评委批评指正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3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4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5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137" name="TextBox 5"/>
          <p:cNvSpPr txBox="1"/>
          <p:nvPr/>
        </p:nvSpPr>
        <p:spPr>
          <a:xfrm>
            <a:off x="457200" y="228600"/>
            <a:ext cx="6000000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A1B"/>
                </a:solidFill>
                <a:latin typeface="微软雅黑" panose="020B0503020204020204" charset="-122"/>
                <a:cs typeface="微软雅黑" panose="020B0503020204020204" charset="-122"/>
              </a:rPr>
              <a:t>技术路线 · 详图</a:t>
            </a:r>
            <a:endParaRPr sz="1100" b="1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61" name="Image1"/>
          <p:cNvPicPr/>
          <p:nvPr/>
        </p:nvPicPr>
        <p:blipFill>
          <a:blip r:embed="rId2" cstate="print"/>
          <a:srcRect r="-1908" b="2465"/>
          <a:stretch>
            <a:fillRect/>
          </a:stretch>
        </p:blipFill>
        <p:spPr>
          <a:xfrm>
            <a:off x="1544955" y="160655"/>
            <a:ext cx="8825230" cy="6224270"/>
          </a:xfrm>
          <a:prstGeom prst="rect">
            <a:avLst/>
          </a:prstGeom>
        </p:spPr>
      </p:pic>
      <p:sp>
        <p:nvSpPr>
          <p:cNvPr id="1049138" name="文本框 28"/>
          <p:cNvSpPr txBox="1"/>
          <p:nvPr/>
        </p:nvSpPr>
        <p:spPr>
          <a:xfrm>
            <a:off x="4453255" y="6242050"/>
            <a:ext cx="3963670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b="1">
                <a:solidFill>
                  <a:srgbClr val="666666"/>
                </a:solidFill>
                <a:latin typeface="微软雅黑" panose="020B0503020204020204" charset="-122"/>
              </a:rPr>
              <a:t>图 1  总体技术路线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1437</Words>
  <Application>Microsoft Office PowerPoint</Application>
  <PresentationFormat>宽屏</PresentationFormat>
  <Paragraphs>377</Paragraphs>
  <Slides>16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24091RPADC</dc:creator>
  <cp:lastModifiedBy>妙齐 潘</cp:lastModifiedBy>
  <cp:revision>9</cp:revision>
  <dcterms:created xsi:type="dcterms:W3CDTF">2026-05-28T10:52:10Z</dcterms:created>
  <dcterms:modified xsi:type="dcterms:W3CDTF">2026-05-30T02:01:56Z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83E8DA8C4751464F9D8E1821F9E3228A_13</vt:lpwstr>
  </property>
  <property fmtid="{D5CDD505-2E9C-101B-9397-08002B2CF9AE}" pid="3" name="KSOProductBuildVer">
    <vt:lpwstr>2052-12.1.0.26375</vt:lpwstr>
  </property>
</Properties>
</file>